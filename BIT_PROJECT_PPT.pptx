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87" r:id="rId3"/>
    <p:sldId id="257" r:id="rId4"/>
    <p:sldId id="290" r:id="rId5"/>
    <p:sldId id="291" r:id="rId6"/>
    <p:sldId id="292" r:id="rId7"/>
    <p:sldId id="306" r:id="rId8"/>
    <p:sldId id="321" r:id="rId9"/>
    <p:sldId id="320" r:id="rId10"/>
    <p:sldId id="315" r:id="rId11"/>
    <p:sldId id="316" r:id="rId12"/>
    <p:sldId id="317" r:id="rId13"/>
    <p:sldId id="318" r:id="rId14"/>
    <p:sldId id="322" r:id="rId15"/>
    <p:sldId id="297" r:id="rId16"/>
  </p:sldIdLst>
  <p:sldSz cx="12192000" cy="6858000"/>
  <p:notesSz cx="12192000" cy="6858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167"/>
    <p:restoredTop sz="94660"/>
  </p:normalViewPr>
  <p:slideViewPr>
    <p:cSldViewPr showGuides="1">
      <p:cViewPr varScale="1">
        <p:scale>
          <a:sx n="55" d="100"/>
          <a:sy n="55" d="100"/>
        </p:scale>
        <p:origin x="900"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757AE52F-91F7-4AD4-A336-20B3BFCA022F}" type="datetimeFigureOut">
              <a:rPr kumimoji="0" lang="en-IN" sz="1200" b="0" i="0" u="none" strike="noStrike" kern="1200" cap="none" spc="0" normalizeH="0" baseline="0" noProof="0">
                <a:ln>
                  <a:noFill/>
                </a:ln>
                <a:solidFill>
                  <a:schemeClr val="tx1"/>
                </a:solidFill>
                <a:effectLst/>
                <a:uLnTx/>
                <a:uFillTx/>
                <a:latin typeface="+mn-lt"/>
                <a:ea typeface="+mn-ea"/>
                <a:cs typeface="+mn-cs"/>
              </a:rPr>
              <a:t>13-02-2026</a:t>
            </a:fld>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1219200" y="3300413"/>
            <a:ext cx="9753600" cy="2700338"/>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6513513"/>
            <a:ext cx="5283200" cy="3444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6905625" y="6513513"/>
            <a:ext cx="5283200" cy="3444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en-IN" altLang="en-US" sz="1200" dirty="0"/>
              <a:t>‹#›</a:t>
            </a:fld>
            <a:endParaRPr lang="en-I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a:lstStyle>
            <a:lvl1pPr>
              <a:defRPr/>
            </a:lvl1pPr>
          </a:lstStyle>
          <a:p>
            <a:endParaRPr/>
          </a:p>
        </p:txBody>
      </p:sp>
      <p:sp>
        <p:nvSpPr>
          <p:cNvPr id="4" name="Footer Placeholder 3"/>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Date Placeholder 4"/>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141AFFB-1CFA-4730-89CB-3D1D51AAFB50}" type="datetimeFigureOut">
              <a:rPr kumimoji="0" lang="en-US" sz="1800" b="0" i="0" u="none" strike="noStrike" kern="1200" cap="none" spc="0" normalizeH="0" baseline="0" noProof="0">
                <a:ln>
                  <a:noFill/>
                </a:ln>
                <a:solidFill>
                  <a:schemeClr val="tx1">
                    <a:tint val="75000"/>
                  </a:schemeClr>
                </a:solidFill>
                <a:effectLst/>
                <a:uLnTx/>
                <a:uFillTx/>
                <a:latin typeface="+mn-lt"/>
                <a:ea typeface="+mn-ea"/>
                <a:cs typeface="+mn-cs"/>
              </a:rPr>
              <a:t>2/13/2026</a:t>
            </a:fld>
            <a:endParaRPr kumimoji="0" lang="en-US"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2400" b="1"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a:lstStyle>
            <a:lvl1pPr>
              <a:defRPr sz="1600" b="1" i="0">
                <a:solidFill>
                  <a:schemeClr val="tx1"/>
                </a:solidFill>
                <a:latin typeface="Times New Roman" panose="02020603050405020304"/>
                <a:cs typeface="Times New Roman" panose="02020603050405020304"/>
              </a:defRPr>
            </a:lvl1pPr>
          </a:lstStyle>
          <a:p>
            <a:endParaRPr/>
          </a:p>
        </p:txBody>
      </p:sp>
      <p:sp>
        <p:nvSpPr>
          <p:cNvPr id="4" name="Footer Placeholder 3"/>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Date Placeholder 4"/>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141AFFB-1CFA-4730-89CB-3D1D51AAFB50}" type="datetimeFigureOut">
              <a:rPr kumimoji="0" lang="en-US" sz="1800" b="0" i="0" u="none" strike="noStrike" kern="1200" cap="none" spc="0" normalizeH="0" baseline="0" noProof="0">
                <a:ln>
                  <a:noFill/>
                </a:ln>
                <a:solidFill>
                  <a:schemeClr val="tx1">
                    <a:tint val="75000"/>
                  </a:schemeClr>
                </a:solidFill>
                <a:effectLst/>
                <a:uLnTx/>
                <a:uFillTx/>
                <a:latin typeface="+mn-lt"/>
                <a:ea typeface="+mn-ea"/>
                <a:cs typeface="+mn-cs"/>
              </a:rPr>
              <a:t>2/13/2026</a:t>
            </a:fld>
            <a:endParaRPr kumimoji="0" lang="en-US"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2400" b="1"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a:lstStyle>
            <a:lvl1pPr>
              <a:defRPr/>
            </a:lvl1pPr>
          </a:lstStyle>
          <a:p>
            <a:endParaRPr/>
          </a:p>
        </p:txBody>
      </p:sp>
      <p:sp>
        <p:nvSpPr>
          <p:cNvPr id="5" name="Footer Placeholder 4"/>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Date Placeholder 5"/>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141AFFB-1CFA-4730-89CB-3D1D51AAFB50}" type="datetimeFigureOut">
              <a:rPr kumimoji="0" lang="en-US" sz="1800" b="0" i="0" u="none" strike="noStrike" kern="1200" cap="none" spc="0" normalizeH="0" baseline="0" noProof="0">
                <a:ln>
                  <a:noFill/>
                </a:ln>
                <a:solidFill>
                  <a:schemeClr val="tx1">
                    <a:tint val="75000"/>
                  </a:schemeClr>
                </a:solidFill>
                <a:effectLst/>
                <a:uLnTx/>
                <a:uFillTx/>
                <a:latin typeface="+mn-lt"/>
                <a:ea typeface="+mn-ea"/>
                <a:cs typeface="+mn-cs"/>
              </a:rPr>
              <a:t>2/13/2026</a:t>
            </a:fld>
            <a:endParaRPr kumimoji="0" lang="en-US"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2400" b="1" i="0">
                <a:solidFill>
                  <a:schemeClr val="bg1"/>
                </a:solidFill>
                <a:latin typeface="Times New Roman" panose="02020603050405020304"/>
                <a:cs typeface="Times New Roman" panose="02020603050405020304"/>
              </a:defRPr>
            </a:lvl1pPr>
          </a:lstStyle>
          <a:p>
            <a:endParaRPr/>
          </a:p>
        </p:txBody>
      </p:sp>
      <p:sp>
        <p:nvSpPr>
          <p:cNvPr id="3" name="Footer Placeholder 2"/>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Date Placeholder 3"/>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141AFFB-1CFA-4730-89CB-3D1D51AAFB50}" type="datetimeFigureOut">
              <a:rPr kumimoji="0" lang="en-US" sz="1800" b="0" i="0" u="none" strike="noStrike" kern="1200" cap="none" spc="0" normalizeH="0" baseline="0" noProof="0">
                <a:ln>
                  <a:noFill/>
                </a:ln>
                <a:solidFill>
                  <a:schemeClr val="tx1">
                    <a:tint val="75000"/>
                  </a:schemeClr>
                </a:solidFill>
                <a:effectLst/>
                <a:uLnTx/>
                <a:uFillTx/>
                <a:latin typeface="+mn-lt"/>
                <a:ea typeface="+mn-ea"/>
                <a:cs typeface="+mn-cs"/>
              </a:rPr>
              <a:t>2/13/2026</a:t>
            </a:fld>
            <a:endParaRPr kumimoji="0" lang="en-US"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Date Placeholder 2"/>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141AFFB-1CFA-4730-89CB-3D1D51AAFB50}" type="datetimeFigureOut">
              <a:rPr kumimoji="0" lang="en-US" sz="1800" b="0" i="0" u="none" strike="noStrike" kern="1200" cap="none" spc="0" normalizeH="0" baseline="0" noProof="0">
                <a:ln>
                  <a:noFill/>
                </a:ln>
                <a:solidFill>
                  <a:schemeClr val="tx1">
                    <a:tint val="75000"/>
                  </a:schemeClr>
                </a:solidFill>
                <a:effectLst/>
                <a:uLnTx/>
                <a:uFillTx/>
                <a:latin typeface="+mn-lt"/>
                <a:ea typeface="+mn-ea"/>
                <a:cs typeface="+mn-cs"/>
              </a:rPr>
              <a:t>2/13/2026</a:t>
            </a:fld>
            <a:endParaRPr kumimoji="0" lang="en-US"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bg object 16"/>
          <p:cNvSpPr/>
          <p:nvPr/>
        </p:nvSpPr>
        <p:spPr>
          <a:xfrm>
            <a:off x="0" y="6083300"/>
            <a:ext cx="12192000" cy="774700"/>
          </a:xfrm>
          <a:custGeom>
            <a:avLst/>
            <a:gdLst/>
            <a:ahLst/>
            <a:cxnLst>
              <a:cxn ang="0">
                <a:pos x="12192000" y="0"/>
              </a:cxn>
              <a:cxn ang="0">
                <a:pos x="0" y="0"/>
              </a:cxn>
              <a:cxn ang="0">
                <a:pos x="0" y="767893"/>
              </a:cxn>
              <a:cxn ang="0">
                <a:pos x="12192000" y="767893"/>
              </a:cxn>
              <a:cxn ang="0">
                <a:pos x="12192000" y="0"/>
              </a:cxn>
            </a:cxnLst>
            <a:rect l="0" t="0" r="0" b="0"/>
            <a:pathLst>
              <a:path w="12192000" h="775334">
                <a:moveTo>
                  <a:pt x="12192000" y="0"/>
                </a:moveTo>
                <a:lnTo>
                  <a:pt x="0" y="0"/>
                </a:lnTo>
                <a:lnTo>
                  <a:pt x="0" y="774834"/>
                </a:lnTo>
                <a:lnTo>
                  <a:pt x="12192000" y="774834"/>
                </a:lnTo>
                <a:lnTo>
                  <a:pt x="12192000" y="0"/>
                </a:lnTo>
                <a:close/>
              </a:path>
            </a:pathLst>
          </a:custGeom>
          <a:solidFill>
            <a:srgbClr val="006FC0">
              <a:alpha val="100000"/>
            </a:srgbClr>
          </a:solidFill>
          <a:ln w="9525">
            <a:noFill/>
          </a:ln>
        </p:spPr>
        <p:txBody>
          <a:bodyPr/>
          <a:lstStyle/>
          <a:p>
            <a:endParaRPr lang="en-US"/>
          </a:p>
        </p:txBody>
      </p:sp>
      <p:pic>
        <p:nvPicPr>
          <p:cNvPr id="1027" name="bg object 17"/>
          <p:cNvPicPr>
            <a:picLocks noChangeAspect="1"/>
          </p:cNvPicPr>
          <p:nvPr/>
        </p:nvPicPr>
        <p:blipFill>
          <a:blip r:embed="rId7"/>
          <a:stretch>
            <a:fillRect/>
          </a:stretch>
        </p:blipFill>
        <p:spPr>
          <a:xfrm>
            <a:off x="5089525" y="6110288"/>
            <a:ext cx="1306513" cy="747712"/>
          </a:xfrm>
          <a:prstGeom prst="rect">
            <a:avLst/>
          </a:prstGeom>
          <a:noFill/>
          <a:ln w="9525">
            <a:noFill/>
          </a:ln>
        </p:spPr>
      </p:pic>
      <p:pic>
        <p:nvPicPr>
          <p:cNvPr id="1028" name="bg object 18"/>
          <p:cNvPicPr>
            <a:picLocks noChangeAspect="1"/>
          </p:cNvPicPr>
          <p:nvPr/>
        </p:nvPicPr>
        <p:blipFill>
          <a:blip r:embed="rId8"/>
          <a:stretch>
            <a:fillRect/>
          </a:stretch>
        </p:blipFill>
        <p:spPr>
          <a:xfrm>
            <a:off x="692150" y="6110288"/>
            <a:ext cx="1190625" cy="747712"/>
          </a:xfrm>
          <a:prstGeom prst="rect">
            <a:avLst/>
          </a:prstGeom>
          <a:noFill/>
          <a:ln w="9525">
            <a:noFill/>
          </a:ln>
        </p:spPr>
      </p:pic>
      <p:pic>
        <p:nvPicPr>
          <p:cNvPr id="1029" name="bg object 19"/>
          <p:cNvPicPr>
            <a:picLocks noChangeAspect="1"/>
          </p:cNvPicPr>
          <p:nvPr/>
        </p:nvPicPr>
        <p:blipFill>
          <a:blip r:embed="rId9"/>
          <a:stretch>
            <a:fillRect/>
          </a:stretch>
        </p:blipFill>
        <p:spPr>
          <a:xfrm>
            <a:off x="2390775" y="6081713"/>
            <a:ext cx="2217738" cy="776287"/>
          </a:xfrm>
          <a:prstGeom prst="rect">
            <a:avLst/>
          </a:prstGeom>
          <a:noFill/>
          <a:ln w="9525">
            <a:noFill/>
          </a:ln>
        </p:spPr>
      </p:pic>
      <p:pic>
        <p:nvPicPr>
          <p:cNvPr id="1030" name="bg object 20"/>
          <p:cNvPicPr>
            <a:picLocks noChangeAspect="1"/>
          </p:cNvPicPr>
          <p:nvPr/>
        </p:nvPicPr>
        <p:blipFill>
          <a:blip r:embed="rId10"/>
          <a:stretch>
            <a:fillRect/>
          </a:stretch>
        </p:blipFill>
        <p:spPr>
          <a:xfrm>
            <a:off x="7000875" y="6110288"/>
            <a:ext cx="1978025" cy="742950"/>
          </a:xfrm>
          <a:prstGeom prst="rect">
            <a:avLst/>
          </a:prstGeom>
          <a:noFill/>
          <a:ln w="9525">
            <a:noFill/>
          </a:ln>
        </p:spPr>
      </p:pic>
      <p:sp>
        <p:nvSpPr>
          <p:cNvPr id="1031" name="bg object 21"/>
          <p:cNvSpPr/>
          <p:nvPr/>
        </p:nvSpPr>
        <p:spPr>
          <a:xfrm>
            <a:off x="0" y="3175"/>
            <a:ext cx="12192000" cy="1125538"/>
          </a:xfrm>
          <a:custGeom>
            <a:avLst/>
            <a:gdLst/>
            <a:ahLst/>
            <a:cxnLst>
              <a:cxn ang="0">
                <a:pos x="12192000" y="0"/>
              </a:cxn>
              <a:cxn ang="0">
                <a:pos x="0" y="0"/>
              </a:cxn>
              <a:cxn ang="0">
                <a:pos x="0" y="1128341"/>
              </a:cxn>
              <a:cxn ang="0">
                <a:pos x="12192000" y="1128341"/>
              </a:cxn>
              <a:cxn ang="0">
                <a:pos x="12192000" y="0"/>
              </a:cxn>
            </a:cxnLst>
            <a:rect l="0" t="0" r="0" b="0"/>
            <a:pathLst>
              <a:path w="12192000" h="1125220">
                <a:moveTo>
                  <a:pt x="12192000" y="0"/>
                </a:moveTo>
                <a:lnTo>
                  <a:pt x="0" y="0"/>
                </a:lnTo>
                <a:lnTo>
                  <a:pt x="0" y="1124839"/>
                </a:lnTo>
                <a:lnTo>
                  <a:pt x="12192000" y="1124839"/>
                </a:lnTo>
                <a:lnTo>
                  <a:pt x="12192000" y="0"/>
                </a:lnTo>
                <a:close/>
              </a:path>
            </a:pathLst>
          </a:custGeom>
          <a:solidFill>
            <a:srgbClr val="006FC0">
              <a:alpha val="100000"/>
            </a:srgbClr>
          </a:solidFill>
          <a:ln w="9525">
            <a:noFill/>
          </a:ln>
        </p:spPr>
        <p:txBody>
          <a:bodyPr/>
          <a:lstStyle/>
          <a:p>
            <a:endParaRPr lang="en-US"/>
          </a:p>
        </p:txBody>
      </p:sp>
      <p:sp>
        <p:nvSpPr>
          <p:cNvPr id="1032" name="Holder 2"/>
          <p:cNvSpPr>
            <a:spLocks noGrp="1"/>
          </p:cNvSpPr>
          <p:nvPr>
            <p:ph type="title"/>
          </p:nvPr>
        </p:nvSpPr>
        <p:spPr>
          <a:xfrm>
            <a:off x="3887788" y="-11112"/>
            <a:ext cx="4413250" cy="390525"/>
          </a:xfrm>
          <a:prstGeom prst="rect">
            <a:avLst/>
          </a:prstGeom>
          <a:noFill/>
          <a:ln w="9525">
            <a:noFill/>
          </a:ln>
        </p:spPr>
        <p:txBody>
          <a:bodyPr lIns="0" tIns="0" rIns="0" bIns="0">
            <a:spAutoFit/>
          </a:bodyPr>
          <a:lstStyle/>
          <a:p>
            <a:pPr lvl="0"/>
            <a:endParaRPr lang="en-US" altLang="en-US" dirty="0"/>
          </a:p>
        </p:txBody>
      </p:sp>
      <p:sp>
        <p:nvSpPr>
          <p:cNvPr id="1033" name="Holder 3"/>
          <p:cNvSpPr>
            <a:spLocks noGrp="1"/>
          </p:cNvSpPr>
          <p:nvPr>
            <p:ph type="body" idx="1"/>
          </p:nvPr>
        </p:nvSpPr>
        <p:spPr>
          <a:xfrm>
            <a:off x="711200" y="3298825"/>
            <a:ext cx="11241088" cy="2455863"/>
          </a:xfrm>
          <a:prstGeom prst="rect">
            <a:avLst/>
          </a:prstGeom>
          <a:noFill/>
          <a:ln w="9525">
            <a:noFill/>
          </a:ln>
        </p:spPr>
        <p:txBody>
          <a:bodyPr lIns="0" tIns="0" rIns="0" bIns="0">
            <a:spAutoFit/>
          </a:bodyPr>
          <a:lstStyle/>
          <a:p>
            <a:pPr lvl="0"/>
            <a:endParaRPr lang="en-US" altLang="en-US" dirty="0"/>
          </a:p>
        </p:txBody>
      </p:sp>
      <p:sp>
        <p:nvSpPr>
          <p:cNvPr id="4" name="Holder 4"/>
          <p:cNvSpPr>
            <a:spLocks noGrp="1"/>
          </p:cNvSpPr>
          <p:nvPr>
            <p:ph type="ftr" sz="quarter" idx="5"/>
          </p:nvPr>
        </p:nvSpPr>
        <p:spPr>
          <a:xfrm>
            <a:off x="4144963" y="6378575"/>
            <a:ext cx="3902075" cy="342900"/>
          </a:xfrm>
          <a:prstGeom prst="rect">
            <a:avLst/>
          </a:prstGeom>
        </p:spPr>
        <p:txBody>
          <a:bodyPr wrap="square" lIns="0" tIns="0" rIns="0" bIns="0">
            <a:spAutoFit/>
          </a:bodyPr>
          <a:lstStyle>
            <a:lvl1pPr algn="ctr" eaLnBrk="1" fontAlgn="auto" hangingPunct="1">
              <a:spcBef>
                <a:spcPts val="0"/>
              </a:spcBef>
              <a:spcAft>
                <a:spcPts val="0"/>
              </a:spcAft>
              <a:defRPr>
                <a:solidFill>
                  <a:schemeClr val="tx1">
                    <a:tint val="75000"/>
                  </a:schemeClr>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Holder 5"/>
          <p:cNvSpPr>
            <a:spLocks noGrp="1"/>
          </p:cNvSpPr>
          <p:nvPr>
            <p:ph type="dt" sz="half" idx="6"/>
          </p:nvPr>
        </p:nvSpPr>
        <p:spPr>
          <a:xfrm>
            <a:off x="609600" y="6378575"/>
            <a:ext cx="2803525" cy="342900"/>
          </a:xfrm>
          <a:prstGeom prst="rect">
            <a:avLst/>
          </a:prstGeom>
        </p:spPr>
        <p:txBody>
          <a:bodyPr wrap="square" lIns="0" tIns="0" rIns="0" bIns="0">
            <a:spAutoFit/>
          </a:bodyPr>
          <a:lstStyle>
            <a:lvl1pPr algn="l" eaLnBrk="1" fontAlgn="auto" hangingPunct="1">
              <a:spcBef>
                <a:spcPts val="0"/>
              </a:spcBef>
              <a:spcAft>
                <a:spcPts val="0"/>
              </a:spcAft>
              <a:defRPr>
                <a:solidFill>
                  <a:schemeClr val="tx1">
                    <a:tint val="75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141AFFB-1CFA-4730-89CB-3D1D51AAFB50}" type="datetimeFigureOut">
              <a:rPr kumimoji="0" lang="en-US" sz="1800" b="0" i="0" u="none" strike="noStrike" kern="1200" cap="none" spc="0" normalizeH="0" baseline="0" noProof="0">
                <a:ln>
                  <a:noFill/>
                </a:ln>
                <a:solidFill>
                  <a:schemeClr val="tx1">
                    <a:tint val="75000"/>
                  </a:schemeClr>
                </a:solidFill>
                <a:effectLst/>
                <a:uLnTx/>
                <a:uFillTx/>
                <a:latin typeface="+mn-lt"/>
                <a:ea typeface="+mn-ea"/>
                <a:cs typeface="+mn-cs"/>
              </a:rPr>
              <a:t>2/13/2026</a:t>
            </a:fld>
            <a:endParaRPr kumimoji="0" lang="en-US" sz="18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Holder 6"/>
          <p:cNvSpPr>
            <a:spLocks noGrp="1"/>
          </p:cNvSpPr>
          <p:nvPr>
            <p:ph type="sldNum" sz="quarter" idx="7"/>
          </p:nvPr>
        </p:nvSpPr>
        <p:spPr>
          <a:xfrm>
            <a:off x="8778875" y="6378575"/>
            <a:ext cx="2803525" cy="342900"/>
          </a:xfrm>
          <a:prstGeom prst="rect">
            <a:avLst/>
          </a:prstGeom>
        </p:spPr>
        <p:txBody>
          <a:bodyPr vert="horz" wrap="square" lIns="0" tIns="0" rIns="0" bIns="0" numCol="1" anchor="t" anchorCtr="0" compatLnSpc="1">
            <a:spAutoFit/>
          </a:bodyPr>
          <a:lstStyle>
            <a:lvl1pPr algn="r">
              <a:defRPr>
                <a:solidFill>
                  <a:srgbClr val="898989"/>
                </a:solidFill>
              </a:defRPr>
            </a:lvl1pPr>
          </a:lstStyle>
          <a:p>
            <a:pPr lvl="0" eaLnBrk="1" hangingPunct="1">
              <a:buNone/>
            </a:pPr>
            <a:fld id="{9A0DB2DC-4C9A-4742-B13C-FB6460FD3503}" type="slidenum">
              <a:rPr lang="en-US" altLang="en-US" dirty="0">
                <a:latin typeface="Calibri" panose="020F0502020204030204" pitchFamily="34" charset="0"/>
              </a:rPr>
              <a:t>‹#›</a:t>
            </a:fld>
            <a:endParaRPr lang="en-US" altLang="en-US"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anose="020F0502020204030204" pitchFamily="34" charset="0"/>
        </a:defRPr>
      </a:lvl2pPr>
      <a:lvl3pPr algn="ctr" rtl="0" eaLnBrk="0" fontAlgn="base" hangingPunct="0">
        <a:spcBef>
          <a:spcPct val="0"/>
        </a:spcBef>
        <a:spcAft>
          <a:spcPct val="0"/>
        </a:spcAft>
        <a:defRPr>
          <a:solidFill>
            <a:schemeClr val="tx2"/>
          </a:solidFill>
          <a:latin typeface="Calibri" panose="020F0502020204030204" pitchFamily="34" charset="0"/>
        </a:defRPr>
      </a:lvl3pPr>
      <a:lvl4pPr algn="ctr" rtl="0" eaLnBrk="0" fontAlgn="base" hangingPunct="0">
        <a:spcBef>
          <a:spcPct val="0"/>
        </a:spcBef>
        <a:spcAft>
          <a:spcPct val="0"/>
        </a:spcAft>
        <a:defRPr>
          <a:solidFill>
            <a:schemeClr val="tx2"/>
          </a:solidFill>
          <a:latin typeface="Calibri" panose="020F0502020204030204" pitchFamily="34" charset="0"/>
        </a:defRPr>
      </a:lvl4pPr>
      <a:lvl5pPr algn="ctr" rtl="0" eaLnBrk="0" fontAlgn="base" hangingPunct="0">
        <a:spcBef>
          <a:spcPct val="0"/>
        </a:spcBef>
        <a:spcAft>
          <a:spcPct val="0"/>
        </a:spcAft>
        <a:defRPr>
          <a:solidFill>
            <a:schemeClr val="tx2"/>
          </a:solidFill>
          <a:latin typeface="Calibri" panose="020F0502020204030204" pitchFamily="34" charset="0"/>
        </a:defRPr>
      </a:lvl5pPr>
      <a:lvl6pPr marL="457200" algn="ctr" rtl="0" eaLnBrk="0" fontAlgn="base" hangingPunct="0">
        <a:spcBef>
          <a:spcPct val="0"/>
        </a:spcBef>
        <a:spcAft>
          <a:spcPct val="0"/>
        </a:spcAft>
        <a:defRPr>
          <a:solidFill>
            <a:schemeClr val="tx2"/>
          </a:solidFill>
          <a:latin typeface="Calibri" panose="020F0502020204030204" pitchFamily="34" charset="0"/>
        </a:defRPr>
      </a:lvl6pPr>
      <a:lvl7pPr marL="914400" algn="ctr" rtl="0" eaLnBrk="0" fontAlgn="base" hangingPunct="0">
        <a:spcBef>
          <a:spcPct val="0"/>
        </a:spcBef>
        <a:spcAft>
          <a:spcPct val="0"/>
        </a:spcAft>
        <a:defRPr>
          <a:solidFill>
            <a:schemeClr val="tx2"/>
          </a:solidFill>
          <a:latin typeface="Calibri" panose="020F0502020204030204" pitchFamily="34" charset="0"/>
        </a:defRPr>
      </a:lvl7pPr>
      <a:lvl8pPr marL="1371600" algn="ctr" rtl="0" eaLnBrk="0" fontAlgn="base" hangingPunct="0">
        <a:spcBef>
          <a:spcPct val="0"/>
        </a:spcBef>
        <a:spcAft>
          <a:spcPct val="0"/>
        </a:spcAft>
        <a:defRPr>
          <a:solidFill>
            <a:schemeClr val="tx2"/>
          </a:solidFill>
          <a:latin typeface="Calibri" panose="020F0502020204030204" pitchFamily="34" charset="0"/>
        </a:defRPr>
      </a:lvl8pPr>
      <a:lvl9pPr marL="1828800" algn="ctr" rtl="0" eaLnBrk="0" fontAlgn="base" hangingPunct="0">
        <a:spcBef>
          <a:spcPct val="0"/>
        </a:spcBef>
        <a:spcAft>
          <a:spcPct val="0"/>
        </a:spcAft>
        <a:defRPr>
          <a:solidFill>
            <a:schemeClr val="tx2"/>
          </a:solidFill>
          <a:latin typeface="Calibri" panose="020F0502020204030204"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6.png"/><Relationship Id="rId7"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19475" y="0"/>
            <a:ext cx="5419725" cy="936625"/>
          </a:xfrm>
          <a:prstGeom prst="rect">
            <a:avLst/>
          </a:prstGeom>
        </p:spPr>
        <p:txBody>
          <a:bodyPr lIns="0" tIns="12700" rIns="0" bIns="0">
            <a:spAutoFit/>
          </a:bodyPr>
          <a:lstStyle/>
          <a:p>
            <a:pPr algn="ctr" eaLnBrk="1" hangingPunct="1">
              <a:lnSpc>
                <a:spcPts val="2800"/>
              </a:lnSpc>
              <a:spcBef>
                <a:spcPts val="100"/>
              </a:spcBef>
              <a:buNone/>
            </a:pPr>
            <a:r>
              <a:rPr lang="zh-CN" altLang="x-none" sz="2400" b="1">
                <a:solidFill>
                  <a:srgbClr val="FFFFFF"/>
                </a:solidFill>
                <a:latin typeface="Times New Roman" panose="02020603050405020304" pitchFamily="18" charset="0"/>
                <a:cs typeface="Times New Roman" panose="02020603050405020304" pitchFamily="18" charset="0"/>
              </a:rPr>
              <a:t>Bangalore Institute of Technology</a:t>
            </a:r>
            <a:endParaRPr lang="zh-CN" altLang="x-none" sz="2400">
              <a:latin typeface="Times New Roman" panose="02020603050405020304" pitchFamily="18" charset="0"/>
              <a:cs typeface="Times New Roman" panose="02020603050405020304" pitchFamily="18" charset="0"/>
            </a:endParaRPr>
          </a:p>
          <a:p>
            <a:pPr eaLnBrk="1" hangingPunct="1">
              <a:lnSpc>
                <a:spcPts val="1675"/>
              </a:lnSpc>
              <a:buNone/>
            </a:pPr>
            <a:r>
              <a:rPr lang="zh-CN" altLang="x-none" sz="1600">
                <a:solidFill>
                  <a:srgbClr val="FFFFFF"/>
                </a:solidFill>
                <a:latin typeface="Times New Roman" panose="02020603050405020304" pitchFamily="18" charset="0"/>
                <a:cs typeface="Times New Roman" panose="02020603050405020304" pitchFamily="18" charset="0"/>
              </a:rPr>
              <a:t>K.R. Road, V.V. Pura, Bengaluru.-560004.</a:t>
            </a:r>
            <a:endParaRPr lang="zh-CN" altLang="x-none" sz="1600">
              <a:latin typeface="Times New Roman" panose="02020603050405020304" pitchFamily="18" charset="0"/>
              <a:cs typeface="Times New Roman" panose="02020603050405020304" pitchFamily="18" charset="0"/>
            </a:endParaRPr>
          </a:p>
          <a:p>
            <a:pPr algn="ctr" eaLnBrk="1" hangingPunct="1">
              <a:lnSpc>
                <a:spcPts val="2725"/>
              </a:lnSpc>
              <a:buNone/>
            </a:pPr>
            <a:r>
              <a:rPr lang="zh-CN" altLang="x-none" sz="2400" b="1">
                <a:solidFill>
                  <a:srgbClr val="FFFFFF"/>
                </a:solidFill>
                <a:latin typeface="Times New Roman" panose="02020603050405020304" pitchFamily="18" charset="0"/>
                <a:cs typeface="Times New Roman" panose="02020603050405020304" pitchFamily="18" charset="0"/>
              </a:rPr>
              <a:t>D</a:t>
            </a:r>
            <a:r>
              <a:rPr lang="zh-CN" altLang="x-none" sz="2000" b="1">
                <a:solidFill>
                  <a:srgbClr val="FFFFFF"/>
                </a:solidFill>
                <a:latin typeface="Times New Roman" panose="02020603050405020304" pitchFamily="18" charset="0"/>
                <a:cs typeface="Times New Roman" panose="02020603050405020304" pitchFamily="18" charset="0"/>
              </a:rPr>
              <a:t>epartment of Computer Science &amp; Engineering</a:t>
            </a:r>
            <a:endParaRPr sz="2000" b="1" dirty="0">
              <a:solidFill>
                <a:srgbClr val="FFFFFF"/>
              </a:solidFill>
              <a:latin typeface="Times New Roman" panose="02020603050405020304" pitchFamily="18" charset="0"/>
              <a:ea typeface="Times New Roman" panose="02020603050405020304" pitchFamily="18" charset="0"/>
            </a:endParaRPr>
          </a:p>
        </p:txBody>
      </p:sp>
      <p:grpSp>
        <p:nvGrpSpPr>
          <p:cNvPr id="3075" name="object 3"/>
          <p:cNvGrpSpPr/>
          <p:nvPr/>
        </p:nvGrpSpPr>
        <p:grpSpPr>
          <a:xfrm>
            <a:off x="203200" y="0"/>
            <a:ext cx="11891963" cy="1193800"/>
            <a:chOff x="203200" y="0"/>
            <a:chExt cx="11892280" cy="1193165"/>
          </a:xfrm>
        </p:grpSpPr>
        <p:pic>
          <p:nvPicPr>
            <p:cNvPr id="3079" name="object 4"/>
            <p:cNvPicPr>
              <a:picLocks noChangeAspect="1"/>
            </p:cNvPicPr>
            <p:nvPr/>
          </p:nvPicPr>
          <p:blipFill>
            <a:blip r:embed="rId2"/>
            <a:stretch>
              <a:fillRect/>
            </a:stretch>
          </p:blipFill>
          <p:spPr>
            <a:xfrm>
              <a:off x="203200" y="0"/>
              <a:ext cx="1441958" cy="1192657"/>
            </a:xfrm>
            <a:prstGeom prst="rect">
              <a:avLst/>
            </a:prstGeom>
            <a:noFill/>
            <a:ln w="9525">
              <a:noFill/>
            </a:ln>
          </p:spPr>
        </p:pic>
        <p:pic>
          <p:nvPicPr>
            <p:cNvPr id="3080" name="object 5"/>
            <p:cNvPicPr>
              <a:picLocks noChangeAspect="1"/>
            </p:cNvPicPr>
            <p:nvPr/>
          </p:nvPicPr>
          <p:blipFill>
            <a:blip r:embed="rId3"/>
            <a:stretch>
              <a:fillRect/>
            </a:stretch>
          </p:blipFill>
          <p:spPr>
            <a:xfrm>
              <a:off x="10653521" y="70713"/>
              <a:ext cx="1441957" cy="994054"/>
            </a:xfrm>
            <a:prstGeom prst="rect">
              <a:avLst/>
            </a:prstGeom>
            <a:noFill/>
            <a:ln w="9525">
              <a:noFill/>
            </a:ln>
          </p:spPr>
        </p:pic>
      </p:grpSp>
      <p:sp>
        <p:nvSpPr>
          <p:cNvPr id="7" name="Google Shape;112;p1"/>
          <p:cNvSpPr/>
          <p:nvPr/>
        </p:nvSpPr>
        <p:spPr>
          <a:xfrm>
            <a:off x="457200" y="2667000"/>
            <a:ext cx="11637961" cy="33528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lIns="90000" tIns="44975" rIns="90000" bIns="44975" anchorCtr="1"/>
          <a:lstStyle/>
          <a:p>
            <a:pPr marL="0" marR="0" lvl="0" indent="0" algn="l" defTabSz="914400" rtl="0" eaLnBrk="1" fontAlgn="auto" latinLnBrk="0" hangingPunct="1">
              <a:lnSpc>
                <a:spcPct val="100000"/>
              </a:lnSpc>
              <a:spcBef>
                <a:spcPts val="0"/>
              </a:spcBef>
              <a:spcAft>
                <a:spcPts val="0"/>
              </a:spcAft>
              <a:buClr>
                <a:srgbClr val="000000"/>
              </a:buClr>
              <a:buSzPts val="2000"/>
              <a:buFont typeface="Times New Roman" panose="02020603050405020304"/>
              <a:buNone/>
              <a:defRPr/>
            </a:pPr>
            <a:r>
              <a:rPr kumimoji="0" lang="en-US" sz="1600" b="1" i="0" u="none" strike="noStrike" kern="0" cap="none" spc="0" normalizeH="0" baseline="0" noProof="0" dirty="0">
                <a:ln>
                  <a:noFill/>
                </a:ln>
                <a:solidFill>
                  <a:schemeClr val="tx1"/>
                </a:solidFill>
                <a:effectLst/>
                <a:uLnTx/>
                <a:uFillTx/>
                <a:latin typeface="Times New Roman" panose="02020603050405020304"/>
                <a:ea typeface="Times New Roman" panose="02020603050405020304"/>
                <a:cs typeface="Times New Roman" panose="02020603050405020304"/>
                <a:sym typeface="Times New Roman" panose="02020603050405020304"/>
              </a:rPr>
              <a:t>Presented by</a:t>
            </a:r>
          </a:p>
          <a:p>
            <a:pPr marL="0" marR="0" lvl="0" indent="0" algn="l" defTabSz="914400" rtl="0" eaLnBrk="1" fontAlgn="auto" latinLnBrk="0" hangingPunct="1">
              <a:lnSpc>
                <a:spcPct val="100000"/>
              </a:lnSpc>
              <a:spcBef>
                <a:spcPts val="0"/>
              </a:spcBef>
              <a:spcAft>
                <a:spcPts val="0"/>
              </a:spcAft>
              <a:buClr>
                <a:srgbClr val="000000"/>
              </a:buClr>
              <a:buSzPts val="2000"/>
              <a:buFont typeface="Times New Roman" panose="02020603050405020304"/>
              <a:buNone/>
              <a:defRPr/>
            </a:pPr>
            <a:endParaRPr kumimoji="0" sz="1600" b="0" i="0" u="none" strike="noStrike" kern="0" cap="none" spc="0" normalizeH="0" baseline="0" noProof="0" dirty="0">
              <a:ln>
                <a:noFill/>
              </a:ln>
              <a:solidFill>
                <a:schemeClr val="tx1"/>
              </a:solidFill>
              <a:effectLst/>
              <a:uLnTx/>
              <a:uFillTx/>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Times New Roman" panose="02020603050405020304"/>
              <a:buNone/>
              <a:defRPr/>
            </a:pPr>
            <a:r>
              <a:rPr kumimoji="0" lang="en-US" sz="1600" b="1" i="0" u="none" strike="noStrike" kern="0" cap="none" spc="0" normalizeH="0" baseline="0" noProof="0" dirty="0">
                <a:ln>
                  <a:noFill/>
                </a:ln>
                <a:solidFill>
                  <a:schemeClr val="tx1"/>
                </a:solidFill>
                <a:effectLst/>
                <a:uLnTx/>
                <a:uFillTx/>
                <a:latin typeface="Times New Roman" panose="02020603050405020304"/>
                <a:ea typeface="Times New Roman" panose="02020603050405020304"/>
                <a:cs typeface="Times New Roman" panose="02020603050405020304"/>
                <a:sym typeface="Times New Roman" panose="02020603050405020304"/>
              </a:rPr>
              <a:t>Project ID-25PC38</a:t>
            </a:r>
            <a:endParaRPr kumimoji="0" sz="1600" b="1" i="0" u="none" strike="noStrike" kern="0" cap="none" spc="0" normalizeH="0" baseline="0" noProof="0" dirty="0">
              <a:ln>
                <a:noFill/>
              </a:ln>
              <a:solidFill>
                <a:schemeClr val="tx1"/>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Times New Roman" panose="02020603050405020304"/>
              <a:buNone/>
              <a:defRPr/>
            </a:pPr>
            <a:r>
              <a:rPr kumimoji="0" lang="en-US" sz="1600" b="1" i="0" u="none" strike="noStrike" kern="0" cap="none" spc="0" normalizeH="0" baseline="0" noProof="0" dirty="0">
                <a:ln>
                  <a:noFill/>
                </a:ln>
                <a:solidFill>
                  <a:schemeClr val="tx1"/>
                </a:solidFill>
                <a:effectLst/>
                <a:uLnTx/>
                <a:uFillTx/>
                <a:latin typeface="Times New Roman" panose="02020603050405020304"/>
                <a:ea typeface="Times New Roman" panose="02020603050405020304"/>
                <a:cs typeface="Times New Roman" panose="02020603050405020304"/>
                <a:sym typeface="Times New Roman" panose="02020603050405020304"/>
              </a:rPr>
              <a:t>USN-1BG23CS131       </a:t>
            </a:r>
            <a:r>
              <a:rPr kumimoji="0" lang="en-US" sz="1600" b="1" i="0" u="none" strike="noStrike" kern="0" cap="none" spc="0" normalizeH="0" baseline="0" noProof="0">
                <a:ln>
                  <a:noFill/>
                </a:ln>
                <a:solidFill>
                  <a:schemeClr val="tx1"/>
                </a:solidFill>
                <a:effectLst/>
                <a:uLnTx/>
                <a:uFillTx/>
                <a:latin typeface="Times New Roman" panose="02020603050405020304"/>
                <a:ea typeface="Times New Roman" panose="02020603050405020304"/>
                <a:cs typeface="Times New Roman" panose="02020603050405020304"/>
                <a:sym typeface="Times New Roman" panose="02020603050405020304"/>
              </a:rPr>
              <a:t>Name-Sanchita H                     </a:t>
            </a:r>
            <a:endParaRPr kumimoji="0" lang="en-US" sz="1600" b="1" i="0" u="none" strike="noStrike" kern="0" cap="none" spc="0" normalizeH="0" baseline="0" noProof="0" dirty="0">
              <a:ln>
                <a:noFill/>
              </a:ln>
              <a:solidFill>
                <a:schemeClr val="tx1"/>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0" marR="0" lvl="0" indent="0" algn="l" defTabSz="914400" rtl="0" eaLnBrk="1" fontAlgn="auto" latinLnBrk="0" hangingPunct="1">
              <a:lnSpc>
                <a:spcPct val="100000"/>
              </a:lnSpc>
              <a:spcBef>
                <a:spcPts val="0"/>
              </a:spcBef>
              <a:spcAft>
                <a:spcPts val="0"/>
              </a:spcAft>
              <a:buClr>
                <a:srgbClr val="000000"/>
              </a:buClr>
              <a:buSzPts val="2000"/>
              <a:buFontTx/>
              <a:buNone/>
              <a:defRPr/>
            </a:pPr>
            <a:r>
              <a:rPr kumimoji="0" lang="en-US" sz="1600" b="1" i="0" u="none" strike="noStrike" kern="0" cap="none" spc="0" normalizeH="0" baseline="0" noProof="0" dirty="0">
                <a:ln>
                  <a:noFill/>
                </a:ln>
                <a:solidFill>
                  <a:schemeClr val="tx1"/>
                </a:solidFill>
                <a:effectLst/>
                <a:uLnTx/>
                <a:uFillTx/>
                <a:latin typeface="Times New Roman" panose="02020603050405020304"/>
                <a:ea typeface="Times New Roman" panose="02020603050405020304"/>
                <a:cs typeface="Times New Roman" panose="02020603050405020304"/>
                <a:sym typeface="Times New Roman" panose="02020603050405020304"/>
              </a:rPr>
              <a:t>USN-1BG23CS159       Name-Srusti M</a:t>
            </a:r>
          </a:p>
          <a:p>
            <a:pPr marL="0" marR="0" lvl="0" indent="0" algn="l" defTabSz="914400" rtl="0" eaLnBrk="1" fontAlgn="auto" latinLnBrk="0" hangingPunct="1">
              <a:lnSpc>
                <a:spcPct val="100000"/>
              </a:lnSpc>
              <a:spcBef>
                <a:spcPts val="0"/>
              </a:spcBef>
              <a:spcAft>
                <a:spcPts val="0"/>
              </a:spcAft>
              <a:buClr>
                <a:srgbClr val="000000"/>
              </a:buClr>
              <a:buSzPts val="2000"/>
              <a:buFontTx/>
              <a:buNone/>
              <a:defRPr/>
            </a:pPr>
            <a:r>
              <a:rPr kumimoji="0" lang="en-US" sz="1600" b="1" i="0" u="none" strike="noStrike" kern="0" cap="none" spc="0" normalizeH="0" baseline="0" noProof="0" dirty="0">
                <a:ln>
                  <a:noFill/>
                </a:ln>
                <a:solidFill>
                  <a:schemeClr val="tx1"/>
                </a:solidFill>
                <a:effectLst/>
                <a:uLnTx/>
                <a:uFillTx/>
                <a:latin typeface="Times New Roman" panose="02020603050405020304"/>
                <a:ea typeface="Times New Roman" panose="02020603050405020304"/>
                <a:cs typeface="Times New Roman" panose="02020603050405020304"/>
                <a:sym typeface="Times New Roman" panose="02020603050405020304"/>
              </a:rPr>
              <a:t>USN-1BG23CS170       Name-Thrisha R</a:t>
            </a:r>
          </a:p>
          <a:p>
            <a:pPr marL="0" marR="0" lvl="0" indent="0" algn="l" defTabSz="914400" rtl="0" eaLnBrk="1" fontAlgn="auto" latinLnBrk="0" hangingPunct="1">
              <a:lnSpc>
                <a:spcPct val="100000"/>
              </a:lnSpc>
              <a:spcBef>
                <a:spcPts val="0"/>
              </a:spcBef>
              <a:spcAft>
                <a:spcPts val="0"/>
              </a:spcAft>
              <a:buClr>
                <a:srgbClr val="000000"/>
              </a:buClr>
              <a:buSzPts val="2000"/>
              <a:buFontTx/>
              <a:buNone/>
              <a:defRPr/>
            </a:pPr>
            <a:r>
              <a:rPr kumimoji="0" lang="en-US" sz="1600" b="1" i="0" u="none" strike="noStrike" kern="0" cap="none" spc="0" normalizeH="0" baseline="0" noProof="0" dirty="0">
                <a:ln>
                  <a:noFill/>
                </a:ln>
                <a:solidFill>
                  <a:schemeClr val="tx1"/>
                </a:solidFill>
                <a:effectLst/>
                <a:uLnTx/>
                <a:uFillTx/>
                <a:latin typeface="Times New Roman" panose="02020603050405020304"/>
                <a:ea typeface="Times New Roman" panose="02020603050405020304"/>
                <a:cs typeface="Times New Roman" panose="02020603050405020304"/>
                <a:sym typeface="Times New Roman" panose="02020603050405020304"/>
              </a:rPr>
              <a:t>USN-1BG23CS190       Name-Vismaya M</a:t>
            </a:r>
            <a:endParaRPr kumimoji="0" sz="1600" b="0" i="0" u="none" strike="noStrike" kern="0" cap="none" spc="0" normalizeH="0" baseline="0" noProof="0" dirty="0">
              <a:ln>
                <a:noFill/>
              </a:ln>
              <a:solidFill>
                <a:schemeClr val="tx1"/>
              </a:solidFill>
              <a:effectLst/>
              <a:uLnTx/>
              <a:uFillTx/>
              <a:latin typeface="Arial" panose="020B0604020202020204"/>
              <a:ea typeface="Arial" panose="020B0604020202020204"/>
              <a:cs typeface="Arial" panose="020B0604020202020204"/>
              <a:sym typeface="Arial" panose="020B0604020202020204"/>
            </a:endParaRPr>
          </a:p>
          <a:p>
            <a:pPr marL="0" marR="0" lvl="0" indent="0" algn="ctr" defTabSz="914400" rtl="0" eaLnBrk="1" fontAlgn="auto" latinLnBrk="0" hangingPunct="1">
              <a:lnSpc>
                <a:spcPct val="100000"/>
              </a:lnSpc>
              <a:spcBef>
                <a:spcPts val="0"/>
              </a:spcBef>
              <a:spcAft>
                <a:spcPts val="0"/>
              </a:spcAft>
              <a:buClr>
                <a:srgbClr val="000000"/>
              </a:buClr>
              <a:buSzPts val="2000"/>
              <a:buFont typeface="Calibri" panose="020F0502020204030204"/>
              <a:buNone/>
              <a:defRPr/>
            </a:pPr>
            <a:endParaRPr kumimoji="0" lang="en-IN" sz="1600" b="1" i="0" u="none" strike="noStrike" kern="0" cap="none" spc="0" normalizeH="0" baseline="0" noProof="0" dirty="0">
              <a:ln>
                <a:noFill/>
              </a:ln>
              <a:solidFill>
                <a:schemeClr val="tx1"/>
              </a:solidFill>
              <a:effectLst/>
              <a:uLnTx/>
              <a:uFillTx/>
              <a:latin typeface="Times New Roman" panose="02020603050405020304"/>
              <a:ea typeface="Times New Roman" panose="02020603050405020304"/>
              <a:cs typeface="Times New Roman" panose="02020603050405020304"/>
              <a:sym typeface="Times New Roman" panose="02020603050405020304"/>
            </a:endParaRPr>
          </a:p>
          <a:p>
            <a:pPr marL="2743200" marR="0" lvl="6" indent="0" algn="ctr" defTabSz="914400" rtl="0" eaLnBrk="1" fontAlgn="auto" latinLnBrk="0" hangingPunct="1">
              <a:lnSpc>
                <a:spcPct val="100000"/>
              </a:lnSpc>
              <a:spcBef>
                <a:spcPts val="0"/>
              </a:spcBef>
              <a:spcAft>
                <a:spcPts val="0"/>
              </a:spcAft>
              <a:buClr>
                <a:srgbClr val="000000"/>
              </a:buClr>
              <a:buSzPts val="2000"/>
              <a:buFontTx/>
              <a:buNone/>
              <a:defRPr/>
            </a:pPr>
            <a:r>
              <a:rPr kumimoji="0" lang="en-US" sz="1600" b="1" i="0" u="none" strike="noStrike" kern="0" cap="none" spc="0" normalizeH="0" baseline="0" noProof="0" dirty="0">
                <a:ln>
                  <a:noFill/>
                </a:ln>
                <a:solidFill>
                  <a:schemeClr val="tx1"/>
                </a:solidFill>
                <a:effectLst/>
                <a:uLnTx/>
                <a:uFillTx/>
                <a:latin typeface="Times New Roman" panose="02020603050405020304"/>
                <a:ea typeface="Times New Roman" panose="02020603050405020304"/>
                <a:cs typeface="Times New Roman" panose="02020603050405020304"/>
                <a:sym typeface="Times New Roman" panose="02020603050405020304"/>
              </a:rPr>
              <a:t>                                                              	Under the Guidance of</a:t>
            </a:r>
            <a:endParaRPr kumimoji="0" sz="1600" b="0" i="0" u="none" strike="noStrike" kern="0" cap="none" spc="0" normalizeH="0" baseline="0" noProof="0" dirty="0">
              <a:ln>
                <a:noFill/>
              </a:ln>
              <a:solidFill>
                <a:schemeClr val="tx1"/>
              </a:solidFill>
              <a:effectLst/>
              <a:uLnTx/>
              <a:uFillTx/>
              <a:latin typeface="Arial" panose="020B0604020202020204"/>
              <a:ea typeface="Arial" panose="020B0604020202020204"/>
              <a:cs typeface="Arial" panose="020B0604020202020204"/>
              <a:sym typeface="Arial" panose="020B0604020202020204"/>
            </a:endParaRPr>
          </a:p>
          <a:p>
            <a:pPr marL="2743200" marR="0" lvl="6" indent="457200" algn="ctr" defTabSz="914400" rtl="0" eaLnBrk="1" fontAlgn="auto" latinLnBrk="0" hangingPunct="1">
              <a:lnSpc>
                <a:spcPct val="100000"/>
              </a:lnSpc>
              <a:spcBef>
                <a:spcPts val="0"/>
              </a:spcBef>
              <a:spcAft>
                <a:spcPts val="0"/>
              </a:spcAft>
              <a:buClr>
                <a:srgbClr val="000000"/>
              </a:buClr>
              <a:buSzPts val="2000"/>
              <a:buFontTx/>
              <a:buNone/>
              <a:defRPr/>
            </a:pPr>
            <a:r>
              <a:rPr kumimoji="0" lang="en-US" sz="1600" b="1" i="0" u="none" strike="noStrike" kern="0" cap="none" spc="0" normalizeH="0" baseline="0" noProof="0" dirty="0">
                <a:ln>
                  <a:noFill/>
                </a:ln>
                <a:solidFill>
                  <a:schemeClr val="tx1"/>
                </a:solidFill>
                <a:effectLst/>
                <a:uLnTx/>
                <a:uFillTx/>
                <a:latin typeface="Times New Roman" panose="02020603050405020304"/>
                <a:ea typeface="Times New Roman" panose="02020603050405020304"/>
                <a:cs typeface="Times New Roman" panose="02020603050405020304"/>
                <a:sym typeface="Times New Roman" panose="02020603050405020304"/>
              </a:rPr>
              <a:t>	                                                       Priyanka S</a:t>
            </a:r>
          </a:p>
          <a:p>
            <a:pPr marL="2743200" marR="0" lvl="6" indent="457200" algn="ctr" defTabSz="914400" rtl="0" eaLnBrk="1" fontAlgn="auto" latinLnBrk="0" hangingPunct="1">
              <a:lnSpc>
                <a:spcPct val="100000"/>
              </a:lnSpc>
              <a:spcBef>
                <a:spcPts val="0"/>
              </a:spcBef>
              <a:spcAft>
                <a:spcPts val="0"/>
              </a:spcAft>
              <a:buClr>
                <a:srgbClr val="000000"/>
              </a:buClr>
              <a:buSzPts val="2000"/>
              <a:buFontTx/>
              <a:buNone/>
              <a:defRPr/>
            </a:pPr>
            <a:r>
              <a:rPr kumimoji="0" lang="en-US" sz="1600" b="1" i="0" u="none" strike="noStrike" kern="0" cap="none" spc="0" normalizeH="0" baseline="0" noProof="0" dirty="0">
                <a:ln>
                  <a:noFill/>
                </a:ln>
                <a:solidFill>
                  <a:schemeClr val="tx1"/>
                </a:solidFill>
                <a:effectLst/>
                <a:uLnTx/>
                <a:uFillTx/>
                <a:latin typeface="Times New Roman" panose="02020603050405020304"/>
                <a:ea typeface="Times New Roman" panose="02020603050405020304"/>
                <a:cs typeface="Times New Roman" panose="02020603050405020304"/>
                <a:sym typeface="Times New Roman" panose="02020603050405020304"/>
              </a:rPr>
              <a:t>	          	                               Assistant Professor</a:t>
            </a:r>
            <a:endParaRPr kumimoji="0" lang="en-US" sz="1600" b="0" i="0" u="none" strike="noStrike" kern="0" cap="none" spc="0" normalizeH="0" baseline="0" noProof="0" dirty="0">
              <a:ln>
                <a:noFill/>
              </a:ln>
              <a:solidFill>
                <a:schemeClr val="tx1"/>
              </a:solidFill>
              <a:effectLst/>
              <a:uLnTx/>
              <a:uFillTx/>
              <a:latin typeface="Arial" panose="020B0604020202020204"/>
              <a:ea typeface="Arial" panose="020B0604020202020204"/>
              <a:cs typeface="Arial" panose="020B0604020202020204"/>
              <a:sym typeface="Arial" panose="020B0604020202020204"/>
            </a:endParaRPr>
          </a:p>
          <a:p>
            <a:pPr marL="2743200" marR="0" lvl="6" indent="0" algn="ctr" defTabSz="914400" rtl="0" eaLnBrk="1" fontAlgn="auto" latinLnBrk="0" hangingPunct="1">
              <a:lnSpc>
                <a:spcPct val="100000"/>
              </a:lnSpc>
              <a:spcBef>
                <a:spcPts val="0"/>
              </a:spcBef>
              <a:spcAft>
                <a:spcPts val="0"/>
              </a:spcAft>
              <a:buClr>
                <a:srgbClr val="000000"/>
              </a:buClr>
              <a:buSzPts val="2000"/>
              <a:buFontTx/>
              <a:buNone/>
              <a:defRPr/>
            </a:pPr>
            <a:r>
              <a:rPr kumimoji="0" lang="en-US" sz="1600" b="1" i="0" u="none" strike="noStrike" kern="0" cap="none" spc="0" normalizeH="0" baseline="0" noProof="0" dirty="0">
                <a:ln>
                  <a:noFill/>
                </a:ln>
                <a:solidFill>
                  <a:schemeClr val="tx1"/>
                </a:solidFill>
                <a:effectLst/>
                <a:uLnTx/>
                <a:uFillTx/>
                <a:latin typeface="Times New Roman" panose="02020603050405020304"/>
                <a:ea typeface="Times New Roman" panose="02020603050405020304"/>
                <a:cs typeface="Times New Roman" panose="02020603050405020304"/>
                <a:sym typeface="Times New Roman" panose="02020603050405020304"/>
              </a:rPr>
              <a:t>                                                               Computer Science</a:t>
            </a:r>
          </a:p>
          <a:p>
            <a:pPr marL="2743200" marR="0" lvl="6" indent="0" algn="ctr" defTabSz="914400" rtl="0" eaLnBrk="1" fontAlgn="auto" latinLnBrk="0" hangingPunct="1">
              <a:lnSpc>
                <a:spcPct val="100000"/>
              </a:lnSpc>
              <a:spcBef>
                <a:spcPts val="0"/>
              </a:spcBef>
              <a:spcAft>
                <a:spcPts val="0"/>
              </a:spcAft>
              <a:buClr>
                <a:srgbClr val="000000"/>
              </a:buClr>
              <a:buSzPts val="2000"/>
              <a:buFontTx/>
              <a:buNone/>
              <a:defRPr/>
            </a:pPr>
            <a:r>
              <a:rPr kumimoji="0" lang="en-US" sz="1600" b="1" i="0" u="none" strike="noStrike" kern="0" cap="none" spc="0" normalizeH="0" baseline="0" noProof="0" dirty="0">
                <a:ln>
                  <a:noFill/>
                </a:ln>
                <a:solidFill>
                  <a:schemeClr val="tx1"/>
                </a:solidFill>
                <a:effectLst/>
                <a:uLnTx/>
                <a:uFillTx/>
                <a:latin typeface="Times New Roman" panose="02020603050405020304"/>
                <a:ea typeface="Arial" panose="020B0604020202020204"/>
                <a:cs typeface="Times New Roman" panose="02020603050405020304"/>
                <a:sym typeface="Times New Roman" panose="02020603050405020304"/>
              </a:rPr>
              <a:t>                                                 	                  B N M Institute of Technology</a:t>
            </a:r>
            <a:endParaRPr kumimoji="0" sz="1600" b="0" i="0" u="none" strike="noStrike" kern="0" cap="none" spc="0" normalizeH="0" baseline="0" noProof="0" dirty="0">
              <a:ln>
                <a:noFill/>
              </a:ln>
              <a:solidFill>
                <a:schemeClr val="tx1"/>
              </a:solidFill>
              <a:effectLst/>
              <a:uLnTx/>
              <a:uFillTx/>
              <a:latin typeface="Arial" panose="020B0604020202020204"/>
              <a:ea typeface="Arial" panose="020B0604020202020204"/>
              <a:cs typeface="Arial" panose="020B0604020202020204"/>
              <a:sym typeface="Arial" panose="020B0604020202020204"/>
            </a:endParaRPr>
          </a:p>
          <a:p>
            <a:pPr marL="0" marR="0" lvl="0" indent="0" algn="ctr" defTabSz="914400" rtl="0" eaLnBrk="1" fontAlgn="auto" latinLnBrk="0" hangingPunct="1">
              <a:lnSpc>
                <a:spcPct val="100000"/>
              </a:lnSpc>
              <a:spcBef>
                <a:spcPts val="0"/>
              </a:spcBef>
              <a:spcAft>
                <a:spcPts val="0"/>
              </a:spcAft>
              <a:buClr>
                <a:srgbClr val="000000"/>
              </a:buClr>
              <a:buSzPts val="1800"/>
              <a:buFont typeface="Trebuchet MS" panose="020B0603020202020204"/>
              <a:buNone/>
              <a:defRPr/>
            </a:pPr>
            <a:r>
              <a:rPr kumimoji="0" lang="en-US" sz="1700" b="1" i="0" u="none" strike="noStrike" kern="0" cap="none" spc="0" normalizeH="0" baseline="0" noProof="0" dirty="0">
                <a:ln>
                  <a:noFill/>
                </a:ln>
                <a:solidFill>
                  <a:schemeClr val="tx1"/>
                </a:solidFill>
                <a:effectLst/>
                <a:uLnTx/>
                <a:uFillTx/>
                <a:latin typeface="Trebuchet MS" panose="020B0603020202020204"/>
                <a:ea typeface="Trebuchet MS" panose="020B0603020202020204"/>
                <a:cs typeface="Trebuchet MS" panose="020B0603020202020204"/>
                <a:sym typeface="Trebuchet MS" panose="020B0603020202020204"/>
              </a:rPr>
              <a:t>	</a:t>
            </a:r>
            <a:endParaRPr kumimoji="0" sz="1700" b="0" i="0" u="none" strike="noStrike" kern="0" cap="none" spc="0" normalizeH="0" baseline="0" noProof="0" dirty="0">
              <a:ln>
                <a:noFill/>
              </a:ln>
              <a:solidFill>
                <a:schemeClr val="tx1"/>
              </a:solidFill>
              <a:effectLst/>
              <a:uLnTx/>
              <a:uFillTx/>
              <a:latin typeface="Arial" panose="020B0604020202020204"/>
              <a:ea typeface="Arial" panose="020B0604020202020204"/>
              <a:cs typeface="Arial" panose="020B0604020202020204"/>
              <a:sym typeface="Arial" panose="020B0604020202020204"/>
            </a:endParaRPr>
          </a:p>
        </p:txBody>
      </p:sp>
      <p:sp>
        <p:nvSpPr>
          <p:cNvPr id="8" name="Google Shape;108;p1"/>
          <p:cNvSpPr/>
          <p:nvPr/>
        </p:nvSpPr>
        <p:spPr>
          <a:xfrm>
            <a:off x="1644650" y="1733550"/>
            <a:ext cx="8702675" cy="714375"/>
          </a:xfrm>
          <a:custGeom>
            <a:avLst/>
            <a:gdLst>
              <a:gd name="txL" fmla="*/ 0 w 21600"/>
              <a:gd name="txT" fmla="*/ 0 h 21600"/>
              <a:gd name="txR" fmla="*/ 21600 w 21600"/>
              <a:gd name="txB" fmla="*/ 21600 h 21600"/>
            </a:gdLst>
            <a:ahLst/>
            <a:cxnLst/>
            <a:rect l="txL" t="txT" r="txR" b="txB"/>
            <a:pathLst>
              <a:path w="21600" h="21600">
                <a:moveTo>
                  <a:pt x="0" y="0"/>
                </a:moveTo>
                <a:lnTo>
                  <a:pt x="21600" y="0"/>
                </a:lnTo>
                <a:lnTo>
                  <a:pt x="21600" y="21600"/>
                </a:lnTo>
                <a:lnTo>
                  <a:pt x="0" y="21600"/>
                </a:lnTo>
                <a:lnTo>
                  <a:pt x="0" y="0"/>
                </a:lnTo>
                <a:close/>
              </a:path>
            </a:pathLst>
          </a:custGeom>
          <a:noFill/>
          <a:ln w="9525">
            <a:noFill/>
          </a:ln>
        </p:spPr>
        <p:txBody>
          <a:bodyPr lIns="90000" tIns="44975" rIns="90000" bIns="44975" anchor="t" anchorCtr="1"/>
          <a:lstStyle/>
          <a:p>
            <a:pPr algn="ctr" eaLnBrk="1" hangingPunct="1">
              <a:buClr>
                <a:srgbClr val="000000"/>
              </a:buClr>
              <a:buFont typeface="Times New Roman" panose="02020603050405020304" pitchFamily="18" charset="0"/>
            </a:pPr>
            <a:r>
              <a:rPr lang="en-US" altLang="en-US" sz="3600"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lang="en-US" altLang="en-US" sz="3600" dirty="0">
                <a:latin typeface="Calibri" panose="020F0502020204030204" pitchFamily="34" charset="0"/>
              </a:rPr>
              <a:t>Crop Price Prediction Using SARIMA Models</a:t>
            </a:r>
            <a:r>
              <a:rPr lang="en-US" altLang="en-US" sz="3600"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endParaRPr lang="en-US" altLang="en-US" sz="3600" dirty="0">
              <a:solidFill>
                <a:srgbClr val="000000"/>
              </a:solidFill>
              <a:latin typeface="Arial" panose="020B0604020202020204" pitchFamily="34" charset="0"/>
              <a:ea typeface="Arial" panose="020B0604020202020204" pitchFamily="34" charset="0"/>
              <a:sym typeface="Arial" panose="020B0604020202020204" pitchFamily="34" charset="0"/>
            </a:endParaRPr>
          </a:p>
        </p:txBody>
      </p:sp>
      <p:sp>
        <p:nvSpPr>
          <p:cNvPr id="3078" name="TextBox 2"/>
          <p:cNvSpPr txBox="1"/>
          <p:nvPr/>
        </p:nvSpPr>
        <p:spPr>
          <a:xfrm>
            <a:off x="2209800" y="1168400"/>
            <a:ext cx="7162800" cy="438150"/>
          </a:xfrm>
          <a:prstGeom prst="rect">
            <a:avLst/>
          </a:prstGeom>
          <a:noFill/>
          <a:ln w="9525">
            <a:noFill/>
          </a:ln>
        </p:spPr>
        <p:txBody>
          <a:bodyPr>
            <a:spAutoFit/>
          </a:bodyPr>
          <a:lstStyle/>
          <a:p>
            <a:pPr algn="ctr" eaLnBrk="1" hangingPunct="1">
              <a:lnSpc>
                <a:spcPts val="2725"/>
              </a:lnSpc>
            </a:pPr>
            <a:r>
              <a:rPr lang="en-US" altLang="en-US" sz="2400" b="1" dirty="0">
                <a:latin typeface="Times New Roman" panose="02020603050405020304" pitchFamily="18" charset="0"/>
                <a:cs typeface="Times New Roman" panose="02020603050405020304" pitchFamily="18" charset="0"/>
              </a:rPr>
              <a:t>State level Project Competition-2025</a:t>
            </a:r>
            <a:endParaRPr lang="en-US" altLang="en-US" sz="2400" dirty="0">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19475" y="0"/>
            <a:ext cx="5353050" cy="939800"/>
          </a:xfrm>
          <a:prstGeom prst="rect">
            <a:avLst/>
          </a:prstGeom>
        </p:spPr>
        <p:txBody>
          <a:bodyPr lIns="0" tIns="12700" rIns="0" bIns="0">
            <a:spAutoFit/>
          </a:bodyPr>
          <a:lstStyle/>
          <a:p>
            <a:pPr marR="0" algn="ctr" defTabSz="914400" eaLnBrk="1" fontAlgn="auto" hangingPunct="1">
              <a:lnSpc>
                <a:spcPts val="2800"/>
              </a:lnSpc>
              <a:spcBef>
                <a:spcPts val="100"/>
              </a:spcBef>
              <a:spcAft>
                <a:spcPts val="0"/>
              </a:spcAft>
              <a:buClrTx/>
              <a:buSzTx/>
              <a:buFontTx/>
              <a:buNone/>
              <a:defRPr/>
            </a:pPr>
            <a:r>
              <a:rPr kumimoji="0" sz="2400" b="1" kern="1200" cap="none" spc="-10" normalizeH="0" baseline="0" noProof="0" dirty="0">
                <a:solidFill>
                  <a:srgbClr val="FFFFFF"/>
                </a:solidFill>
                <a:latin typeface="Times New Roman" panose="02020603050405020304"/>
                <a:ea typeface="+mn-ea"/>
                <a:cs typeface="Times New Roman" panose="02020603050405020304"/>
              </a:rPr>
              <a:t>Bangalore</a:t>
            </a:r>
            <a:r>
              <a:rPr kumimoji="0" sz="2400" b="1" kern="1200" cap="none" spc="-20" normalizeH="0" baseline="0" noProof="0" dirty="0">
                <a:solidFill>
                  <a:srgbClr val="FFFFFF"/>
                </a:solidFill>
                <a:latin typeface="Times New Roman" panose="02020603050405020304"/>
                <a:ea typeface="+mn-ea"/>
                <a:cs typeface="Times New Roman" panose="02020603050405020304"/>
              </a:rPr>
              <a:t> </a:t>
            </a:r>
            <a:r>
              <a:rPr kumimoji="0" sz="2400" b="1" kern="1200" cap="none" spc="0" normalizeH="0" baseline="0" noProof="0" dirty="0">
                <a:solidFill>
                  <a:srgbClr val="FFFFFF"/>
                </a:solidFill>
                <a:latin typeface="Times New Roman" panose="02020603050405020304"/>
                <a:ea typeface="+mn-ea"/>
                <a:cs typeface="Times New Roman" panose="02020603050405020304"/>
              </a:rPr>
              <a:t>Institute</a:t>
            </a:r>
            <a:r>
              <a:rPr kumimoji="0" sz="2400" b="1" kern="1200" cap="none" spc="-10" normalizeH="0" baseline="0" noProof="0" dirty="0">
                <a:solidFill>
                  <a:srgbClr val="FFFFFF"/>
                </a:solidFill>
                <a:latin typeface="Times New Roman" panose="02020603050405020304"/>
                <a:ea typeface="+mn-ea"/>
                <a:cs typeface="Times New Roman" panose="02020603050405020304"/>
              </a:rPr>
              <a:t> </a:t>
            </a:r>
            <a:r>
              <a:rPr kumimoji="0" sz="2400" b="1" kern="1200" cap="none" spc="-5" normalizeH="0" baseline="0" noProof="0" dirty="0">
                <a:solidFill>
                  <a:srgbClr val="FFFFFF"/>
                </a:solidFill>
                <a:latin typeface="Times New Roman" panose="02020603050405020304"/>
                <a:ea typeface="+mn-ea"/>
                <a:cs typeface="Times New Roman" panose="02020603050405020304"/>
              </a:rPr>
              <a:t>of</a:t>
            </a:r>
            <a:r>
              <a:rPr kumimoji="0" sz="2400" b="1" kern="1200" cap="none" spc="-55" normalizeH="0" baseline="0" noProof="0" dirty="0">
                <a:solidFill>
                  <a:srgbClr val="FFFFFF"/>
                </a:solidFill>
                <a:latin typeface="Times New Roman" panose="02020603050405020304"/>
                <a:ea typeface="+mn-ea"/>
                <a:cs typeface="Times New Roman" panose="02020603050405020304"/>
              </a:rPr>
              <a:t> </a:t>
            </a:r>
            <a:r>
              <a:rPr kumimoji="0" sz="2400" b="1" kern="1200" cap="none" spc="-25" normalizeH="0" baseline="0" noProof="0" dirty="0">
                <a:solidFill>
                  <a:srgbClr val="FFFFFF"/>
                </a:solidFill>
                <a:latin typeface="Times New Roman" panose="02020603050405020304"/>
                <a:ea typeface="+mn-ea"/>
                <a:cs typeface="Times New Roman" panose="02020603050405020304"/>
              </a:rPr>
              <a:t>Technology</a:t>
            </a:r>
            <a:endParaRPr kumimoji="0" sz="2400" kern="1200" cap="none" spc="0" normalizeH="0" baseline="0" noProof="0" dirty="0">
              <a:latin typeface="Times New Roman" panose="02020603050405020304"/>
              <a:ea typeface="+mn-ea"/>
              <a:cs typeface="Times New Roman" panose="02020603050405020304"/>
            </a:endParaRPr>
          </a:p>
          <a:p>
            <a:pPr marL="949325" marR="0" defTabSz="914400" eaLnBrk="1" fontAlgn="auto" hangingPunct="1">
              <a:lnSpc>
                <a:spcPts val="1680"/>
              </a:lnSpc>
              <a:spcBef>
                <a:spcPts val="0"/>
              </a:spcBef>
              <a:spcAft>
                <a:spcPts val="0"/>
              </a:spcAft>
              <a:buClrTx/>
              <a:buSzTx/>
              <a:buFontTx/>
              <a:buNone/>
              <a:defRPr/>
            </a:pPr>
            <a:r>
              <a:rPr kumimoji="0" sz="1600" kern="1200" cap="none" spc="-5" normalizeH="0" baseline="0" noProof="0" dirty="0">
                <a:solidFill>
                  <a:srgbClr val="FFFFFF"/>
                </a:solidFill>
                <a:latin typeface="Times New Roman" panose="02020603050405020304"/>
                <a:ea typeface="+mn-ea"/>
                <a:cs typeface="Times New Roman" panose="02020603050405020304"/>
              </a:rPr>
              <a:t>K.R. Road,</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110" normalizeH="0" baseline="0" noProof="0" dirty="0">
                <a:solidFill>
                  <a:srgbClr val="FFFFFF"/>
                </a:solidFill>
                <a:latin typeface="Times New Roman" panose="02020603050405020304"/>
                <a:ea typeface="+mn-ea"/>
                <a:cs typeface="Times New Roman" panose="02020603050405020304"/>
              </a:rPr>
              <a:t>V.V.</a:t>
            </a:r>
            <a:r>
              <a:rPr kumimoji="0" sz="1600" kern="1200" cap="none" spc="-5" normalizeH="0" baseline="0" noProof="0" dirty="0">
                <a:solidFill>
                  <a:srgbClr val="FFFFFF"/>
                </a:solidFill>
                <a:latin typeface="Times New Roman" panose="02020603050405020304"/>
                <a:ea typeface="+mn-ea"/>
                <a:cs typeface="Times New Roman" panose="02020603050405020304"/>
              </a:rPr>
              <a:t> Pura,</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5" normalizeH="0" baseline="0" noProof="0" dirty="0">
                <a:solidFill>
                  <a:srgbClr val="FFFFFF"/>
                </a:solidFill>
                <a:latin typeface="Times New Roman" panose="02020603050405020304"/>
                <a:ea typeface="+mn-ea"/>
                <a:cs typeface="Times New Roman" panose="02020603050405020304"/>
              </a:rPr>
              <a:t>Bengaluru.-560004.</a:t>
            </a:r>
            <a:endParaRPr kumimoji="0" sz="1600" kern="1200" cap="none" spc="0" normalizeH="0" baseline="0" noProof="0" dirty="0">
              <a:latin typeface="Times New Roman" panose="02020603050405020304"/>
              <a:ea typeface="+mn-ea"/>
              <a:cs typeface="Times New Roman" panose="02020603050405020304"/>
            </a:endParaRPr>
          </a:p>
          <a:p>
            <a:pPr marR="0" algn="ctr" defTabSz="914400" eaLnBrk="1" fontAlgn="auto" hangingPunct="1">
              <a:lnSpc>
                <a:spcPts val="2720"/>
              </a:lnSpc>
              <a:spcBef>
                <a:spcPts val="0"/>
              </a:spcBef>
              <a:spcAft>
                <a:spcPts val="0"/>
              </a:spcAft>
              <a:buClrTx/>
              <a:buSzTx/>
              <a:buFontTx/>
              <a:buNone/>
              <a:defRPr/>
            </a:pPr>
            <a:r>
              <a:rPr kumimoji="0" sz="2400" b="1" kern="1200" cap="none" spc="0" normalizeH="0" baseline="0" noProof="0" dirty="0">
                <a:solidFill>
                  <a:srgbClr val="FFFFFF"/>
                </a:solidFill>
                <a:latin typeface="Times New Roman" panose="02020603050405020304"/>
                <a:ea typeface="+mn-ea"/>
                <a:cs typeface="Times New Roman" panose="02020603050405020304"/>
              </a:rPr>
              <a:t>D</a:t>
            </a:r>
            <a:r>
              <a:rPr kumimoji="0" sz="2000" b="1" kern="1200" cap="none" spc="0" normalizeH="0" baseline="0" noProof="0" dirty="0">
                <a:solidFill>
                  <a:srgbClr val="FFFFFF"/>
                </a:solidFill>
                <a:latin typeface="Times New Roman" panose="02020603050405020304"/>
                <a:ea typeface="+mn-ea"/>
                <a:cs typeface="Times New Roman" panose="02020603050405020304"/>
              </a:rPr>
              <a:t>epartment</a:t>
            </a:r>
            <a:r>
              <a:rPr kumimoji="0" sz="2000" b="1" kern="1200" cap="none" spc="-4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of</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Computer</a:t>
            </a:r>
            <a:r>
              <a:rPr kumimoji="0" sz="2000" b="1" kern="1200" cap="none" spc="-8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Science</a:t>
            </a:r>
            <a:r>
              <a:rPr kumimoji="0" sz="2000" b="1" kern="1200" cap="none" spc="-1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&amp;</a:t>
            </a:r>
            <a:r>
              <a:rPr kumimoji="0" sz="2000" b="1" kern="1200" cap="none" spc="-1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Engineering</a:t>
            </a:r>
            <a:endParaRPr kumimoji="0" sz="2000" kern="1200" cap="none" spc="0" normalizeH="0" baseline="0" noProof="0" dirty="0">
              <a:latin typeface="Times New Roman" panose="02020603050405020304"/>
              <a:ea typeface="+mn-ea"/>
              <a:cs typeface="Times New Roman" panose="02020603050405020304"/>
            </a:endParaRPr>
          </a:p>
        </p:txBody>
      </p:sp>
      <p:grpSp>
        <p:nvGrpSpPr>
          <p:cNvPr id="4099" name="object 3"/>
          <p:cNvGrpSpPr/>
          <p:nvPr/>
        </p:nvGrpSpPr>
        <p:grpSpPr>
          <a:xfrm>
            <a:off x="203200" y="0"/>
            <a:ext cx="11891963" cy="1193800"/>
            <a:chOff x="203200" y="0"/>
            <a:chExt cx="11892280" cy="1193165"/>
          </a:xfrm>
        </p:grpSpPr>
        <p:pic>
          <p:nvPicPr>
            <p:cNvPr id="4102" name="object 4"/>
            <p:cNvPicPr>
              <a:picLocks noChangeAspect="1"/>
            </p:cNvPicPr>
            <p:nvPr/>
          </p:nvPicPr>
          <p:blipFill>
            <a:blip r:embed="rId2"/>
            <a:stretch>
              <a:fillRect/>
            </a:stretch>
          </p:blipFill>
          <p:spPr>
            <a:xfrm>
              <a:off x="203200" y="0"/>
              <a:ext cx="1441958" cy="1192657"/>
            </a:xfrm>
            <a:prstGeom prst="rect">
              <a:avLst/>
            </a:prstGeom>
            <a:noFill/>
            <a:ln w="9525">
              <a:noFill/>
            </a:ln>
          </p:spPr>
        </p:pic>
        <p:pic>
          <p:nvPicPr>
            <p:cNvPr id="4103" name="object 5"/>
            <p:cNvPicPr>
              <a:picLocks noChangeAspect="1"/>
            </p:cNvPicPr>
            <p:nvPr/>
          </p:nvPicPr>
          <p:blipFill>
            <a:blip r:embed="rId3"/>
            <a:stretch>
              <a:fillRect/>
            </a:stretch>
          </p:blipFill>
          <p:spPr>
            <a:xfrm>
              <a:off x="10653521" y="70713"/>
              <a:ext cx="1441957" cy="994054"/>
            </a:xfrm>
            <a:prstGeom prst="rect">
              <a:avLst/>
            </a:prstGeom>
            <a:noFill/>
            <a:ln w="9525">
              <a:noFill/>
            </a:ln>
          </p:spPr>
        </p:pic>
      </p:grpSp>
      <p:sp>
        <p:nvSpPr>
          <p:cNvPr id="10" name="TextBox 9"/>
          <p:cNvSpPr txBox="1"/>
          <p:nvPr/>
        </p:nvSpPr>
        <p:spPr>
          <a:xfrm>
            <a:off x="304800" y="1065213"/>
            <a:ext cx="6932613" cy="646113"/>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0" lang="en-US" altLang="en-US" sz="3600" b="1" kern="0" cap="none" spc="0" normalizeH="0" baseline="0" noProof="0" dirty="0">
                <a:solidFill>
                  <a:srgbClr val="0070C0"/>
                </a:solidFill>
                <a:latin typeface="Times New Roman" panose="02020603050405020304" pitchFamily="18" charset="0"/>
                <a:ea typeface="+mn-ea"/>
                <a:cs typeface="Times New Roman" panose="02020603050405020304" pitchFamily="18" charset="0"/>
                <a:sym typeface="Times New Roman" panose="02020603050405020304" pitchFamily="18" charset="0"/>
              </a:rPr>
              <a:t>Agenda</a:t>
            </a:r>
            <a:endParaRPr kumimoji="0" lang="en-IN" kern="1200" cap="none" spc="0" normalizeH="0" baseline="0" noProof="0" dirty="0">
              <a:latin typeface="+mn-lt"/>
              <a:ea typeface="+mn-ea"/>
              <a:cs typeface="+mn-cs"/>
            </a:endParaRPr>
          </a:p>
        </p:txBody>
      </p:sp>
      <p:sp>
        <p:nvSpPr>
          <p:cNvPr id="4101" name="Google Shape;121;p2"/>
          <p:cNvSpPr>
            <a:spLocks noChangeArrowheads="1"/>
          </p:cNvSpPr>
          <p:nvPr/>
        </p:nvSpPr>
        <p:spPr bwMode="auto">
          <a:xfrm>
            <a:off x="1828800" y="1711325"/>
            <a:ext cx="7696200" cy="6653213"/>
          </a:xfrm>
          <a:prstGeom prst="rect">
            <a:avLst/>
          </a:prstGeom>
          <a:noFill/>
          <a:ln>
            <a:noFill/>
          </a:ln>
        </p:spPr>
        <p:txBody>
          <a:bodyPr lIns="91425" tIns="45700" rIns="91425" bIns="45700">
            <a:spAutoFit/>
          </a:bodyPr>
          <a:lst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stStyle>
          <a:p>
            <a:pPr marL="965200" lvl="1" indent="-457200" algn="just">
              <a:spcBef>
                <a:spcPct val="0"/>
              </a:spcBef>
              <a:buFont typeface="Courier New" panose="02070309020205020404" pitchFamily="49" charset="0"/>
              <a:buChar char="o"/>
            </a:pPr>
            <a:r>
              <a:rPr lang="en-US" altLang="en-US" sz="2000" b="1" dirty="0">
                <a:solidFill>
                  <a:srgbClr val="252525"/>
                </a:solidFill>
                <a:latin typeface="Times New Roman" panose="02020603050405020304" pitchFamily="18" charset="0"/>
                <a:cs typeface="Times New Roman" panose="02020603050405020304" pitchFamily="18" charset="0"/>
                <a:sym typeface="Times New Roman" panose="02020603050405020304" pitchFamily="18" charset="0"/>
              </a:rPr>
              <a:t>Introduction </a:t>
            </a:r>
          </a:p>
          <a:p>
            <a:pPr marL="965200" lvl="1" indent="-457200" algn="just">
              <a:spcBef>
                <a:spcPct val="0"/>
              </a:spcBef>
              <a:buFont typeface="Courier New" panose="02070309020205020404" pitchFamily="49" charset="0"/>
              <a:buChar char="o"/>
            </a:pPr>
            <a:r>
              <a:rPr lang="en-US" altLang="en-US" sz="2000" b="1" dirty="0">
                <a:solidFill>
                  <a:srgbClr val="252525"/>
                </a:solidFill>
                <a:latin typeface="Times New Roman" panose="02020603050405020304" pitchFamily="18" charset="0"/>
                <a:cs typeface="Times New Roman" panose="02020603050405020304" pitchFamily="18" charset="0"/>
                <a:sym typeface="Times New Roman" panose="02020603050405020304" pitchFamily="18" charset="0"/>
              </a:rPr>
              <a:t>Highlights of</a:t>
            </a:r>
            <a:r>
              <a:rPr lang="en-US" altLang="en-US" sz="2000" b="1" dirty="0">
                <a:latin typeface="Times New Roman" panose="02020603050405020304" pitchFamily="18" charset="0"/>
                <a:cs typeface="Times New Roman" panose="02020603050405020304" pitchFamily="18" charset="0"/>
                <a:sym typeface="Times New Roman" panose="02020603050405020304" pitchFamily="18" charset="0"/>
              </a:rPr>
              <a:t> Existing System</a:t>
            </a:r>
          </a:p>
          <a:p>
            <a:pPr marL="965200" lvl="1" indent="-457200" algn="just">
              <a:spcBef>
                <a:spcPct val="0"/>
              </a:spcBef>
              <a:buFont typeface="Courier New" panose="02070309020205020404" pitchFamily="49" charset="0"/>
              <a:buChar char="o"/>
            </a:pPr>
            <a:r>
              <a:rPr lang="en-US" altLang="en-US" sz="2000" b="1" dirty="0">
                <a:latin typeface="Times New Roman" panose="02020603050405020304" pitchFamily="18" charset="0"/>
                <a:cs typeface="Times New Roman" panose="02020603050405020304" pitchFamily="18" charset="0"/>
                <a:sym typeface="Times New Roman" panose="02020603050405020304" pitchFamily="18" charset="0"/>
              </a:rPr>
              <a:t>Problem Statement</a:t>
            </a:r>
          </a:p>
          <a:p>
            <a:pPr marL="965200" lvl="1" indent="-457200" algn="just">
              <a:lnSpc>
                <a:spcPct val="115000"/>
              </a:lnSpc>
              <a:spcBef>
                <a:spcPct val="0"/>
              </a:spcBef>
              <a:buClr>
                <a:srgbClr val="000000"/>
              </a:buClr>
              <a:buFont typeface="Courier New" panose="02070309020205020404" pitchFamily="49" charset="0"/>
              <a:buChar char="o"/>
            </a:pPr>
            <a:r>
              <a:rPr lang="en-US" altLang="en-US" sz="2000" b="1" dirty="0">
                <a:solidFill>
                  <a:srgbClr val="252525"/>
                </a:solidFill>
                <a:latin typeface="Times New Roman" panose="02020603050405020304" pitchFamily="18" charset="0"/>
                <a:cs typeface="Times New Roman" panose="02020603050405020304" pitchFamily="18" charset="0"/>
                <a:sym typeface="Times New Roman" panose="02020603050405020304" pitchFamily="18" charset="0"/>
              </a:rPr>
              <a:t>Proposed System</a:t>
            </a:r>
          </a:p>
          <a:p>
            <a:pPr marL="965200" lvl="1" indent="-457200" algn="just">
              <a:lnSpc>
                <a:spcPct val="115000"/>
              </a:lnSpc>
              <a:spcBef>
                <a:spcPct val="0"/>
              </a:spcBef>
              <a:buClr>
                <a:srgbClr val="000000"/>
              </a:buClr>
              <a:buFont typeface="Courier New" panose="02070309020205020404" pitchFamily="49" charset="0"/>
              <a:buChar char="o"/>
            </a:pPr>
            <a:r>
              <a:rPr lang="en-US" altLang="en-US" sz="2000" b="1" dirty="0">
                <a:solidFill>
                  <a:srgbClr val="252525"/>
                </a:solidFill>
                <a:latin typeface="Times New Roman" panose="02020603050405020304" pitchFamily="18" charset="0"/>
                <a:cs typeface="Times New Roman" panose="02020603050405020304" pitchFamily="18" charset="0"/>
                <a:sym typeface="Times New Roman" panose="02020603050405020304" pitchFamily="18" charset="0"/>
              </a:rPr>
              <a:t>Architecture</a:t>
            </a:r>
          </a:p>
          <a:p>
            <a:pPr marL="965200" lvl="1" indent="-457200" algn="just">
              <a:lnSpc>
                <a:spcPct val="115000"/>
              </a:lnSpc>
              <a:spcBef>
                <a:spcPct val="0"/>
              </a:spcBef>
              <a:buClr>
                <a:srgbClr val="000000"/>
              </a:buClr>
              <a:buFont typeface="Courier New" panose="02070309020205020404" pitchFamily="49" charset="0"/>
              <a:buChar char="o"/>
            </a:pPr>
            <a:r>
              <a:rPr lang="en-US" altLang="en-US" sz="2000" b="1" dirty="0">
                <a:solidFill>
                  <a:srgbClr val="252525"/>
                </a:solidFill>
                <a:latin typeface="Times New Roman" panose="02020603050405020304" pitchFamily="18" charset="0"/>
                <a:cs typeface="Times New Roman" panose="02020603050405020304" pitchFamily="18" charset="0"/>
                <a:sym typeface="Times New Roman" panose="02020603050405020304" pitchFamily="18" charset="0"/>
              </a:rPr>
              <a:t>Module Decomposition/Description</a:t>
            </a:r>
          </a:p>
          <a:p>
            <a:pPr marL="965200" lvl="1" indent="-457200" algn="just">
              <a:lnSpc>
                <a:spcPct val="115000"/>
              </a:lnSpc>
              <a:spcBef>
                <a:spcPct val="0"/>
              </a:spcBef>
              <a:buClr>
                <a:srgbClr val="000000"/>
              </a:buClr>
              <a:buFont typeface="Courier New" panose="02070309020205020404" pitchFamily="49" charset="0"/>
              <a:buChar char="o"/>
            </a:pPr>
            <a:r>
              <a:rPr lang="en-US" altLang="en-US" sz="2000" b="1" dirty="0">
                <a:solidFill>
                  <a:srgbClr val="252525"/>
                </a:solidFill>
                <a:latin typeface="Times New Roman" panose="02020603050405020304" pitchFamily="18" charset="0"/>
                <a:cs typeface="Times New Roman" panose="02020603050405020304" pitchFamily="18" charset="0"/>
                <a:sym typeface="Times New Roman" panose="02020603050405020304" pitchFamily="18" charset="0"/>
              </a:rPr>
              <a:t>Results and Performance Analysis </a:t>
            </a:r>
          </a:p>
          <a:p>
            <a:pPr marL="965200" lvl="1" indent="-457200" algn="just">
              <a:lnSpc>
                <a:spcPct val="115000"/>
              </a:lnSpc>
              <a:spcBef>
                <a:spcPct val="0"/>
              </a:spcBef>
              <a:buClr>
                <a:srgbClr val="000000"/>
              </a:buClr>
              <a:buFont typeface="Courier New" panose="02070309020205020404" pitchFamily="49" charset="0"/>
              <a:buChar char="o"/>
            </a:pPr>
            <a:r>
              <a:rPr lang="en-US" altLang="en-US" sz="2000" b="1" dirty="0">
                <a:solidFill>
                  <a:srgbClr val="252525"/>
                </a:solidFill>
                <a:latin typeface="Times New Roman" panose="02020603050405020304" pitchFamily="18" charset="0"/>
                <a:cs typeface="Times New Roman" panose="02020603050405020304" pitchFamily="18" charset="0"/>
                <a:sym typeface="Times New Roman" panose="02020603050405020304" pitchFamily="18" charset="0"/>
              </a:rPr>
              <a:t>Snapshots</a:t>
            </a:r>
          </a:p>
          <a:p>
            <a:pPr marL="965200" lvl="1" indent="-457200" algn="just">
              <a:lnSpc>
                <a:spcPct val="115000"/>
              </a:lnSpc>
              <a:spcBef>
                <a:spcPct val="0"/>
              </a:spcBef>
              <a:buClr>
                <a:srgbClr val="000000"/>
              </a:buClr>
              <a:buFont typeface="Courier New" panose="02070309020205020404" pitchFamily="49" charset="0"/>
              <a:buChar char="o"/>
            </a:pPr>
            <a:r>
              <a:rPr lang="en-US" altLang="en-US" sz="2000" b="1" dirty="0">
                <a:latin typeface="Times New Roman" panose="02020603050405020304" pitchFamily="18" charset="0"/>
                <a:cs typeface="Times New Roman" panose="02020603050405020304" pitchFamily="18" charset="0"/>
                <a:sym typeface="Times New Roman" panose="02020603050405020304" pitchFamily="18" charset="0"/>
              </a:rPr>
              <a:t>Applications</a:t>
            </a:r>
          </a:p>
          <a:p>
            <a:pPr marL="965200" lvl="1" indent="-457200" algn="just">
              <a:lnSpc>
                <a:spcPct val="115000"/>
              </a:lnSpc>
              <a:spcBef>
                <a:spcPct val="0"/>
              </a:spcBef>
              <a:buClr>
                <a:srgbClr val="000000"/>
              </a:buClr>
              <a:buFont typeface="Courier New" panose="02070309020205020404" pitchFamily="49" charset="0"/>
              <a:buChar char="o"/>
            </a:pPr>
            <a:r>
              <a:rPr lang="en-IN" altLang="x-none" sz="2000" b="1" dirty="0">
                <a:latin typeface="Times New Roman" panose="02020603050405020304" pitchFamily="18" charset="0"/>
                <a:cs typeface="Times New Roman" panose="02020603050405020304" pitchFamily="18" charset="0"/>
              </a:rPr>
              <a:t>Conclusion And Future Scope</a:t>
            </a:r>
          </a:p>
          <a:p>
            <a:pPr marL="965200" lvl="1" indent="-457200" algn="just">
              <a:lnSpc>
                <a:spcPct val="115000"/>
              </a:lnSpc>
              <a:spcBef>
                <a:spcPct val="0"/>
              </a:spcBef>
              <a:buClr>
                <a:srgbClr val="000000"/>
              </a:buClr>
              <a:buFont typeface="Courier New" panose="02070309020205020404" pitchFamily="49" charset="0"/>
              <a:buChar char="o"/>
            </a:pPr>
            <a:r>
              <a:rPr lang="en-IN" altLang="x-none" sz="2000" b="1" dirty="0">
                <a:latin typeface="Times New Roman" panose="02020603050405020304" pitchFamily="18" charset="0"/>
                <a:cs typeface="Times New Roman" panose="02020603050405020304" pitchFamily="18" charset="0"/>
              </a:rPr>
              <a:t>References</a:t>
            </a:r>
          </a:p>
          <a:p>
            <a:pPr marL="965200" lvl="1" indent="-457200" algn="just">
              <a:lnSpc>
                <a:spcPct val="115000"/>
              </a:lnSpc>
              <a:spcBef>
                <a:spcPct val="0"/>
              </a:spcBef>
              <a:buClr>
                <a:srgbClr val="000000"/>
              </a:buClr>
              <a:buFont typeface="Courier New" panose="02070309020205020404" pitchFamily="49" charset="0"/>
              <a:buChar char="o"/>
            </a:pPr>
            <a:r>
              <a:rPr lang="en-IN" altLang="x-none" sz="2000" b="1" dirty="0">
                <a:latin typeface="Times New Roman" panose="02020603050405020304" pitchFamily="18" charset="0"/>
                <a:cs typeface="Times New Roman" panose="02020603050405020304" pitchFamily="18" charset="0"/>
              </a:rPr>
              <a:t>DEMO(is Must)</a:t>
            </a:r>
          </a:p>
          <a:p>
            <a:pPr marL="965200" lvl="1" indent="-457200" algn="just">
              <a:lnSpc>
                <a:spcPct val="115000"/>
              </a:lnSpc>
              <a:spcBef>
                <a:spcPct val="0"/>
              </a:spcBef>
              <a:buClr>
                <a:srgbClr val="000000"/>
              </a:buClr>
              <a:buFont typeface="Courier New" panose="02070309020205020404" pitchFamily="49" charset="0"/>
              <a:buChar char="o"/>
            </a:pPr>
            <a:endParaRPr lang="en-IN" altLang="x-none" sz="2400" b="1" dirty="0">
              <a:latin typeface="Times New Roman" panose="02020603050405020304" pitchFamily="18" charset="0"/>
              <a:cs typeface="Times New Roman" panose="02020603050405020304" pitchFamily="18" charset="0"/>
            </a:endParaRPr>
          </a:p>
          <a:p>
            <a:pPr marL="965200" lvl="1" indent="-457200" algn="just">
              <a:lnSpc>
                <a:spcPct val="115000"/>
              </a:lnSpc>
              <a:spcBef>
                <a:spcPct val="0"/>
              </a:spcBef>
              <a:buClr>
                <a:srgbClr val="000000"/>
              </a:buClr>
              <a:buFont typeface="Courier New" panose="02070309020205020404" pitchFamily="49" charset="0"/>
              <a:buChar char="o"/>
            </a:pPr>
            <a:endParaRPr lang="en-US" altLang="en-US" sz="2400" b="1" dirty="0">
              <a:latin typeface="Times New Roman" panose="02020603050405020304" pitchFamily="18" charset="0"/>
              <a:cs typeface="Times New Roman" panose="02020603050405020304" pitchFamily="18" charset="0"/>
              <a:sym typeface="Times New Roman" panose="02020603050405020304" pitchFamily="18" charset="0"/>
            </a:endParaRPr>
          </a:p>
          <a:p>
            <a:pPr marL="965200" lvl="1" indent="-457200" algn="just">
              <a:lnSpc>
                <a:spcPct val="115000"/>
              </a:lnSpc>
              <a:spcBef>
                <a:spcPct val="0"/>
              </a:spcBef>
              <a:buClr>
                <a:srgbClr val="000000"/>
              </a:buClr>
              <a:buFont typeface="Courier New" panose="02070309020205020404" pitchFamily="49" charset="0"/>
              <a:buChar char="o"/>
            </a:pPr>
            <a:endParaRPr lang="en-US" altLang="en-US" sz="2400" b="1" dirty="0">
              <a:latin typeface="Lucida Sans" panose="020B0602030504020204" pitchFamily="34" charset="0"/>
              <a:cs typeface="Arial" panose="020B0604020202020204" pitchFamily="34" charset="0"/>
              <a:sym typeface="Lucida Sans" panose="020B0602030504020204" pitchFamily="34" charset="0"/>
            </a:endParaRPr>
          </a:p>
          <a:p>
            <a:pPr marL="965200" lvl="1" indent="-457200" algn="just">
              <a:lnSpc>
                <a:spcPct val="115000"/>
              </a:lnSpc>
              <a:spcBef>
                <a:spcPct val="0"/>
              </a:spcBef>
              <a:buClr>
                <a:srgbClr val="000000"/>
              </a:buClr>
              <a:buFont typeface="Courier New" panose="02070309020205020404" pitchFamily="49" charset="0"/>
              <a:buChar char="o"/>
            </a:pPr>
            <a:endParaRPr lang="en-US" altLang="en-US" sz="2400" dirty="0">
              <a:solidFill>
                <a:srgbClr val="252525"/>
              </a:solidFill>
              <a:latin typeface="Times New Roman" panose="02020603050405020304" pitchFamily="18" charset="0"/>
              <a:cs typeface="Times New Roman" panose="02020603050405020304" pitchFamily="18" charset="0"/>
              <a:sym typeface="Times New Roman" panose="02020603050405020304" pitchFamily="18" charset="0"/>
            </a:endParaRPr>
          </a:p>
          <a:p>
            <a:pPr marL="965200" lvl="1" indent="-457200" algn="just">
              <a:lnSpc>
                <a:spcPct val="115000"/>
              </a:lnSpc>
              <a:spcBef>
                <a:spcPct val="0"/>
              </a:spcBef>
              <a:buClr>
                <a:srgbClr val="000000"/>
              </a:buClr>
              <a:buFont typeface="Courier New" panose="02070309020205020404" pitchFamily="49" charset="0"/>
              <a:buChar char="o"/>
            </a:pPr>
            <a:endParaRPr lang="en-US" altLang="en-US" sz="2400" dirty="0">
              <a:solidFill>
                <a:srgbClr val="252525"/>
              </a:solidFill>
              <a:latin typeface="Times New Roman" panose="02020603050405020304" pitchFamily="18" charset="0"/>
              <a:cs typeface="Times New Roman" panose="02020603050405020304" pitchFamily="18" charset="0"/>
              <a:sym typeface="Times New Roman" panose="02020603050405020304" pitchFamily="18" charset="0"/>
            </a:endParaRPr>
          </a:p>
          <a:p>
            <a:pPr marL="107950" lvl="0" indent="0" eaLnBrk="1" hangingPunct="1">
              <a:lnSpc>
                <a:spcPct val="132000"/>
              </a:lnSpc>
              <a:spcBef>
                <a:spcPct val="0"/>
              </a:spcBef>
              <a:buClr>
                <a:srgbClr val="00B050"/>
              </a:buClr>
              <a:buNone/>
            </a:pPr>
            <a:endParaRPr lang="en-US" altLang="en-US" b="1" i="1" dirty="0">
              <a:solidFill>
                <a:srgbClr val="000000"/>
              </a:solidFill>
              <a:latin typeface="Times New Roman" panose="02020603050405020304" pitchFamily="18" charset="0"/>
              <a:ea typeface="Times New Roman" panose="02020603050405020304" pitchFamily="18" charset="0"/>
              <a:sym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Bangalore</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Institute</a:t>
            </a: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5" normalizeH="0" baseline="0" noProof="0" dirty="0">
                <a:ln>
                  <a:noFill/>
                </a:ln>
                <a:solidFill>
                  <a:schemeClr val="bg1"/>
                </a:solidFill>
                <a:effectLst/>
                <a:uLnTx/>
                <a:uFillTx/>
                <a:latin typeface="Times New Roman" panose="02020603050405020304"/>
                <a:ea typeface="+mj-ea"/>
                <a:cs typeface="Times New Roman" panose="02020603050405020304"/>
              </a:rPr>
              <a:t>of</a:t>
            </a:r>
            <a:r>
              <a:rPr kumimoji="0" sz="2400" b="1" i="0" u="none" strike="noStrike" kern="0" cap="none" spc="-5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Technology</a:t>
            </a:r>
          </a:p>
        </p:txBody>
      </p:sp>
      <p:sp>
        <p:nvSpPr>
          <p:cNvPr id="3" name="object 3"/>
          <p:cNvSpPr txBox="1"/>
          <p:nvPr/>
        </p:nvSpPr>
        <p:spPr>
          <a:xfrm>
            <a:off x="3419475" y="334963"/>
            <a:ext cx="5353050" cy="593725"/>
          </a:xfrm>
          <a:prstGeom prst="rect">
            <a:avLst/>
          </a:prstGeom>
        </p:spPr>
        <p:txBody>
          <a:bodyPr lIns="0" tIns="12065" rIns="0" bIns="0">
            <a:spAutoFit/>
          </a:bodyPr>
          <a:lstStyle/>
          <a:p>
            <a:pPr marL="949325" marR="0" defTabSz="914400" eaLnBrk="1" fontAlgn="auto" hangingPunct="1">
              <a:lnSpc>
                <a:spcPts val="1760"/>
              </a:lnSpc>
              <a:spcBef>
                <a:spcPts val="95"/>
              </a:spcBef>
              <a:spcAft>
                <a:spcPts val="0"/>
              </a:spcAft>
              <a:buClrTx/>
              <a:buSzTx/>
              <a:buFontTx/>
              <a:buNone/>
              <a:defRPr/>
            </a:pPr>
            <a:r>
              <a:rPr kumimoji="0" sz="1600" kern="1200" cap="none" spc="-5" normalizeH="0" baseline="0" noProof="0" dirty="0">
                <a:solidFill>
                  <a:srgbClr val="FFFFFF"/>
                </a:solidFill>
                <a:latin typeface="Times New Roman" panose="02020603050405020304"/>
                <a:ea typeface="+mn-ea"/>
                <a:cs typeface="Times New Roman" panose="02020603050405020304"/>
              </a:rPr>
              <a:t>K.R. Road,</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110" normalizeH="0" baseline="0" noProof="0" dirty="0">
                <a:solidFill>
                  <a:srgbClr val="FFFFFF"/>
                </a:solidFill>
                <a:latin typeface="Times New Roman" panose="02020603050405020304"/>
                <a:ea typeface="+mn-ea"/>
                <a:cs typeface="Times New Roman" panose="02020603050405020304"/>
              </a:rPr>
              <a:t>V.V.</a:t>
            </a:r>
            <a:r>
              <a:rPr kumimoji="0" sz="1600" kern="1200" cap="none" spc="-5" normalizeH="0" baseline="0" noProof="0" dirty="0">
                <a:solidFill>
                  <a:srgbClr val="FFFFFF"/>
                </a:solidFill>
                <a:latin typeface="Times New Roman" panose="02020603050405020304"/>
                <a:ea typeface="+mn-ea"/>
                <a:cs typeface="Times New Roman" panose="02020603050405020304"/>
              </a:rPr>
              <a:t> Pura,</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5" normalizeH="0" baseline="0" noProof="0" dirty="0">
                <a:solidFill>
                  <a:srgbClr val="FFFFFF"/>
                </a:solidFill>
                <a:latin typeface="Times New Roman" panose="02020603050405020304"/>
                <a:ea typeface="+mn-ea"/>
                <a:cs typeface="Times New Roman" panose="02020603050405020304"/>
              </a:rPr>
              <a:t>Bengaluru.-560004.</a:t>
            </a:r>
            <a:endParaRPr kumimoji="0" sz="1600" kern="1200" cap="none" spc="0" normalizeH="0" baseline="0" noProof="0">
              <a:latin typeface="Times New Roman" panose="02020603050405020304"/>
              <a:ea typeface="+mn-ea"/>
              <a:cs typeface="Times New Roman" panose="02020603050405020304"/>
            </a:endParaRPr>
          </a:p>
          <a:p>
            <a:pPr marL="12700" marR="0" defTabSz="914400" eaLnBrk="1" fontAlgn="auto" hangingPunct="1">
              <a:lnSpc>
                <a:spcPts val="2720"/>
              </a:lnSpc>
              <a:spcBef>
                <a:spcPts val="0"/>
              </a:spcBef>
              <a:spcAft>
                <a:spcPts val="0"/>
              </a:spcAft>
              <a:buClrTx/>
              <a:buSzTx/>
              <a:buFontTx/>
              <a:buNone/>
              <a:defRPr/>
            </a:pPr>
            <a:r>
              <a:rPr kumimoji="0" sz="2400" b="1" kern="1200" cap="none" spc="0" normalizeH="0" baseline="0" noProof="0" dirty="0">
                <a:solidFill>
                  <a:srgbClr val="FFFFFF"/>
                </a:solidFill>
                <a:latin typeface="Times New Roman" panose="02020603050405020304"/>
                <a:ea typeface="+mn-ea"/>
                <a:cs typeface="Times New Roman" panose="02020603050405020304"/>
              </a:rPr>
              <a:t>D</a:t>
            </a:r>
            <a:r>
              <a:rPr kumimoji="0" sz="2000" b="1" kern="1200" cap="none" spc="0" normalizeH="0" baseline="0" noProof="0" dirty="0">
                <a:solidFill>
                  <a:srgbClr val="FFFFFF"/>
                </a:solidFill>
                <a:latin typeface="Times New Roman" panose="02020603050405020304"/>
                <a:ea typeface="+mn-ea"/>
                <a:cs typeface="Times New Roman" panose="02020603050405020304"/>
              </a:rPr>
              <a:t>epartment</a:t>
            </a:r>
            <a:r>
              <a:rPr kumimoji="0" sz="2000" b="1" kern="1200" cap="none" spc="-4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of</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Computer</a:t>
            </a:r>
            <a:r>
              <a:rPr kumimoji="0" sz="2000" b="1" kern="1200" cap="none" spc="-8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Science</a:t>
            </a:r>
            <a:r>
              <a:rPr kumimoji="0" sz="2000" b="1" kern="1200" cap="none" spc="-1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&amp;</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Engineering</a:t>
            </a:r>
            <a:endParaRPr kumimoji="0" sz="2000" kern="1200" cap="none" spc="0" normalizeH="0" baseline="0" noProof="0">
              <a:latin typeface="Times New Roman" panose="02020603050405020304"/>
              <a:ea typeface="+mn-ea"/>
              <a:cs typeface="Times New Roman" panose="02020603050405020304"/>
            </a:endParaRPr>
          </a:p>
        </p:txBody>
      </p:sp>
      <p:grpSp>
        <p:nvGrpSpPr>
          <p:cNvPr id="5124" name="object 4"/>
          <p:cNvGrpSpPr/>
          <p:nvPr/>
        </p:nvGrpSpPr>
        <p:grpSpPr>
          <a:xfrm>
            <a:off x="203200" y="0"/>
            <a:ext cx="11891963" cy="1193800"/>
            <a:chOff x="203200" y="0"/>
            <a:chExt cx="11892280" cy="1193165"/>
          </a:xfrm>
        </p:grpSpPr>
        <p:pic>
          <p:nvPicPr>
            <p:cNvPr id="5127" name="object 5"/>
            <p:cNvPicPr>
              <a:picLocks noChangeAspect="1"/>
            </p:cNvPicPr>
            <p:nvPr/>
          </p:nvPicPr>
          <p:blipFill>
            <a:blip r:embed="rId2"/>
            <a:stretch>
              <a:fillRect/>
            </a:stretch>
          </p:blipFill>
          <p:spPr>
            <a:xfrm>
              <a:off x="203200" y="0"/>
              <a:ext cx="1441958" cy="1192657"/>
            </a:xfrm>
            <a:prstGeom prst="rect">
              <a:avLst/>
            </a:prstGeom>
            <a:noFill/>
            <a:ln w="9525">
              <a:noFill/>
            </a:ln>
          </p:spPr>
        </p:pic>
        <p:pic>
          <p:nvPicPr>
            <p:cNvPr id="5128" name="object 6"/>
            <p:cNvPicPr>
              <a:picLocks noChangeAspect="1"/>
            </p:cNvPicPr>
            <p:nvPr/>
          </p:nvPicPr>
          <p:blipFill>
            <a:blip r:embed="rId3"/>
            <a:stretch>
              <a:fillRect/>
            </a:stretch>
          </p:blipFill>
          <p:spPr>
            <a:xfrm>
              <a:off x="10653521" y="70713"/>
              <a:ext cx="1441957" cy="994054"/>
            </a:xfrm>
            <a:prstGeom prst="rect">
              <a:avLst/>
            </a:prstGeom>
            <a:noFill/>
            <a:ln w="9525">
              <a:noFill/>
            </a:ln>
          </p:spPr>
        </p:pic>
      </p:grpSp>
      <p:sp>
        <p:nvSpPr>
          <p:cNvPr id="10" name="Google Shape;130;p3"/>
          <p:cNvSpPr txBox="1"/>
          <p:nvPr/>
        </p:nvSpPr>
        <p:spPr bwMode="auto">
          <a:xfrm>
            <a:off x="762000" y="1274763"/>
            <a:ext cx="10210800" cy="641350"/>
          </a:xfrm>
          <a:prstGeom prst="rect">
            <a:avLst/>
          </a:prstGeom>
          <a:noFill/>
          <a:ln>
            <a:noFill/>
          </a:ln>
        </p:spPr>
        <p:txBody>
          <a:bodyPr spcFirstLastPara="1" lIns="91425" tIns="45700" rIns="91425" bIns="45700" anchor="ctr"/>
          <a:lst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stStyle>
          <a:p>
            <a:pPr marL="0" lvl="0" indent="0" algn="ctr" eaLnBrk="1" hangingPunct="1">
              <a:spcBef>
                <a:spcPct val="0"/>
              </a:spcBef>
              <a:buClr>
                <a:srgbClr val="4E67C8"/>
              </a:buClr>
              <a:buFont typeface="Times New Roman" panose="02020603050405020304" pitchFamily="18" charset="0"/>
              <a:buNone/>
            </a:pPr>
            <a:br>
              <a:rPr lang="en-US" altLang="en-US" sz="2800" b="1" dirty="0">
                <a:solidFill>
                  <a:srgbClr val="4E67C8"/>
                </a:solidFill>
                <a:latin typeface="Times New Roman" panose="02020603050405020304" pitchFamily="18" charset="0"/>
                <a:cs typeface="Arial" panose="020B0604020202020204" pitchFamily="34" charset="0"/>
                <a:sym typeface="Times New Roman" panose="02020603050405020304" pitchFamily="18" charset="0"/>
              </a:rPr>
            </a:br>
            <a:r>
              <a:rPr lang="en-US" altLang="en-US" sz="2800" b="1" dirty="0">
                <a:latin typeface="Times New Roman" panose="02020603050405020304" pitchFamily="18" charset="0"/>
                <a:cs typeface="Arial" panose="020B0604020202020204" pitchFamily="34" charset="0"/>
                <a:sym typeface="Times New Roman" panose="02020603050405020304" pitchFamily="18" charset="0"/>
              </a:rPr>
              <a:t>INTRODUCTION</a:t>
            </a:r>
            <a:br>
              <a:rPr lang="en-US" altLang="en-US" sz="2800" b="1" dirty="0">
                <a:latin typeface="Times New Roman" panose="02020603050405020304" pitchFamily="18" charset="0"/>
                <a:cs typeface="Arial" panose="020B0604020202020204" pitchFamily="34" charset="0"/>
                <a:sym typeface="Times New Roman" panose="02020603050405020304" pitchFamily="18" charset="0"/>
              </a:rPr>
            </a:br>
            <a:endParaRPr lang="en-US" altLang="en-US" sz="2800" b="1" dirty="0">
              <a:latin typeface="Lucida Sans" panose="020B0602030504020204" pitchFamily="34" charset="0"/>
              <a:ea typeface="Arial" panose="020B0604020202020204" pitchFamily="34" charset="0"/>
              <a:sym typeface="Lucida Sans" panose="020B0602030504020204" pitchFamily="34" charset="0"/>
            </a:endParaRPr>
          </a:p>
        </p:txBody>
      </p:sp>
      <p:sp>
        <p:nvSpPr>
          <p:cNvPr id="5126" name="Google Shape;129;p3"/>
          <p:cNvSpPr txBox="1"/>
          <p:nvPr/>
        </p:nvSpPr>
        <p:spPr>
          <a:xfrm>
            <a:off x="685800" y="1916113"/>
            <a:ext cx="11049000" cy="4103687"/>
          </a:xfrm>
          <a:prstGeom prst="rect">
            <a:avLst/>
          </a:prstGeom>
          <a:noFill/>
          <a:ln w="9525">
            <a:noFill/>
          </a:ln>
        </p:spPr>
        <p:txBody>
          <a:bodyPr lIns="91425" tIns="45700" rIns="91425" bIns="45700"/>
          <a:lstStyle/>
          <a:p>
            <a:r>
              <a:rPr lang="en-US" altLang="en-US" dirty="0">
                <a:latin typeface="Calibri" panose="020F0502020204030204" pitchFamily="34" charset="0"/>
              </a:rPr>
              <a:t>This project aims to forecast monthly prices of 15 major crops across 4 zones and 10 regions using SARIMA models. It leverages historical market data, weather, and soil conditions to improve prediction accuracy.</a:t>
            </a:r>
          </a:p>
          <a:p>
            <a:endParaRPr lang="en-US" altLang="en-US" dirty="0">
              <a:latin typeface="Calibri" panose="020F0502020204030204" pitchFamily="34" charset="0"/>
            </a:endParaRPr>
          </a:p>
          <a:p>
            <a:r>
              <a:rPr lang="en-US" altLang="en-US" b="1" dirty="0">
                <a:latin typeface="Calibri" panose="020F0502020204030204" pitchFamily="34" charset="0"/>
              </a:rPr>
              <a:t>Objectives:</a:t>
            </a:r>
            <a:endParaRPr lang="en-US" altLang="en-US" dirty="0">
              <a:latin typeface="Calibri" panose="020F0502020204030204" pitchFamily="34" charset="0"/>
            </a:endParaRPr>
          </a:p>
          <a:p>
            <a:pPr>
              <a:buFont typeface="Arial" panose="020B0604020202020204" pitchFamily="34" charset="0"/>
              <a:buChar char="•"/>
            </a:pPr>
            <a:r>
              <a:rPr lang="en-US" altLang="en-US" dirty="0">
                <a:latin typeface="Calibri" panose="020F0502020204030204" pitchFamily="34" charset="0"/>
              </a:rPr>
              <a:t>Predict crop prices using SARIMA.</a:t>
            </a:r>
          </a:p>
          <a:p>
            <a:pPr>
              <a:buFont typeface="Arial" panose="020B0604020202020204" pitchFamily="34" charset="0"/>
              <a:buChar char="•"/>
            </a:pPr>
            <a:r>
              <a:rPr lang="en-US" altLang="en-US" dirty="0">
                <a:latin typeface="Calibri" panose="020F0502020204030204" pitchFamily="34" charset="0"/>
              </a:rPr>
              <a:t>Handle seasonal trends and missing data.</a:t>
            </a:r>
          </a:p>
          <a:p>
            <a:pPr>
              <a:buFont typeface="Arial" panose="020B0604020202020204" pitchFamily="34" charset="0"/>
              <a:buChar char="•"/>
            </a:pPr>
            <a:r>
              <a:rPr lang="en-US" altLang="en-US" dirty="0">
                <a:latin typeface="Calibri" panose="020F0502020204030204" pitchFamily="34" charset="0"/>
              </a:rPr>
              <a:t>Generate user-friendly reports and visualizations.</a:t>
            </a:r>
          </a:p>
          <a:p>
            <a:r>
              <a:rPr lang="en-US" altLang="en-US" b="1" dirty="0">
                <a:latin typeface="Calibri" panose="020F0502020204030204" pitchFamily="34" charset="0"/>
              </a:rPr>
              <a:t>Purpose:</a:t>
            </a:r>
            <a:br>
              <a:rPr lang="en-US" altLang="en-US" dirty="0">
                <a:latin typeface="Calibri" panose="020F0502020204030204" pitchFamily="34" charset="0"/>
              </a:rPr>
            </a:br>
            <a:r>
              <a:rPr lang="en-US" altLang="en-US" dirty="0">
                <a:latin typeface="Calibri" panose="020F0502020204030204" pitchFamily="34" charset="0"/>
              </a:rPr>
              <a:t>To support farmers, traders, and policymakers in making informed decisions through accurate price forecasting.</a:t>
            </a:r>
          </a:p>
          <a:p>
            <a:r>
              <a:rPr lang="en-US" altLang="en-US" b="1" dirty="0">
                <a:latin typeface="Calibri" panose="020F0502020204030204" pitchFamily="34" charset="0"/>
              </a:rPr>
              <a:t>Scope:</a:t>
            </a:r>
            <a:br>
              <a:rPr lang="en-US" altLang="en-US" dirty="0">
                <a:latin typeface="Calibri" panose="020F0502020204030204" pitchFamily="34" charset="0"/>
              </a:rPr>
            </a:br>
            <a:r>
              <a:rPr lang="en-US" altLang="en-US" dirty="0">
                <a:latin typeface="Calibri" panose="020F0502020204030204" pitchFamily="34" charset="0"/>
              </a:rPr>
              <a:t>Covers 15 crops, 10 regions, and 4 zones with integrated soil and weather data. Reports are generated and sent via email.</a:t>
            </a:r>
          </a:p>
          <a:p>
            <a:r>
              <a:rPr lang="en-US" altLang="en-US" b="1" dirty="0">
                <a:latin typeface="Calibri" panose="020F0502020204030204" pitchFamily="34" charset="0"/>
              </a:rPr>
              <a:t>Applicability:</a:t>
            </a:r>
            <a:br>
              <a:rPr lang="en-US" altLang="en-US" dirty="0">
                <a:latin typeface="Calibri" panose="020F0502020204030204" pitchFamily="34" charset="0"/>
              </a:rPr>
            </a:br>
            <a:r>
              <a:rPr lang="en-US" altLang="en-US" dirty="0">
                <a:latin typeface="Calibri" panose="020F0502020204030204" pitchFamily="34" charset="0"/>
              </a:rPr>
              <a:t>Useful for agricultural planning, market analysis, and government policy-making.</a:t>
            </a:r>
          </a:p>
          <a:p>
            <a:pPr algn="just" eaLnBrk="1" hangingPunct="1">
              <a:buClr>
                <a:srgbClr val="2DA2BF"/>
              </a:buClr>
              <a:buFont typeface="Noto Sans Symbols"/>
            </a:pPr>
            <a:endParaRPr lang="en-US" altLang="en-US" dirty="0">
              <a:latin typeface="Lucida Sans" panose="020B0602030504020204" pitchFamily="34" charset="0"/>
              <a:cs typeface="Lucida Sans" panose="020B0602030504020204" pitchFamily="34" charset="0"/>
              <a:sym typeface="Lucida Sans" panose="020B0602030504020204" pitchFamily="34" charset="0"/>
            </a:endParaRPr>
          </a:p>
          <a:p>
            <a:pPr algn="just" eaLnBrk="1" hangingPunct="1">
              <a:spcBef>
                <a:spcPts val="740"/>
              </a:spcBef>
              <a:buClr>
                <a:srgbClr val="2DA2BF"/>
              </a:buClr>
              <a:buFont typeface="Noto Sans Symbols"/>
            </a:pPr>
            <a:endParaRPr lang="en-US" altLang="en-US"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hangingPunct="1">
              <a:spcBef>
                <a:spcPts val="700"/>
              </a:spcBef>
              <a:buClr>
                <a:srgbClr val="2DA2BF"/>
              </a:buClr>
              <a:buFont typeface="Noto Sans Symbols"/>
            </a:pPr>
            <a:endParaRPr lang="en-US" altLang="en-US" dirty="0">
              <a:solidFill>
                <a:srgbClr val="000000"/>
              </a:solidFill>
              <a:latin typeface="Lucida Sans" panose="020B0602030504020204" pitchFamily="34" charset="0"/>
              <a:ea typeface="Lucida Sans" panose="020B0602030504020204" pitchFamily="34" charset="0"/>
              <a:sym typeface="Lucida Sans" panose="020B0602030504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Bangalore</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Institute</a:t>
            </a: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5" normalizeH="0" baseline="0" noProof="0" dirty="0">
                <a:ln>
                  <a:noFill/>
                </a:ln>
                <a:solidFill>
                  <a:schemeClr val="bg1"/>
                </a:solidFill>
                <a:effectLst/>
                <a:uLnTx/>
                <a:uFillTx/>
                <a:latin typeface="Times New Roman" panose="02020603050405020304"/>
                <a:ea typeface="+mj-ea"/>
                <a:cs typeface="Times New Roman" panose="02020603050405020304"/>
              </a:rPr>
              <a:t>of</a:t>
            </a:r>
            <a:r>
              <a:rPr kumimoji="0" sz="2400" b="1" i="0" u="none" strike="noStrike" kern="0" cap="none" spc="-5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Technology</a:t>
            </a:r>
          </a:p>
        </p:txBody>
      </p:sp>
      <p:sp>
        <p:nvSpPr>
          <p:cNvPr id="6147" name="Content Placeholder 5"/>
          <p:cNvSpPr>
            <a:spLocks noGrp="1"/>
          </p:cNvSpPr>
          <p:nvPr>
            <p:ph sz="half" idx="2"/>
          </p:nvPr>
        </p:nvSpPr>
        <p:spPr>
          <a:xfrm>
            <a:off x="203200" y="1601788"/>
            <a:ext cx="6446838" cy="4265612"/>
          </a:xfrm>
          <a:ln/>
        </p:spPr>
        <p:txBody>
          <a:bodyPr vert="horz" wrap="square" lIns="0" tIns="0" rIns="0" bIns="0" anchor="t" anchorCtr="0">
            <a:spAutoFit/>
          </a:bodyPr>
          <a:lstStyle/>
          <a:p>
            <a:pPr marL="0" indent="0">
              <a:buClrTx/>
              <a:buSzTx/>
              <a:buFontTx/>
            </a:pPr>
            <a:r>
              <a:rPr lang="en-US" altLang="en-US" sz="1800" dirty="0">
                <a:latin typeface="+mn-lt"/>
                <a:ea typeface="+mn-ea"/>
                <a:cs typeface="+mn-cs"/>
              </a:rPr>
              <a:t>The current agricultural platforms such as </a:t>
            </a:r>
            <a:r>
              <a:rPr lang="en-US" altLang="en-US" sz="1800" b="1" dirty="0">
                <a:latin typeface="+mn-lt"/>
                <a:ea typeface="+mn-ea"/>
                <a:cs typeface="+mn-cs"/>
              </a:rPr>
              <a:t>Agmarknet</a:t>
            </a:r>
            <a:r>
              <a:rPr lang="en-US" altLang="en-US" sz="1800" dirty="0">
                <a:latin typeface="+mn-lt"/>
                <a:ea typeface="+mn-ea"/>
                <a:cs typeface="+mn-cs"/>
              </a:rPr>
              <a:t> and </a:t>
            </a:r>
            <a:r>
              <a:rPr lang="en-US" altLang="en-US" sz="1800" b="1" dirty="0">
                <a:latin typeface="+mn-lt"/>
                <a:ea typeface="+mn-ea"/>
                <a:cs typeface="+mn-cs"/>
              </a:rPr>
              <a:t>Krishi Portal</a:t>
            </a:r>
            <a:r>
              <a:rPr lang="en-US" altLang="en-US" sz="1800" dirty="0">
                <a:latin typeface="+mn-lt"/>
                <a:ea typeface="+mn-ea"/>
                <a:cs typeface="+mn-cs"/>
              </a:rPr>
              <a:t> primarily offer historical price data for various crops across multiple markets. While these systems serve as valuable repositories of market information, they possess certain limitations:</a:t>
            </a:r>
          </a:p>
          <a:p>
            <a:pPr marL="0" indent="0">
              <a:buClrTx/>
              <a:buSzTx/>
              <a:buFontTx/>
              <a:buChar char="•"/>
            </a:pPr>
            <a:r>
              <a:rPr lang="en-US" altLang="en-US" sz="1800" dirty="0">
                <a:latin typeface="+mn-lt"/>
                <a:ea typeface="+mn-ea"/>
                <a:cs typeface="+mn-cs"/>
              </a:rPr>
              <a:t>Absence of </a:t>
            </a:r>
            <a:r>
              <a:rPr lang="en-US" altLang="en-US" sz="1800" b="1" dirty="0">
                <a:latin typeface="+mn-lt"/>
                <a:ea typeface="+mn-ea"/>
                <a:cs typeface="+mn-cs"/>
              </a:rPr>
              <a:t>automated price forecasting models</a:t>
            </a:r>
            <a:endParaRPr lang="en-US" altLang="en-US" sz="1800" dirty="0">
              <a:latin typeface="+mn-lt"/>
              <a:ea typeface="+mn-ea"/>
              <a:cs typeface="+mn-cs"/>
            </a:endParaRPr>
          </a:p>
          <a:p>
            <a:pPr marL="0" indent="0">
              <a:buClrTx/>
              <a:buSzTx/>
              <a:buFontTx/>
              <a:buChar char="•"/>
            </a:pPr>
            <a:r>
              <a:rPr lang="en-US" altLang="en-US" sz="1800" dirty="0">
                <a:latin typeface="+mn-lt"/>
                <a:ea typeface="+mn-ea"/>
                <a:cs typeface="+mn-cs"/>
              </a:rPr>
              <a:t>Lack of </a:t>
            </a:r>
            <a:r>
              <a:rPr lang="en-US" altLang="en-US" sz="1800" b="1" dirty="0">
                <a:latin typeface="+mn-lt"/>
                <a:ea typeface="+mn-ea"/>
                <a:cs typeface="+mn-cs"/>
              </a:rPr>
              <a:t>integration with weather and soil data</a:t>
            </a:r>
            <a:endParaRPr lang="en-US" altLang="en-US" sz="1800" dirty="0">
              <a:latin typeface="+mn-lt"/>
              <a:ea typeface="+mn-ea"/>
              <a:cs typeface="+mn-cs"/>
            </a:endParaRPr>
          </a:p>
          <a:p>
            <a:pPr marL="0" indent="0">
              <a:buClrTx/>
              <a:buSzTx/>
              <a:buFontTx/>
              <a:buChar char="•"/>
            </a:pPr>
            <a:r>
              <a:rPr lang="en-US" altLang="en-US" sz="1800" dirty="0">
                <a:latin typeface="+mn-lt"/>
                <a:ea typeface="+mn-ea"/>
                <a:cs typeface="+mn-cs"/>
              </a:rPr>
              <a:t>No support for </a:t>
            </a:r>
            <a:r>
              <a:rPr lang="en-US" altLang="en-US" sz="1800" b="1" dirty="0">
                <a:latin typeface="+mn-lt"/>
                <a:ea typeface="+mn-ea"/>
                <a:cs typeface="+mn-cs"/>
              </a:rPr>
              <a:t>personalized user interfaces</a:t>
            </a:r>
            <a:endParaRPr lang="en-US" altLang="en-US" sz="1800" dirty="0">
              <a:latin typeface="+mn-lt"/>
              <a:ea typeface="+mn-ea"/>
              <a:cs typeface="+mn-cs"/>
            </a:endParaRPr>
          </a:p>
          <a:p>
            <a:pPr marL="0" indent="0">
              <a:buClrTx/>
              <a:buSzTx/>
              <a:buFontTx/>
              <a:buChar char="•"/>
            </a:pPr>
            <a:r>
              <a:rPr lang="en-US" altLang="en-US" sz="1800" dirty="0">
                <a:latin typeface="+mn-lt"/>
                <a:ea typeface="+mn-ea"/>
                <a:cs typeface="+mn-cs"/>
              </a:rPr>
              <a:t>Inability to </a:t>
            </a:r>
            <a:r>
              <a:rPr lang="en-US" altLang="en-US" sz="1800" b="1" dirty="0">
                <a:latin typeface="+mn-lt"/>
                <a:ea typeface="+mn-ea"/>
                <a:cs typeface="+mn-cs"/>
              </a:rPr>
              <a:t>generate predictive reports</a:t>
            </a:r>
            <a:r>
              <a:rPr lang="en-US" altLang="en-US" sz="1800" dirty="0">
                <a:latin typeface="+mn-lt"/>
                <a:ea typeface="+mn-ea"/>
                <a:cs typeface="+mn-cs"/>
              </a:rPr>
              <a:t> or </a:t>
            </a:r>
            <a:r>
              <a:rPr lang="en-US" altLang="en-US" sz="1800" b="1" dirty="0">
                <a:latin typeface="+mn-lt"/>
                <a:ea typeface="+mn-ea"/>
                <a:cs typeface="+mn-cs"/>
              </a:rPr>
              <a:t>disseminate them via email</a:t>
            </a:r>
            <a:endParaRPr lang="en-US" altLang="en-US" sz="1800" dirty="0">
              <a:latin typeface="+mn-lt"/>
              <a:ea typeface="+mn-ea"/>
              <a:cs typeface="+mn-cs"/>
            </a:endParaRPr>
          </a:p>
          <a:p>
            <a:pPr marL="0" indent="0">
              <a:buClrTx/>
              <a:buSzTx/>
              <a:buFontTx/>
              <a:buChar char="•"/>
            </a:pPr>
            <a:r>
              <a:rPr lang="en-US" altLang="en-US" sz="1800" dirty="0">
                <a:latin typeface="+mn-lt"/>
                <a:ea typeface="+mn-ea"/>
                <a:cs typeface="+mn-cs"/>
              </a:rPr>
              <a:t>Data updates are largely </a:t>
            </a:r>
            <a:r>
              <a:rPr lang="en-US" altLang="en-US" sz="1800" b="1" dirty="0">
                <a:latin typeface="+mn-lt"/>
                <a:ea typeface="+mn-ea"/>
                <a:cs typeface="+mn-cs"/>
              </a:rPr>
              <a:t>manual</a:t>
            </a:r>
            <a:r>
              <a:rPr lang="en-US" altLang="en-US" sz="1800" dirty="0">
                <a:latin typeface="+mn-lt"/>
                <a:ea typeface="+mn-ea"/>
                <a:cs typeface="+mn-cs"/>
              </a:rPr>
              <a:t> and not optimized for real-time decision-making</a:t>
            </a:r>
          </a:p>
          <a:p>
            <a:pPr marL="0" indent="0">
              <a:buClrTx/>
              <a:buSzTx/>
              <a:buFontTx/>
            </a:pPr>
            <a:r>
              <a:rPr lang="en-US" altLang="en-US" sz="1800" dirty="0">
                <a:latin typeface="+mn-lt"/>
                <a:ea typeface="+mn-ea"/>
                <a:cs typeface="+mn-cs"/>
              </a:rPr>
              <a:t>These constraints indicate the need for an intelligent, automated, and user-centric system to enhance agricultural market planning.</a:t>
            </a:r>
          </a:p>
          <a:p>
            <a:pPr marL="0" indent="0">
              <a:buClrTx/>
              <a:buSzTx/>
              <a:buFontTx/>
            </a:pPr>
            <a:endParaRPr lang="en-IN" altLang="en-US" sz="1800" dirty="0">
              <a:latin typeface="+mn-lt"/>
              <a:ea typeface="+mn-ea"/>
              <a:cs typeface="+mn-cs"/>
            </a:endParaRPr>
          </a:p>
        </p:txBody>
      </p:sp>
      <p:sp>
        <p:nvSpPr>
          <p:cNvPr id="3" name="object 3"/>
          <p:cNvSpPr txBox="1"/>
          <p:nvPr/>
        </p:nvSpPr>
        <p:spPr>
          <a:xfrm>
            <a:off x="3419475" y="334963"/>
            <a:ext cx="5353050" cy="593725"/>
          </a:xfrm>
          <a:prstGeom prst="rect">
            <a:avLst/>
          </a:prstGeom>
        </p:spPr>
        <p:txBody>
          <a:bodyPr lIns="0" tIns="12065" rIns="0" bIns="0">
            <a:spAutoFit/>
          </a:bodyPr>
          <a:lstStyle/>
          <a:p>
            <a:pPr marL="949325" marR="0" defTabSz="914400" eaLnBrk="1" fontAlgn="auto" hangingPunct="1">
              <a:lnSpc>
                <a:spcPts val="1760"/>
              </a:lnSpc>
              <a:spcBef>
                <a:spcPts val="95"/>
              </a:spcBef>
              <a:spcAft>
                <a:spcPts val="0"/>
              </a:spcAft>
              <a:buClrTx/>
              <a:buSzTx/>
              <a:buFontTx/>
              <a:buNone/>
              <a:defRPr/>
            </a:pPr>
            <a:r>
              <a:rPr kumimoji="0" sz="1600" kern="1200" cap="none" spc="-5" normalizeH="0" baseline="0" noProof="0" dirty="0">
                <a:solidFill>
                  <a:srgbClr val="FFFFFF"/>
                </a:solidFill>
                <a:latin typeface="Times New Roman" panose="02020603050405020304"/>
                <a:ea typeface="+mn-ea"/>
                <a:cs typeface="Times New Roman" panose="02020603050405020304"/>
              </a:rPr>
              <a:t>K.R. Road,</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110" normalizeH="0" baseline="0" noProof="0" dirty="0">
                <a:solidFill>
                  <a:srgbClr val="FFFFFF"/>
                </a:solidFill>
                <a:latin typeface="Times New Roman" panose="02020603050405020304"/>
                <a:ea typeface="+mn-ea"/>
                <a:cs typeface="Times New Roman" panose="02020603050405020304"/>
              </a:rPr>
              <a:t>V.V.</a:t>
            </a:r>
            <a:r>
              <a:rPr kumimoji="0" sz="1600" kern="1200" cap="none" spc="-5" normalizeH="0" baseline="0" noProof="0" dirty="0">
                <a:solidFill>
                  <a:srgbClr val="FFFFFF"/>
                </a:solidFill>
                <a:latin typeface="Times New Roman" panose="02020603050405020304"/>
                <a:ea typeface="+mn-ea"/>
                <a:cs typeface="Times New Roman" panose="02020603050405020304"/>
              </a:rPr>
              <a:t> Pura,</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5" normalizeH="0" baseline="0" noProof="0" dirty="0">
                <a:solidFill>
                  <a:srgbClr val="FFFFFF"/>
                </a:solidFill>
                <a:latin typeface="Times New Roman" panose="02020603050405020304"/>
                <a:ea typeface="+mn-ea"/>
                <a:cs typeface="Times New Roman" panose="02020603050405020304"/>
              </a:rPr>
              <a:t>Bengaluru.-560004.</a:t>
            </a:r>
            <a:endParaRPr kumimoji="0" sz="1600" kern="1200" cap="none" spc="0" normalizeH="0" baseline="0" noProof="0">
              <a:latin typeface="Times New Roman" panose="02020603050405020304"/>
              <a:ea typeface="+mn-ea"/>
              <a:cs typeface="Times New Roman" panose="02020603050405020304"/>
            </a:endParaRPr>
          </a:p>
          <a:p>
            <a:pPr marL="12700" marR="0" defTabSz="914400" eaLnBrk="1" fontAlgn="auto" hangingPunct="1">
              <a:lnSpc>
                <a:spcPts val="2720"/>
              </a:lnSpc>
              <a:spcBef>
                <a:spcPts val="0"/>
              </a:spcBef>
              <a:spcAft>
                <a:spcPts val="0"/>
              </a:spcAft>
              <a:buClrTx/>
              <a:buSzTx/>
              <a:buFontTx/>
              <a:buNone/>
              <a:defRPr/>
            </a:pPr>
            <a:r>
              <a:rPr kumimoji="0" sz="2400" b="1" kern="1200" cap="none" spc="0" normalizeH="0" baseline="0" noProof="0" dirty="0">
                <a:solidFill>
                  <a:srgbClr val="FFFFFF"/>
                </a:solidFill>
                <a:latin typeface="Times New Roman" panose="02020603050405020304"/>
                <a:ea typeface="+mn-ea"/>
                <a:cs typeface="Times New Roman" panose="02020603050405020304"/>
              </a:rPr>
              <a:t>D</a:t>
            </a:r>
            <a:r>
              <a:rPr kumimoji="0" sz="2000" b="1" kern="1200" cap="none" spc="0" normalizeH="0" baseline="0" noProof="0" dirty="0">
                <a:solidFill>
                  <a:srgbClr val="FFFFFF"/>
                </a:solidFill>
                <a:latin typeface="Times New Roman" panose="02020603050405020304"/>
                <a:ea typeface="+mn-ea"/>
                <a:cs typeface="Times New Roman" panose="02020603050405020304"/>
              </a:rPr>
              <a:t>epartment</a:t>
            </a:r>
            <a:r>
              <a:rPr kumimoji="0" sz="2000" b="1" kern="1200" cap="none" spc="-4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of</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Computer</a:t>
            </a:r>
            <a:r>
              <a:rPr kumimoji="0" sz="2000" b="1" kern="1200" cap="none" spc="-8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Science</a:t>
            </a:r>
            <a:r>
              <a:rPr kumimoji="0" sz="2000" b="1" kern="1200" cap="none" spc="-1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&amp;</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Engineering</a:t>
            </a:r>
            <a:endParaRPr kumimoji="0" sz="2000" kern="1200" cap="none" spc="0" normalizeH="0" baseline="0" noProof="0">
              <a:latin typeface="Times New Roman" panose="02020603050405020304"/>
              <a:ea typeface="+mn-ea"/>
              <a:cs typeface="Times New Roman" panose="02020603050405020304"/>
            </a:endParaRPr>
          </a:p>
        </p:txBody>
      </p:sp>
      <p:grpSp>
        <p:nvGrpSpPr>
          <p:cNvPr id="6149" name="object 4"/>
          <p:cNvGrpSpPr/>
          <p:nvPr/>
        </p:nvGrpSpPr>
        <p:grpSpPr>
          <a:xfrm>
            <a:off x="203200" y="0"/>
            <a:ext cx="11891963" cy="1193800"/>
            <a:chOff x="203200" y="0"/>
            <a:chExt cx="11892280" cy="1193165"/>
          </a:xfrm>
        </p:grpSpPr>
        <p:pic>
          <p:nvPicPr>
            <p:cNvPr id="6152" name="object 5"/>
            <p:cNvPicPr>
              <a:picLocks noChangeAspect="1"/>
            </p:cNvPicPr>
            <p:nvPr/>
          </p:nvPicPr>
          <p:blipFill>
            <a:blip r:embed="rId2"/>
            <a:stretch>
              <a:fillRect/>
            </a:stretch>
          </p:blipFill>
          <p:spPr>
            <a:xfrm>
              <a:off x="203200" y="0"/>
              <a:ext cx="1441958" cy="1192657"/>
            </a:xfrm>
            <a:prstGeom prst="rect">
              <a:avLst/>
            </a:prstGeom>
            <a:noFill/>
            <a:ln w="9525">
              <a:noFill/>
            </a:ln>
          </p:spPr>
        </p:pic>
        <p:pic>
          <p:nvPicPr>
            <p:cNvPr id="6153" name="object 6"/>
            <p:cNvPicPr>
              <a:picLocks noChangeAspect="1"/>
            </p:cNvPicPr>
            <p:nvPr/>
          </p:nvPicPr>
          <p:blipFill>
            <a:blip r:embed="rId3"/>
            <a:stretch>
              <a:fillRect/>
            </a:stretch>
          </p:blipFill>
          <p:spPr>
            <a:xfrm>
              <a:off x="10653521" y="70713"/>
              <a:ext cx="1441957" cy="994054"/>
            </a:xfrm>
            <a:prstGeom prst="rect">
              <a:avLst/>
            </a:prstGeom>
            <a:noFill/>
            <a:ln w="9525">
              <a:noFill/>
            </a:ln>
          </p:spPr>
        </p:pic>
      </p:grpSp>
      <p:sp>
        <p:nvSpPr>
          <p:cNvPr id="9" name="Google Shape;155;p6"/>
          <p:cNvSpPr txBox="1"/>
          <p:nvPr/>
        </p:nvSpPr>
        <p:spPr bwMode="auto">
          <a:xfrm>
            <a:off x="1644650" y="1228725"/>
            <a:ext cx="8458200" cy="746125"/>
          </a:xfrm>
          <a:prstGeom prst="rect">
            <a:avLst/>
          </a:prstGeom>
          <a:noFill/>
          <a:ln>
            <a:noFill/>
          </a:ln>
        </p:spPr>
        <p:txBody>
          <a:bodyPr spcFirstLastPara="1" lIns="91425" tIns="45700" rIns="91425" bIns="45700" anchor="ctr"/>
          <a:lst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stStyle>
          <a:p>
            <a:pPr marL="0" lvl="0" indent="0" algn="ctr" eaLnBrk="1" hangingPunct="1">
              <a:spcBef>
                <a:spcPct val="0"/>
              </a:spcBef>
              <a:buClr>
                <a:srgbClr val="464646"/>
              </a:buClr>
              <a:buFont typeface="Lucida Sans" panose="020B0602030504020204" pitchFamily="34" charset="0"/>
              <a:buNone/>
            </a:pPr>
            <a:r>
              <a:rPr lang="en-US" altLang="en-US" sz="2600" b="1" dirty="0">
                <a:solidFill>
                  <a:srgbClr val="464646"/>
                </a:solidFill>
                <a:latin typeface="Lucida Sans" panose="020B0602030504020204" pitchFamily="34" charset="0"/>
                <a:cs typeface="Arial" panose="020B0604020202020204" pitchFamily="34" charset="0"/>
                <a:sym typeface="Lucida Sans" panose="020B0602030504020204" pitchFamily="34" charset="0"/>
              </a:rPr>
              <a:t>           </a:t>
            </a:r>
            <a:r>
              <a:rPr lang="en-US" altLang="en-US" sz="2600" b="1" dirty="0">
                <a:latin typeface="Times New Roman" panose="02020603050405020304" pitchFamily="18" charset="0"/>
                <a:cs typeface="Arial" panose="020B0604020202020204" pitchFamily="34" charset="0"/>
                <a:sym typeface="Times New Roman" panose="02020603050405020304" pitchFamily="18" charset="0"/>
              </a:rPr>
              <a:t>EXISTING  SYSTEM</a:t>
            </a:r>
            <a:endParaRPr lang="en-US" altLang="en-US" sz="2600" dirty="0">
              <a:latin typeface="Arial" panose="020B0604020202020204" pitchFamily="34" charset="0"/>
              <a:cs typeface="Arial" panose="020B0604020202020204" pitchFamily="34" charset="0"/>
              <a:sym typeface="Arial" panose="020B0604020202020204" pitchFamily="34" charset="0"/>
            </a:endParaRPr>
          </a:p>
          <a:p>
            <a:pPr marL="0" lvl="0" indent="0" eaLnBrk="1" hangingPunct="1">
              <a:spcBef>
                <a:spcPct val="0"/>
              </a:spcBef>
              <a:buClr>
                <a:srgbClr val="464646"/>
              </a:buClr>
              <a:buFont typeface="Lucida Sans" panose="020B0602030504020204" pitchFamily="34" charset="0"/>
              <a:buNone/>
            </a:pPr>
            <a:endParaRPr lang="en-US" altLang="en-US" sz="4100" b="1" dirty="0">
              <a:solidFill>
                <a:srgbClr val="464646"/>
              </a:solidFill>
              <a:latin typeface="Lucida Sans" panose="020B0602030504020204" pitchFamily="34" charset="0"/>
              <a:ea typeface="Arial" panose="020B0604020202020204" pitchFamily="34" charset="0"/>
              <a:sym typeface="Lucida Sans" panose="020B0602030504020204" pitchFamily="34" charset="0"/>
            </a:endParaRPr>
          </a:p>
        </p:txBody>
      </p:sp>
      <p:pic>
        <p:nvPicPr>
          <p:cNvPr id="5" name="Picture 4"/>
          <p:cNvPicPr>
            <a:picLocks noChangeAspect="1"/>
          </p:cNvPicPr>
          <p:nvPr/>
        </p:nvPicPr>
        <p:blipFill>
          <a:blip r:embed="rId4"/>
          <a:srcRect l="20891" r="10498"/>
          <a:stretch>
            <a:fillRect/>
          </a:stretch>
        </p:blipFill>
        <p:spPr>
          <a:xfrm>
            <a:off x="6480175" y="1752600"/>
            <a:ext cx="5500688" cy="3668713"/>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Bangalore</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Institute</a:t>
            </a: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5" normalizeH="0" baseline="0" noProof="0" dirty="0">
                <a:ln>
                  <a:noFill/>
                </a:ln>
                <a:solidFill>
                  <a:schemeClr val="bg1"/>
                </a:solidFill>
                <a:effectLst/>
                <a:uLnTx/>
                <a:uFillTx/>
                <a:latin typeface="Times New Roman" panose="02020603050405020304"/>
                <a:ea typeface="+mj-ea"/>
                <a:cs typeface="Times New Roman" panose="02020603050405020304"/>
              </a:rPr>
              <a:t>of</a:t>
            </a:r>
            <a:r>
              <a:rPr kumimoji="0" sz="2400" b="1" i="0" u="none" strike="noStrike" kern="0" cap="none" spc="-5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Technology</a:t>
            </a:r>
          </a:p>
        </p:txBody>
      </p:sp>
      <p:sp>
        <p:nvSpPr>
          <p:cNvPr id="3" name="object 3"/>
          <p:cNvSpPr txBox="1"/>
          <p:nvPr/>
        </p:nvSpPr>
        <p:spPr>
          <a:xfrm>
            <a:off x="3419475" y="334963"/>
            <a:ext cx="5353050" cy="593725"/>
          </a:xfrm>
          <a:prstGeom prst="rect">
            <a:avLst/>
          </a:prstGeom>
        </p:spPr>
        <p:txBody>
          <a:bodyPr lIns="0" tIns="12065" rIns="0" bIns="0">
            <a:spAutoFit/>
          </a:bodyPr>
          <a:lstStyle/>
          <a:p>
            <a:pPr marL="949325" marR="0" defTabSz="914400" eaLnBrk="1" fontAlgn="auto" hangingPunct="1">
              <a:lnSpc>
                <a:spcPts val="1760"/>
              </a:lnSpc>
              <a:spcBef>
                <a:spcPts val="95"/>
              </a:spcBef>
              <a:spcAft>
                <a:spcPts val="0"/>
              </a:spcAft>
              <a:buClrTx/>
              <a:buSzTx/>
              <a:buFontTx/>
              <a:buNone/>
              <a:defRPr/>
            </a:pPr>
            <a:r>
              <a:rPr kumimoji="0" sz="1600" kern="1200" cap="none" spc="-5" normalizeH="0" baseline="0" noProof="0" dirty="0">
                <a:solidFill>
                  <a:srgbClr val="FFFFFF"/>
                </a:solidFill>
                <a:latin typeface="Times New Roman" panose="02020603050405020304"/>
                <a:ea typeface="+mn-ea"/>
                <a:cs typeface="Times New Roman" panose="02020603050405020304"/>
              </a:rPr>
              <a:t>K.R. Road,</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110" normalizeH="0" baseline="0" noProof="0" dirty="0">
                <a:solidFill>
                  <a:srgbClr val="FFFFFF"/>
                </a:solidFill>
                <a:latin typeface="Times New Roman" panose="02020603050405020304"/>
                <a:ea typeface="+mn-ea"/>
                <a:cs typeface="Times New Roman" panose="02020603050405020304"/>
              </a:rPr>
              <a:t>V.V.</a:t>
            </a:r>
            <a:r>
              <a:rPr kumimoji="0" sz="1600" kern="1200" cap="none" spc="-5" normalizeH="0" baseline="0" noProof="0" dirty="0">
                <a:solidFill>
                  <a:srgbClr val="FFFFFF"/>
                </a:solidFill>
                <a:latin typeface="Times New Roman" panose="02020603050405020304"/>
                <a:ea typeface="+mn-ea"/>
                <a:cs typeface="Times New Roman" panose="02020603050405020304"/>
              </a:rPr>
              <a:t> Pura,</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5" normalizeH="0" baseline="0" noProof="0" dirty="0">
                <a:solidFill>
                  <a:srgbClr val="FFFFFF"/>
                </a:solidFill>
                <a:latin typeface="Times New Roman" panose="02020603050405020304"/>
                <a:ea typeface="+mn-ea"/>
                <a:cs typeface="Times New Roman" panose="02020603050405020304"/>
              </a:rPr>
              <a:t>Bengaluru.-560004.</a:t>
            </a:r>
            <a:endParaRPr kumimoji="0" sz="1600" kern="1200" cap="none" spc="0" normalizeH="0" baseline="0" noProof="0">
              <a:latin typeface="Times New Roman" panose="02020603050405020304"/>
              <a:ea typeface="+mn-ea"/>
              <a:cs typeface="Times New Roman" panose="02020603050405020304"/>
            </a:endParaRPr>
          </a:p>
          <a:p>
            <a:pPr marL="12700" marR="0" defTabSz="914400" eaLnBrk="1" fontAlgn="auto" hangingPunct="1">
              <a:lnSpc>
                <a:spcPts val="2720"/>
              </a:lnSpc>
              <a:spcBef>
                <a:spcPts val="0"/>
              </a:spcBef>
              <a:spcAft>
                <a:spcPts val="0"/>
              </a:spcAft>
              <a:buClrTx/>
              <a:buSzTx/>
              <a:buFontTx/>
              <a:buNone/>
              <a:defRPr/>
            </a:pPr>
            <a:r>
              <a:rPr kumimoji="0" sz="2400" b="1" kern="1200" cap="none" spc="0" normalizeH="0" baseline="0" noProof="0" dirty="0">
                <a:solidFill>
                  <a:srgbClr val="FFFFFF"/>
                </a:solidFill>
                <a:latin typeface="Times New Roman" panose="02020603050405020304"/>
                <a:ea typeface="+mn-ea"/>
                <a:cs typeface="Times New Roman" panose="02020603050405020304"/>
              </a:rPr>
              <a:t>D</a:t>
            </a:r>
            <a:r>
              <a:rPr kumimoji="0" sz="2000" b="1" kern="1200" cap="none" spc="0" normalizeH="0" baseline="0" noProof="0" dirty="0">
                <a:solidFill>
                  <a:srgbClr val="FFFFFF"/>
                </a:solidFill>
                <a:latin typeface="Times New Roman" panose="02020603050405020304"/>
                <a:ea typeface="+mn-ea"/>
                <a:cs typeface="Times New Roman" panose="02020603050405020304"/>
              </a:rPr>
              <a:t>epartment</a:t>
            </a:r>
            <a:r>
              <a:rPr kumimoji="0" sz="2000" b="1" kern="1200" cap="none" spc="-4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of</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Computer</a:t>
            </a:r>
            <a:r>
              <a:rPr kumimoji="0" sz="2000" b="1" kern="1200" cap="none" spc="-8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Science</a:t>
            </a:r>
            <a:r>
              <a:rPr kumimoji="0" sz="2000" b="1" kern="1200" cap="none" spc="-1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&amp;</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Engineering</a:t>
            </a:r>
            <a:endParaRPr kumimoji="0" sz="2000" kern="1200" cap="none" spc="0" normalizeH="0" baseline="0" noProof="0">
              <a:latin typeface="Times New Roman" panose="02020603050405020304"/>
              <a:ea typeface="+mn-ea"/>
              <a:cs typeface="Times New Roman" panose="02020603050405020304"/>
            </a:endParaRPr>
          </a:p>
        </p:txBody>
      </p:sp>
      <p:grpSp>
        <p:nvGrpSpPr>
          <p:cNvPr id="7172" name="object 4"/>
          <p:cNvGrpSpPr/>
          <p:nvPr/>
        </p:nvGrpSpPr>
        <p:grpSpPr>
          <a:xfrm>
            <a:off x="203200" y="0"/>
            <a:ext cx="11891963" cy="1193800"/>
            <a:chOff x="203200" y="0"/>
            <a:chExt cx="11892280" cy="1193165"/>
          </a:xfrm>
        </p:grpSpPr>
        <p:pic>
          <p:nvPicPr>
            <p:cNvPr id="7175" name="object 5"/>
            <p:cNvPicPr>
              <a:picLocks noChangeAspect="1"/>
            </p:cNvPicPr>
            <p:nvPr/>
          </p:nvPicPr>
          <p:blipFill>
            <a:blip r:embed="rId2"/>
            <a:stretch>
              <a:fillRect/>
            </a:stretch>
          </p:blipFill>
          <p:spPr>
            <a:xfrm>
              <a:off x="203200" y="0"/>
              <a:ext cx="1441958" cy="1192657"/>
            </a:xfrm>
            <a:prstGeom prst="rect">
              <a:avLst/>
            </a:prstGeom>
            <a:noFill/>
            <a:ln w="9525">
              <a:noFill/>
            </a:ln>
          </p:spPr>
        </p:pic>
        <p:pic>
          <p:nvPicPr>
            <p:cNvPr id="7176" name="object 6"/>
            <p:cNvPicPr>
              <a:picLocks noChangeAspect="1"/>
            </p:cNvPicPr>
            <p:nvPr/>
          </p:nvPicPr>
          <p:blipFill>
            <a:blip r:embed="rId3"/>
            <a:stretch>
              <a:fillRect/>
            </a:stretch>
          </p:blipFill>
          <p:spPr>
            <a:xfrm>
              <a:off x="10653521" y="70713"/>
              <a:ext cx="1441957" cy="994054"/>
            </a:xfrm>
            <a:prstGeom prst="rect">
              <a:avLst/>
            </a:prstGeom>
            <a:noFill/>
            <a:ln w="9525">
              <a:noFill/>
            </a:ln>
          </p:spPr>
        </p:pic>
      </p:grpSp>
      <p:sp>
        <p:nvSpPr>
          <p:cNvPr id="7" name="Google Shape;164;p7"/>
          <p:cNvSpPr txBox="1"/>
          <p:nvPr/>
        </p:nvSpPr>
        <p:spPr bwMode="auto">
          <a:xfrm>
            <a:off x="554038" y="1274763"/>
            <a:ext cx="10647363" cy="477838"/>
          </a:xfrm>
          <a:prstGeom prst="rect">
            <a:avLst/>
          </a:prstGeom>
          <a:noFill/>
          <a:ln>
            <a:noFill/>
          </a:ln>
        </p:spPr>
        <p:txBody>
          <a:bodyPr spcFirstLastPara="1" lIns="91425" tIns="45700" rIns="91425" bIns="45700" anchor="ctr"/>
          <a:lst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stStyle>
          <a:p>
            <a:pPr marL="0" lvl="0" indent="0" algn="ctr" eaLnBrk="1" hangingPunct="1">
              <a:spcBef>
                <a:spcPct val="0"/>
              </a:spcBef>
              <a:buClr>
                <a:srgbClr val="4E67C8"/>
              </a:buClr>
              <a:buFont typeface="Times New Roman" panose="02020603050405020304" pitchFamily="18" charset="0"/>
              <a:buNone/>
            </a:pPr>
            <a:r>
              <a:rPr lang="en-US" altLang="en-US" sz="2800" b="1" dirty="0">
                <a:latin typeface="Times New Roman" panose="02020603050405020304" pitchFamily="18" charset="0"/>
                <a:cs typeface="Arial" panose="020B0604020202020204" pitchFamily="34" charset="0"/>
                <a:sym typeface="Times New Roman" panose="02020603050405020304" pitchFamily="18" charset="0"/>
              </a:rPr>
              <a:t>PROBLEM STATEMENT</a:t>
            </a:r>
            <a:endParaRPr lang="en-US" altLang="en-US" sz="2800" b="1" dirty="0">
              <a:latin typeface="Times New Roman" panose="02020603050405020304" pitchFamily="18" charset="0"/>
              <a:ea typeface="Arial" panose="020B0604020202020204" pitchFamily="34" charset="0"/>
              <a:sym typeface="Times New Roman" panose="02020603050405020304" pitchFamily="18" charset="0"/>
            </a:endParaRPr>
          </a:p>
        </p:txBody>
      </p:sp>
      <p:sp>
        <p:nvSpPr>
          <p:cNvPr id="8" name="Google Shape;163;p7"/>
          <p:cNvSpPr txBox="1"/>
          <p:nvPr/>
        </p:nvSpPr>
        <p:spPr bwMode="auto">
          <a:xfrm>
            <a:off x="685800" y="1790700"/>
            <a:ext cx="10647363" cy="4381500"/>
          </a:xfrm>
          <a:prstGeom prst="rect">
            <a:avLst/>
          </a:prstGeom>
          <a:noFill/>
          <a:ln>
            <a:noFill/>
          </a:ln>
        </p:spPr>
        <p:txBody>
          <a:bodyPr spcFirstLastPara="1" lIns="91425" tIns="45700" rIns="91425" bIns="45700"/>
          <a:lst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stStyle>
          <a:p>
            <a:pPr marL="114300" lvl="0" indent="0" eaLnBrk="1" hangingPunct="1">
              <a:spcBef>
                <a:spcPct val="0"/>
              </a:spcBef>
              <a:buClr>
                <a:srgbClr val="2DA2BF"/>
              </a:buClr>
              <a:buFont typeface="Noto Sans Symbols"/>
              <a:buNone/>
            </a:pPr>
            <a:r>
              <a:rPr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r>
              <a:rPr dirty="0">
                <a:solidFill>
                  <a:srgbClr val="000000"/>
                </a:solidFill>
                <a:latin typeface="Arial" panose="020B0604020202020204" pitchFamily="34" charset="0"/>
                <a:cs typeface="Arial" panose="020B0604020202020204" pitchFamily="34" charset="0"/>
                <a:sym typeface="Arial" panose="020B0604020202020204" pitchFamily="34" charset="0"/>
              </a:rPr>
              <a:t>Farmers and stakeholders face significant challenges due to the unpredictability of crop prices, which affects planning and market decisions. Existing systems primarily offer historical data without reliable forecasting capabilities. Moreover, they often ignore key seasonal and environmental factors that influence prices. Hence, there is a need for an intelligent system that can accurately predict crop prices using historical trends and seasonal patterns.</a:t>
            </a:r>
            <a:r>
              <a:rPr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a:t>
            </a:r>
          </a:p>
          <a:p>
            <a:pPr marL="114300" lvl="0" indent="0" eaLnBrk="1" hangingPunct="1">
              <a:spcBef>
                <a:spcPct val="0"/>
              </a:spcBef>
              <a:buClr>
                <a:srgbClr val="2DA2BF"/>
              </a:buClr>
              <a:buFont typeface="Noto Sans Symbols"/>
              <a:buNone/>
            </a:pPr>
            <a:endParaRPr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a:p>
            <a:pPr marL="114300" lvl="0" indent="0" eaLnBrk="1" hangingPunct="1">
              <a:spcBef>
                <a:spcPts val="740"/>
              </a:spcBef>
              <a:buClr>
                <a:srgbClr val="2DA2BF"/>
              </a:buClr>
              <a:buFont typeface="Noto Sans Symbols"/>
              <a:buNone/>
            </a:pPr>
            <a:r>
              <a:rPr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Input: </a:t>
            </a:r>
            <a:r>
              <a:rPr dirty="0">
                <a:solidFill>
                  <a:srgbClr val="000000"/>
                </a:solidFill>
                <a:latin typeface="Arial" panose="020B0604020202020204" pitchFamily="34" charset="0"/>
                <a:cs typeface="Arial" panose="020B0604020202020204" pitchFamily="34" charset="0"/>
                <a:sym typeface="Arial" panose="020B0604020202020204" pitchFamily="34" charset="0"/>
              </a:rPr>
              <a:t>The input dataset comprises historical market data for agricultural commodities, including attributes such as district name, commodity type, minimum price, maximum price, modal price, and corresponding dates</a:t>
            </a:r>
            <a:endParaRPr dirty="0">
              <a:solidFill>
                <a:srgbClr val="000000"/>
              </a:solidFill>
              <a:latin typeface="Times New Roman" panose="02020603050405020304" pitchFamily="18" charset="0"/>
              <a:cs typeface="Arial" panose="020B0604020202020204" pitchFamily="34" charset="0"/>
              <a:sym typeface="Lucida Sans" panose="020B0602030504020204" pitchFamily="34" charset="0"/>
            </a:endParaRPr>
          </a:p>
          <a:p>
            <a:pPr marL="114300" lvl="0" indent="0" eaLnBrk="1" hangingPunct="1">
              <a:spcBef>
                <a:spcPts val="740"/>
              </a:spcBef>
              <a:buClr>
                <a:srgbClr val="2DA2BF"/>
              </a:buClr>
              <a:buFont typeface="Noto Sans Symbols"/>
              <a:buNone/>
            </a:pPr>
            <a:endParaRPr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endParaRPr>
          </a:p>
          <a:p>
            <a:pPr marL="114300" lvl="0" indent="0" eaLnBrk="1" hangingPunct="1">
              <a:spcBef>
                <a:spcPts val="740"/>
              </a:spcBef>
              <a:buClr>
                <a:srgbClr val="2DA2BF"/>
              </a:buClr>
              <a:buFont typeface="Noto Sans Symbols"/>
              <a:buNone/>
            </a:pPr>
            <a:r>
              <a:rPr b="1" dirty="0">
                <a:solidFill>
                  <a:srgbClr val="000000"/>
                </a:solidFill>
                <a:latin typeface="Times New Roman" panose="02020603050405020304" pitchFamily="18" charset="0"/>
                <a:cs typeface="Times New Roman" panose="02020603050405020304" pitchFamily="18" charset="0"/>
                <a:sym typeface="Times New Roman" panose="02020603050405020304" pitchFamily="18" charset="0"/>
              </a:rPr>
              <a:t>Output: </a:t>
            </a:r>
            <a:r>
              <a:rPr dirty="0">
                <a:solidFill>
                  <a:srgbClr val="000000"/>
                </a:solidFill>
                <a:latin typeface="Arial" panose="020B0604020202020204" pitchFamily="34" charset="0"/>
                <a:cs typeface="Arial" panose="020B0604020202020204" pitchFamily="34" charset="0"/>
                <a:sym typeface="Arial" panose="020B0604020202020204" pitchFamily="34" charset="0"/>
              </a:rPr>
              <a:t>The model generates a one-year price forecast for the selected crop, presenting results in both tabular and graphical formats. The table displays predicted modal prices for each month, while the line graph visualizes the trend of price fluctuations over time. </a:t>
            </a:r>
            <a:endParaRPr dirty="0">
              <a:solidFill>
                <a:srgbClr val="000000"/>
              </a:solidFill>
              <a:latin typeface="Lucida Sans" panose="020B0602030504020204" pitchFamily="34" charset="0"/>
              <a:ea typeface="Lucida Sans" panose="020B0602030504020204" pitchFamily="34" charset="0"/>
              <a:sym typeface="Lucida Sans" panose="020B0602030504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Bangalore</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Institute</a:t>
            </a: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5" normalizeH="0" baseline="0" noProof="0" dirty="0">
                <a:ln>
                  <a:noFill/>
                </a:ln>
                <a:solidFill>
                  <a:schemeClr val="bg1"/>
                </a:solidFill>
                <a:effectLst/>
                <a:uLnTx/>
                <a:uFillTx/>
                <a:latin typeface="Times New Roman" panose="02020603050405020304"/>
                <a:ea typeface="+mj-ea"/>
                <a:cs typeface="Times New Roman" panose="02020603050405020304"/>
              </a:rPr>
              <a:t>of</a:t>
            </a:r>
            <a:r>
              <a:rPr kumimoji="0" sz="2400" b="1" i="0" u="none" strike="noStrike" kern="0" cap="none" spc="-5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Technology</a:t>
            </a:r>
          </a:p>
        </p:txBody>
      </p:sp>
      <p:sp>
        <p:nvSpPr>
          <p:cNvPr id="3" name="object 3"/>
          <p:cNvSpPr txBox="1"/>
          <p:nvPr/>
        </p:nvSpPr>
        <p:spPr>
          <a:xfrm>
            <a:off x="3419475" y="334963"/>
            <a:ext cx="5353050" cy="593725"/>
          </a:xfrm>
          <a:prstGeom prst="rect">
            <a:avLst/>
          </a:prstGeom>
        </p:spPr>
        <p:txBody>
          <a:bodyPr lIns="0" tIns="12065" rIns="0" bIns="0">
            <a:spAutoFit/>
          </a:bodyPr>
          <a:lstStyle/>
          <a:p>
            <a:pPr marL="949325" marR="0" defTabSz="914400" eaLnBrk="1" fontAlgn="auto" hangingPunct="1">
              <a:lnSpc>
                <a:spcPts val="1760"/>
              </a:lnSpc>
              <a:spcBef>
                <a:spcPts val="95"/>
              </a:spcBef>
              <a:spcAft>
                <a:spcPts val="0"/>
              </a:spcAft>
              <a:buClrTx/>
              <a:buSzTx/>
              <a:buFontTx/>
              <a:buNone/>
              <a:defRPr/>
            </a:pPr>
            <a:r>
              <a:rPr kumimoji="0" sz="1600" kern="1200" cap="none" spc="-5" normalizeH="0" baseline="0" noProof="0" dirty="0">
                <a:solidFill>
                  <a:srgbClr val="FFFFFF"/>
                </a:solidFill>
                <a:latin typeface="Times New Roman" panose="02020603050405020304"/>
                <a:ea typeface="+mn-ea"/>
                <a:cs typeface="Times New Roman" panose="02020603050405020304"/>
              </a:rPr>
              <a:t>K.R. Road,</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110" normalizeH="0" baseline="0" noProof="0" dirty="0">
                <a:solidFill>
                  <a:srgbClr val="FFFFFF"/>
                </a:solidFill>
                <a:latin typeface="Times New Roman" panose="02020603050405020304"/>
                <a:ea typeface="+mn-ea"/>
                <a:cs typeface="Times New Roman" panose="02020603050405020304"/>
              </a:rPr>
              <a:t>V.V.</a:t>
            </a:r>
            <a:r>
              <a:rPr kumimoji="0" sz="1600" kern="1200" cap="none" spc="-5" normalizeH="0" baseline="0" noProof="0" dirty="0">
                <a:solidFill>
                  <a:srgbClr val="FFFFFF"/>
                </a:solidFill>
                <a:latin typeface="Times New Roman" panose="02020603050405020304"/>
                <a:ea typeface="+mn-ea"/>
                <a:cs typeface="Times New Roman" panose="02020603050405020304"/>
              </a:rPr>
              <a:t> Pura,</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5" normalizeH="0" baseline="0" noProof="0" dirty="0">
                <a:solidFill>
                  <a:srgbClr val="FFFFFF"/>
                </a:solidFill>
                <a:latin typeface="Times New Roman" panose="02020603050405020304"/>
                <a:ea typeface="+mn-ea"/>
                <a:cs typeface="Times New Roman" panose="02020603050405020304"/>
              </a:rPr>
              <a:t>Bengaluru.-560004.</a:t>
            </a:r>
            <a:endParaRPr kumimoji="0" sz="1600" kern="1200" cap="none" spc="0" normalizeH="0" baseline="0" noProof="0">
              <a:latin typeface="Times New Roman" panose="02020603050405020304"/>
              <a:ea typeface="+mn-ea"/>
              <a:cs typeface="Times New Roman" panose="02020603050405020304"/>
            </a:endParaRPr>
          </a:p>
          <a:p>
            <a:pPr marL="12700" marR="0" defTabSz="914400" eaLnBrk="1" fontAlgn="auto" hangingPunct="1">
              <a:lnSpc>
                <a:spcPts val="2720"/>
              </a:lnSpc>
              <a:spcBef>
                <a:spcPts val="0"/>
              </a:spcBef>
              <a:spcAft>
                <a:spcPts val="0"/>
              </a:spcAft>
              <a:buClrTx/>
              <a:buSzTx/>
              <a:buFontTx/>
              <a:buNone/>
              <a:defRPr/>
            </a:pPr>
            <a:r>
              <a:rPr kumimoji="0" sz="2400" b="1" kern="1200" cap="none" spc="0" normalizeH="0" baseline="0" noProof="0" dirty="0">
                <a:solidFill>
                  <a:srgbClr val="FFFFFF"/>
                </a:solidFill>
                <a:latin typeface="Times New Roman" panose="02020603050405020304"/>
                <a:ea typeface="+mn-ea"/>
                <a:cs typeface="Times New Roman" panose="02020603050405020304"/>
              </a:rPr>
              <a:t>D</a:t>
            </a:r>
            <a:r>
              <a:rPr kumimoji="0" sz="2000" b="1" kern="1200" cap="none" spc="0" normalizeH="0" baseline="0" noProof="0" dirty="0">
                <a:solidFill>
                  <a:srgbClr val="FFFFFF"/>
                </a:solidFill>
                <a:latin typeface="Times New Roman" panose="02020603050405020304"/>
                <a:ea typeface="+mn-ea"/>
                <a:cs typeface="Times New Roman" panose="02020603050405020304"/>
              </a:rPr>
              <a:t>epartment</a:t>
            </a:r>
            <a:r>
              <a:rPr kumimoji="0" sz="2000" b="1" kern="1200" cap="none" spc="-4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of</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Computer</a:t>
            </a:r>
            <a:r>
              <a:rPr kumimoji="0" sz="2000" b="1" kern="1200" cap="none" spc="-8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Science</a:t>
            </a:r>
            <a:r>
              <a:rPr kumimoji="0" sz="2000" b="1" kern="1200" cap="none" spc="-1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&amp;</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Engineering</a:t>
            </a:r>
            <a:endParaRPr kumimoji="0" sz="2000" kern="1200" cap="none" spc="0" normalizeH="0" baseline="0" noProof="0">
              <a:latin typeface="Times New Roman" panose="02020603050405020304"/>
              <a:ea typeface="+mn-ea"/>
              <a:cs typeface="Times New Roman" panose="02020603050405020304"/>
            </a:endParaRPr>
          </a:p>
        </p:txBody>
      </p:sp>
      <p:grpSp>
        <p:nvGrpSpPr>
          <p:cNvPr id="8196" name="object 4"/>
          <p:cNvGrpSpPr/>
          <p:nvPr/>
        </p:nvGrpSpPr>
        <p:grpSpPr>
          <a:xfrm>
            <a:off x="203200" y="0"/>
            <a:ext cx="11891963" cy="1193800"/>
            <a:chOff x="203200" y="0"/>
            <a:chExt cx="11892280" cy="1193165"/>
          </a:xfrm>
        </p:grpSpPr>
        <p:pic>
          <p:nvPicPr>
            <p:cNvPr id="8199" name="object 5"/>
            <p:cNvPicPr>
              <a:picLocks noChangeAspect="1"/>
            </p:cNvPicPr>
            <p:nvPr/>
          </p:nvPicPr>
          <p:blipFill>
            <a:blip r:embed="rId2"/>
            <a:stretch>
              <a:fillRect/>
            </a:stretch>
          </p:blipFill>
          <p:spPr>
            <a:xfrm>
              <a:off x="203200" y="0"/>
              <a:ext cx="1441958" cy="1192657"/>
            </a:xfrm>
            <a:prstGeom prst="rect">
              <a:avLst/>
            </a:prstGeom>
            <a:noFill/>
            <a:ln w="9525">
              <a:noFill/>
            </a:ln>
          </p:spPr>
        </p:pic>
        <p:pic>
          <p:nvPicPr>
            <p:cNvPr id="8200" name="object 6"/>
            <p:cNvPicPr>
              <a:picLocks noChangeAspect="1"/>
            </p:cNvPicPr>
            <p:nvPr/>
          </p:nvPicPr>
          <p:blipFill>
            <a:blip r:embed="rId3"/>
            <a:stretch>
              <a:fillRect/>
            </a:stretch>
          </p:blipFill>
          <p:spPr>
            <a:xfrm>
              <a:off x="10653521" y="70713"/>
              <a:ext cx="1441957" cy="994054"/>
            </a:xfrm>
            <a:prstGeom prst="rect">
              <a:avLst/>
            </a:prstGeom>
            <a:noFill/>
            <a:ln w="9525">
              <a:noFill/>
            </a:ln>
          </p:spPr>
        </p:pic>
      </p:grpSp>
      <p:sp>
        <p:nvSpPr>
          <p:cNvPr id="9" name="Google Shape;172;p8"/>
          <p:cNvSpPr txBox="1"/>
          <p:nvPr/>
        </p:nvSpPr>
        <p:spPr bwMode="auto">
          <a:xfrm>
            <a:off x="542925" y="1274763"/>
            <a:ext cx="10429875" cy="554038"/>
          </a:xfrm>
          <a:prstGeom prst="rect">
            <a:avLst/>
          </a:prstGeom>
          <a:noFill/>
          <a:ln>
            <a:noFill/>
          </a:ln>
        </p:spPr>
        <p:txBody>
          <a:bodyPr spcFirstLastPara="1" lIns="91425" tIns="45700" rIns="91425" bIns="45700" anchor="ctr"/>
          <a:lst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stStyle>
          <a:p>
            <a:pPr marL="0" lvl="0" indent="0" algn="ctr" eaLnBrk="1" hangingPunct="1">
              <a:spcBef>
                <a:spcPct val="0"/>
              </a:spcBef>
              <a:buClr>
                <a:srgbClr val="4E67C8"/>
              </a:buClr>
              <a:buFont typeface="Times New Roman" panose="02020603050405020304" pitchFamily="18" charset="0"/>
              <a:buNone/>
            </a:pPr>
            <a:br>
              <a:rPr lang="en-US" altLang="en-US" sz="3600" b="1" dirty="0">
                <a:solidFill>
                  <a:srgbClr val="4E67C8"/>
                </a:solidFill>
                <a:latin typeface="Times New Roman" panose="02020603050405020304" pitchFamily="18" charset="0"/>
                <a:cs typeface="Arial" panose="020B0604020202020204" pitchFamily="34" charset="0"/>
                <a:sym typeface="Times New Roman" panose="02020603050405020304" pitchFamily="18" charset="0"/>
              </a:rPr>
            </a:br>
            <a:r>
              <a:rPr lang="en-US" altLang="en-US" sz="2800" b="1" dirty="0">
                <a:latin typeface="Times New Roman" panose="02020603050405020304" pitchFamily="18" charset="0"/>
                <a:cs typeface="Arial" panose="020B0604020202020204" pitchFamily="34" charset="0"/>
                <a:sym typeface="Times New Roman" panose="02020603050405020304" pitchFamily="18" charset="0"/>
              </a:rPr>
              <a:t>PROPOSED SYSTEM</a:t>
            </a:r>
            <a:br>
              <a:rPr lang="en-US" altLang="en-US" sz="3600" b="1" dirty="0">
                <a:solidFill>
                  <a:srgbClr val="4E67C8"/>
                </a:solidFill>
                <a:latin typeface="Times New Roman" panose="02020603050405020304" pitchFamily="18" charset="0"/>
                <a:cs typeface="Arial" panose="020B0604020202020204" pitchFamily="34" charset="0"/>
                <a:sym typeface="Times New Roman" panose="02020603050405020304" pitchFamily="18" charset="0"/>
              </a:rPr>
            </a:br>
            <a:endParaRPr lang="en-US" altLang="en-US" sz="3600" b="1" dirty="0">
              <a:solidFill>
                <a:srgbClr val="464646"/>
              </a:solidFill>
              <a:latin typeface="Lucida Sans" panose="020B0602030504020204" pitchFamily="34" charset="0"/>
              <a:ea typeface="Arial" panose="020B0604020202020204" pitchFamily="34" charset="0"/>
              <a:sym typeface="Lucida Sans" panose="020B0602030504020204" pitchFamily="34" charset="0"/>
            </a:endParaRPr>
          </a:p>
        </p:txBody>
      </p:sp>
      <p:sp>
        <p:nvSpPr>
          <p:cNvPr id="8198" name="Google Shape;171;p8"/>
          <p:cNvSpPr txBox="1"/>
          <p:nvPr/>
        </p:nvSpPr>
        <p:spPr>
          <a:xfrm>
            <a:off x="762000" y="1890713"/>
            <a:ext cx="10515600" cy="3900487"/>
          </a:xfrm>
          <a:prstGeom prst="rect">
            <a:avLst/>
          </a:prstGeom>
          <a:noFill/>
          <a:ln w="9525">
            <a:noFill/>
          </a:ln>
        </p:spPr>
        <p:txBody>
          <a:bodyPr lIns="91425" tIns="45700" rIns="91425" bIns="45700"/>
          <a:lst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stStyle>
          <a:p>
            <a:pPr marL="0" lvl="0" indent="0">
              <a:spcBef>
                <a:spcPct val="0"/>
              </a:spcBef>
              <a:buChar char="•"/>
            </a:pPr>
            <a:r>
              <a:rPr lang="en-US" altLang="en-US" sz="2400" dirty="0">
                <a:cs typeface="Arial" panose="020B0604020202020204" pitchFamily="34" charset="0"/>
                <a:sym typeface="Arial" panose="020B0604020202020204" pitchFamily="34" charset="0"/>
              </a:rPr>
              <a:t>Implements the SARIMA model to perform accurate time-series forecasting of crop prices.</a:t>
            </a:r>
          </a:p>
          <a:p>
            <a:pPr marL="0" lvl="0" indent="0">
              <a:spcBef>
                <a:spcPct val="0"/>
              </a:spcBef>
              <a:buChar char="•"/>
            </a:pPr>
            <a:r>
              <a:rPr lang="en-US" altLang="en-US" sz="2400" dirty="0">
                <a:cs typeface="Arial" panose="020B0604020202020204" pitchFamily="34" charset="0"/>
                <a:sym typeface="Arial" panose="020B0604020202020204" pitchFamily="34" charset="0"/>
              </a:rPr>
              <a:t>Analyzes historical data to capture trends, seasonality, and market fluctuations.</a:t>
            </a:r>
          </a:p>
          <a:p>
            <a:pPr marL="0" lvl="0" indent="0">
              <a:spcBef>
                <a:spcPct val="0"/>
              </a:spcBef>
              <a:buChar char="•"/>
            </a:pPr>
            <a:r>
              <a:rPr lang="en-US" altLang="en-US" sz="2400" dirty="0">
                <a:cs typeface="Arial" panose="020B0604020202020204" pitchFamily="34" charset="0"/>
                <a:sym typeface="Arial" panose="020B0604020202020204" pitchFamily="34" charset="0"/>
              </a:rPr>
              <a:t>Allows users to select crops, zones, and reporting centers via an interactive web interface.</a:t>
            </a:r>
          </a:p>
          <a:p>
            <a:pPr marL="0" lvl="0" indent="0">
              <a:spcBef>
                <a:spcPct val="0"/>
              </a:spcBef>
              <a:buChar char="•"/>
            </a:pPr>
            <a:r>
              <a:rPr lang="en-US" altLang="en-US" sz="2400" dirty="0">
                <a:cs typeface="Arial" panose="020B0604020202020204" pitchFamily="34" charset="0"/>
                <a:sym typeface="Arial" panose="020B0604020202020204" pitchFamily="34" charset="0"/>
              </a:rPr>
              <a:t>Processes and cleans datasets, handling missing values before forecasting.</a:t>
            </a:r>
          </a:p>
          <a:p>
            <a:pPr marL="0" lvl="0" indent="0">
              <a:spcBef>
                <a:spcPct val="0"/>
              </a:spcBef>
              <a:buChar char="•"/>
            </a:pPr>
            <a:r>
              <a:rPr lang="en-US" altLang="en-US" sz="2400" dirty="0">
                <a:cs typeface="Arial" panose="020B0604020202020204" pitchFamily="34" charset="0"/>
                <a:sym typeface="Arial" panose="020B0604020202020204" pitchFamily="34" charset="0"/>
              </a:rPr>
              <a:t>Displays predicted monthly prices for one year in both table and graph formats.</a:t>
            </a:r>
          </a:p>
          <a:p>
            <a:pPr marL="0" lvl="0" indent="0">
              <a:spcBef>
                <a:spcPct val="0"/>
              </a:spcBef>
              <a:buChar char="•"/>
            </a:pPr>
            <a:r>
              <a:rPr lang="en-US" altLang="en-US" sz="2400" dirty="0">
                <a:cs typeface="Arial" panose="020B0604020202020204" pitchFamily="34" charset="0"/>
                <a:sym typeface="Arial" panose="020B0604020202020204" pitchFamily="34" charset="0"/>
              </a:rPr>
              <a:t>Sends forecast reports to users via email for convenient access.</a:t>
            </a:r>
          </a:p>
          <a:p>
            <a:pPr marL="0" lvl="0" indent="0">
              <a:spcBef>
                <a:spcPct val="0"/>
              </a:spcBef>
              <a:buChar char="•"/>
            </a:pPr>
            <a:r>
              <a:rPr lang="en-US" altLang="en-US" sz="2400" dirty="0">
                <a:cs typeface="Arial" panose="020B0604020202020204" pitchFamily="34" charset="0"/>
                <a:sym typeface="Arial" panose="020B0604020202020204" pitchFamily="34" charset="0"/>
              </a:rPr>
              <a:t>Integrates soil and weather data to provide more context-aware predictions.</a:t>
            </a:r>
          </a:p>
          <a:p>
            <a:pPr marL="0" lvl="0" indent="0">
              <a:spcBef>
                <a:spcPct val="0"/>
              </a:spcBef>
              <a:buChar char="•"/>
            </a:pPr>
            <a:r>
              <a:rPr lang="en-US" altLang="en-US" sz="2400" dirty="0">
                <a:cs typeface="Arial" panose="020B0604020202020204" pitchFamily="34" charset="0"/>
                <a:sym typeface="Arial" panose="020B0604020202020204" pitchFamily="34" charset="0"/>
              </a:rPr>
              <a:t>Built using Python, Pandas, Statsmodels for modeling, and Flask for the frontend interface.</a:t>
            </a:r>
            <a:endParaRPr lang="en-US" altLang="en-US" sz="2400" dirty="0">
              <a:ea typeface="Arial" panose="020B0604020202020204" pitchFamily="34" charset="0"/>
              <a:sym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Bangalore</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Institute</a:t>
            </a: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5" normalizeH="0" baseline="0" noProof="0" dirty="0">
                <a:ln>
                  <a:noFill/>
                </a:ln>
                <a:solidFill>
                  <a:schemeClr val="bg1"/>
                </a:solidFill>
                <a:effectLst/>
                <a:uLnTx/>
                <a:uFillTx/>
                <a:latin typeface="Times New Roman" panose="02020603050405020304"/>
                <a:ea typeface="+mj-ea"/>
                <a:cs typeface="Times New Roman" panose="02020603050405020304"/>
              </a:rPr>
              <a:t>of</a:t>
            </a:r>
            <a:r>
              <a:rPr kumimoji="0" sz="2400" b="1" i="0" u="none" strike="noStrike" kern="0" cap="none" spc="-5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Technology</a:t>
            </a:r>
          </a:p>
        </p:txBody>
      </p:sp>
      <p:sp>
        <p:nvSpPr>
          <p:cNvPr id="3" name="object 3"/>
          <p:cNvSpPr txBox="1"/>
          <p:nvPr/>
        </p:nvSpPr>
        <p:spPr>
          <a:xfrm>
            <a:off x="3419475" y="334963"/>
            <a:ext cx="5353050" cy="593725"/>
          </a:xfrm>
          <a:prstGeom prst="rect">
            <a:avLst/>
          </a:prstGeom>
        </p:spPr>
        <p:txBody>
          <a:bodyPr lIns="0" tIns="12065" rIns="0" bIns="0">
            <a:spAutoFit/>
          </a:bodyPr>
          <a:lstStyle/>
          <a:p>
            <a:pPr marL="949325" marR="0" defTabSz="914400" eaLnBrk="1" fontAlgn="auto" hangingPunct="1">
              <a:lnSpc>
                <a:spcPts val="1760"/>
              </a:lnSpc>
              <a:spcBef>
                <a:spcPts val="95"/>
              </a:spcBef>
              <a:spcAft>
                <a:spcPts val="0"/>
              </a:spcAft>
              <a:buClrTx/>
              <a:buSzTx/>
              <a:buFontTx/>
              <a:buNone/>
              <a:defRPr/>
            </a:pPr>
            <a:r>
              <a:rPr kumimoji="0" sz="1600" kern="1200" cap="none" spc="-5" normalizeH="0" baseline="0" noProof="0" dirty="0">
                <a:solidFill>
                  <a:srgbClr val="FFFFFF"/>
                </a:solidFill>
                <a:latin typeface="Times New Roman" panose="02020603050405020304"/>
                <a:ea typeface="+mn-ea"/>
                <a:cs typeface="Times New Roman" panose="02020603050405020304"/>
              </a:rPr>
              <a:t>K.R. Road,</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110" normalizeH="0" baseline="0" noProof="0" dirty="0">
                <a:solidFill>
                  <a:srgbClr val="FFFFFF"/>
                </a:solidFill>
                <a:latin typeface="Times New Roman" panose="02020603050405020304"/>
                <a:ea typeface="+mn-ea"/>
                <a:cs typeface="Times New Roman" panose="02020603050405020304"/>
              </a:rPr>
              <a:t>V.V.</a:t>
            </a:r>
            <a:r>
              <a:rPr kumimoji="0" sz="1600" kern="1200" cap="none" spc="-5" normalizeH="0" baseline="0" noProof="0" dirty="0">
                <a:solidFill>
                  <a:srgbClr val="FFFFFF"/>
                </a:solidFill>
                <a:latin typeface="Times New Roman" panose="02020603050405020304"/>
                <a:ea typeface="+mn-ea"/>
                <a:cs typeface="Times New Roman" panose="02020603050405020304"/>
              </a:rPr>
              <a:t> Pura,</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5" normalizeH="0" baseline="0" noProof="0" dirty="0">
                <a:solidFill>
                  <a:srgbClr val="FFFFFF"/>
                </a:solidFill>
                <a:latin typeface="Times New Roman" panose="02020603050405020304"/>
                <a:ea typeface="+mn-ea"/>
                <a:cs typeface="Times New Roman" panose="02020603050405020304"/>
              </a:rPr>
              <a:t>Bengaluru.-560004.</a:t>
            </a:r>
            <a:endParaRPr kumimoji="0" sz="1600" kern="1200" cap="none" spc="0" normalizeH="0" baseline="0" noProof="0">
              <a:latin typeface="Times New Roman" panose="02020603050405020304"/>
              <a:ea typeface="+mn-ea"/>
              <a:cs typeface="Times New Roman" panose="02020603050405020304"/>
            </a:endParaRPr>
          </a:p>
          <a:p>
            <a:pPr marL="12700" marR="0" defTabSz="914400" eaLnBrk="1" fontAlgn="auto" hangingPunct="1">
              <a:lnSpc>
                <a:spcPts val="2720"/>
              </a:lnSpc>
              <a:spcBef>
                <a:spcPts val="0"/>
              </a:spcBef>
              <a:spcAft>
                <a:spcPts val="0"/>
              </a:spcAft>
              <a:buClrTx/>
              <a:buSzTx/>
              <a:buFontTx/>
              <a:buNone/>
              <a:defRPr/>
            </a:pPr>
            <a:r>
              <a:rPr kumimoji="0" sz="2400" b="1" kern="1200" cap="none" spc="0" normalizeH="0" baseline="0" noProof="0" dirty="0">
                <a:solidFill>
                  <a:srgbClr val="FFFFFF"/>
                </a:solidFill>
                <a:latin typeface="Times New Roman" panose="02020603050405020304"/>
                <a:ea typeface="+mn-ea"/>
                <a:cs typeface="Times New Roman" panose="02020603050405020304"/>
              </a:rPr>
              <a:t>D</a:t>
            </a:r>
            <a:r>
              <a:rPr kumimoji="0" sz="2000" b="1" kern="1200" cap="none" spc="0" normalizeH="0" baseline="0" noProof="0" dirty="0">
                <a:solidFill>
                  <a:srgbClr val="FFFFFF"/>
                </a:solidFill>
                <a:latin typeface="Times New Roman" panose="02020603050405020304"/>
                <a:ea typeface="+mn-ea"/>
                <a:cs typeface="Times New Roman" panose="02020603050405020304"/>
              </a:rPr>
              <a:t>epartment</a:t>
            </a:r>
            <a:r>
              <a:rPr kumimoji="0" sz="2000" b="1" kern="1200" cap="none" spc="-4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of</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Computer</a:t>
            </a:r>
            <a:r>
              <a:rPr kumimoji="0" sz="2000" b="1" kern="1200" cap="none" spc="-8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Science</a:t>
            </a:r>
            <a:r>
              <a:rPr kumimoji="0" sz="2000" b="1" kern="1200" cap="none" spc="-1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&amp;</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Engineering</a:t>
            </a:r>
            <a:endParaRPr kumimoji="0" sz="2000" kern="1200" cap="none" spc="0" normalizeH="0" baseline="0" noProof="0">
              <a:latin typeface="Times New Roman" panose="02020603050405020304"/>
              <a:ea typeface="+mn-ea"/>
              <a:cs typeface="Times New Roman" panose="02020603050405020304"/>
            </a:endParaRPr>
          </a:p>
        </p:txBody>
      </p:sp>
      <p:grpSp>
        <p:nvGrpSpPr>
          <p:cNvPr id="9220" name="object 4"/>
          <p:cNvGrpSpPr/>
          <p:nvPr/>
        </p:nvGrpSpPr>
        <p:grpSpPr>
          <a:xfrm>
            <a:off x="203200" y="0"/>
            <a:ext cx="11891963" cy="1193800"/>
            <a:chOff x="203200" y="0"/>
            <a:chExt cx="11892280" cy="1193165"/>
          </a:xfrm>
        </p:grpSpPr>
        <p:pic>
          <p:nvPicPr>
            <p:cNvPr id="9223" name="object 5"/>
            <p:cNvPicPr>
              <a:picLocks noChangeAspect="1"/>
            </p:cNvPicPr>
            <p:nvPr/>
          </p:nvPicPr>
          <p:blipFill>
            <a:blip r:embed="rId2"/>
            <a:stretch>
              <a:fillRect/>
            </a:stretch>
          </p:blipFill>
          <p:spPr>
            <a:xfrm>
              <a:off x="203200" y="0"/>
              <a:ext cx="1441958" cy="1192657"/>
            </a:xfrm>
            <a:prstGeom prst="rect">
              <a:avLst/>
            </a:prstGeom>
            <a:noFill/>
            <a:ln w="9525">
              <a:noFill/>
            </a:ln>
          </p:spPr>
        </p:pic>
        <p:pic>
          <p:nvPicPr>
            <p:cNvPr id="9224" name="object 6"/>
            <p:cNvPicPr>
              <a:picLocks noChangeAspect="1"/>
            </p:cNvPicPr>
            <p:nvPr/>
          </p:nvPicPr>
          <p:blipFill>
            <a:blip r:embed="rId3"/>
            <a:stretch>
              <a:fillRect/>
            </a:stretch>
          </p:blipFill>
          <p:spPr>
            <a:xfrm>
              <a:off x="10653521" y="70713"/>
              <a:ext cx="1441957" cy="994054"/>
            </a:xfrm>
            <a:prstGeom prst="rect">
              <a:avLst/>
            </a:prstGeom>
            <a:noFill/>
            <a:ln w="9525">
              <a:noFill/>
            </a:ln>
          </p:spPr>
        </p:pic>
      </p:grpSp>
      <p:sp>
        <p:nvSpPr>
          <p:cNvPr id="9" name="Google Shape;172;p8"/>
          <p:cNvSpPr txBox="1"/>
          <p:nvPr/>
        </p:nvSpPr>
        <p:spPr bwMode="auto">
          <a:xfrm>
            <a:off x="687388" y="928688"/>
            <a:ext cx="10810875" cy="803275"/>
          </a:xfrm>
          <a:prstGeom prst="rect">
            <a:avLst/>
          </a:prstGeom>
          <a:noFill/>
          <a:ln>
            <a:noFill/>
          </a:ln>
        </p:spPr>
        <p:txBody>
          <a:bodyPr spcFirstLastPara="1" lIns="91425" tIns="45700" rIns="91425" bIns="45700" anchor="ctr"/>
          <a:lst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stStyle>
          <a:p>
            <a:pPr marL="0" lvl="0" indent="0" algn="ctr" eaLnBrk="1" hangingPunct="1">
              <a:lnSpc>
                <a:spcPct val="132000"/>
              </a:lnSpc>
              <a:spcBef>
                <a:spcPts val="740"/>
              </a:spcBef>
              <a:buClr>
                <a:srgbClr val="00B050"/>
              </a:buClr>
              <a:buFont typeface="Lucida Sans" panose="020B0602030504020204" pitchFamily="34" charset="0"/>
              <a:buNone/>
            </a:pPr>
            <a:r>
              <a:rPr lang="en-US" altLang="en-US" sz="2800" b="1" dirty="0">
                <a:solidFill>
                  <a:srgbClr val="000000"/>
                </a:solidFill>
                <a:latin typeface="Times New Roman" panose="02020603050405020304" pitchFamily="18" charset="0"/>
                <a:cs typeface="Arial" panose="020B0604020202020204" pitchFamily="34" charset="0"/>
                <a:sym typeface="Times New Roman" panose="02020603050405020304" pitchFamily="18" charset="0"/>
              </a:rPr>
              <a:t>ARCHITECTURAL  DESIGN</a:t>
            </a:r>
            <a:endParaRPr lang="en-US" altLang="en-US" sz="2800" b="1" dirty="0">
              <a:solidFill>
                <a:srgbClr val="000000"/>
              </a:solidFill>
              <a:latin typeface="Times New Roman" panose="02020603050405020304" pitchFamily="18" charset="0"/>
              <a:ea typeface="Arial" panose="020B0604020202020204" pitchFamily="34" charset="0"/>
              <a:sym typeface="Times New Roman" panose="02020603050405020304" pitchFamily="18" charset="0"/>
            </a:endParaRPr>
          </a:p>
        </p:txBody>
      </p:sp>
      <p:sp>
        <p:nvSpPr>
          <p:cNvPr id="9222" name="Google Shape;171;p8"/>
          <p:cNvSpPr txBox="1"/>
          <p:nvPr/>
        </p:nvSpPr>
        <p:spPr>
          <a:xfrm>
            <a:off x="414338" y="1924050"/>
            <a:ext cx="11356975" cy="4105275"/>
          </a:xfrm>
          <a:prstGeom prst="rect">
            <a:avLst/>
          </a:prstGeom>
          <a:noFill/>
          <a:ln w="9525">
            <a:noFill/>
          </a:ln>
        </p:spPr>
        <p:txBody>
          <a:bodyPr lIns="91425" tIns="45700" rIns="91425" bIns="45700"/>
          <a:lst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stStyle>
          <a:p>
            <a:pPr marL="0" lvl="0" indent="0">
              <a:spcBef>
                <a:spcPct val="0"/>
              </a:spcBef>
              <a:buChar char="•"/>
            </a:pPr>
            <a:r>
              <a:rPr lang="en-US" altLang="en-US" sz="1900" b="1" dirty="0">
                <a:cs typeface="Arial" panose="020B0604020202020204" pitchFamily="34" charset="0"/>
                <a:sym typeface="Arial" panose="020B0604020202020204" pitchFamily="34" charset="0"/>
              </a:rPr>
              <a:t>User Interface (Frontend):</a:t>
            </a:r>
            <a:br>
              <a:rPr lang="en-US" altLang="en-US" sz="1900" dirty="0">
                <a:cs typeface="Arial" panose="020B0604020202020204" pitchFamily="34" charset="0"/>
                <a:sym typeface="Arial" panose="020B0604020202020204" pitchFamily="34" charset="0"/>
              </a:rPr>
            </a:br>
            <a:r>
              <a:rPr lang="en-US" altLang="en-US" sz="1900" dirty="0">
                <a:cs typeface="Arial" panose="020B0604020202020204" pitchFamily="34" charset="0"/>
                <a:sym typeface="Arial" panose="020B0604020202020204" pitchFamily="34" charset="0"/>
              </a:rPr>
              <a:t>Developed using Flask, offering dropdowns for crop, zone, and region selection..</a:t>
            </a:r>
          </a:p>
          <a:p>
            <a:pPr marL="0" lvl="0" indent="0">
              <a:spcBef>
                <a:spcPct val="0"/>
              </a:spcBef>
              <a:buChar char="•"/>
            </a:pPr>
            <a:r>
              <a:rPr lang="en-US" altLang="en-US" sz="1900" b="1" dirty="0">
                <a:cs typeface="Arial" panose="020B0604020202020204" pitchFamily="34" charset="0"/>
                <a:sym typeface="Arial" panose="020B0604020202020204" pitchFamily="34" charset="0"/>
              </a:rPr>
              <a:t>Processing Module:</a:t>
            </a:r>
            <a:br>
              <a:rPr lang="en-US" altLang="en-US" sz="1900" dirty="0">
                <a:cs typeface="Arial" panose="020B0604020202020204" pitchFamily="34" charset="0"/>
                <a:sym typeface="Arial" panose="020B0604020202020204" pitchFamily="34" charset="0"/>
              </a:rPr>
            </a:br>
            <a:r>
              <a:rPr lang="en-US" altLang="en-US" sz="1900" dirty="0">
                <a:cs typeface="Arial" panose="020B0604020202020204" pitchFamily="34" charset="0"/>
                <a:sym typeface="Arial" panose="020B0604020202020204" pitchFamily="34" charset="0"/>
              </a:rPr>
              <a:t>Handles data cleaning, monthly aggregation, and interpolation of missing values.</a:t>
            </a:r>
          </a:p>
          <a:p>
            <a:pPr marL="0" lvl="0" indent="0">
              <a:spcBef>
                <a:spcPct val="0"/>
              </a:spcBef>
              <a:buChar char="•"/>
            </a:pPr>
            <a:r>
              <a:rPr lang="en-US" altLang="en-US" sz="1900" b="1" dirty="0">
                <a:cs typeface="Arial" panose="020B0604020202020204" pitchFamily="34" charset="0"/>
                <a:sym typeface="Arial" panose="020B0604020202020204" pitchFamily="34" charset="0"/>
              </a:rPr>
              <a:t>Prediction Engine:</a:t>
            </a:r>
            <a:br>
              <a:rPr lang="en-US" altLang="en-US" sz="1900" dirty="0">
                <a:cs typeface="Arial" panose="020B0604020202020204" pitchFamily="34" charset="0"/>
                <a:sym typeface="Arial" panose="020B0604020202020204" pitchFamily="34" charset="0"/>
              </a:rPr>
            </a:br>
            <a:r>
              <a:rPr lang="en-US" altLang="en-US" sz="1900" dirty="0">
                <a:cs typeface="Arial" panose="020B0604020202020204" pitchFamily="34" charset="0"/>
                <a:sym typeface="Arial" panose="020B0604020202020204" pitchFamily="34" charset="0"/>
              </a:rPr>
              <a:t>Uses the SARIMA model to forecast crop prices for a selected period (1 year).</a:t>
            </a:r>
          </a:p>
          <a:p>
            <a:pPr marL="0" lvl="0" indent="0">
              <a:spcBef>
                <a:spcPct val="0"/>
              </a:spcBef>
              <a:buChar char="•"/>
            </a:pPr>
            <a:r>
              <a:rPr lang="en-US" altLang="en-US" sz="1900" b="1" dirty="0">
                <a:cs typeface="Arial" panose="020B0604020202020204" pitchFamily="34" charset="0"/>
                <a:sym typeface="Arial" panose="020B0604020202020204" pitchFamily="34" charset="0"/>
              </a:rPr>
              <a:t>Results Module:</a:t>
            </a:r>
            <a:br>
              <a:rPr lang="en-US" altLang="en-US" sz="1900" dirty="0">
                <a:cs typeface="Arial" panose="020B0604020202020204" pitchFamily="34" charset="0"/>
                <a:sym typeface="Arial" panose="020B0604020202020204" pitchFamily="34" charset="0"/>
              </a:rPr>
            </a:br>
            <a:r>
              <a:rPr lang="en-US" altLang="en-US" sz="1900" dirty="0">
                <a:cs typeface="Arial" panose="020B0604020202020204" pitchFamily="34" charset="0"/>
                <a:sym typeface="Arial" panose="020B0604020202020204" pitchFamily="34" charset="0"/>
              </a:rPr>
              <a:t>Displays predicted prices in tabular and graphical formats for better analysis.</a:t>
            </a:r>
          </a:p>
          <a:p>
            <a:pPr marL="0" lvl="0" indent="0">
              <a:spcBef>
                <a:spcPct val="0"/>
              </a:spcBef>
              <a:buChar char="•"/>
            </a:pPr>
            <a:r>
              <a:rPr lang="en-US" altLang="en-US" sz="1900" b="1" dirty="0">
                <a:cs typeface="Arial" panose="020B0604020202020204" pitchFamily="34" charset="0"/>
                <a:sym typeface="Arial" panose="020B0604020202020204" pitchFamily="34" charset="0"/>
              </a:rPr>
              <a:t>Email Report System:</a:t>
            </a:r>
            <a:br>
              <a:rPr lang="en-US" altLang="en-US" sz="1900" dirty="0">
                <a:cs typeface="Arial" panose="020B0604020202020204" pitchFamily="34" charset="0"/>
                <a:sym typeface="Arial" panose="020B0604020202020204" pitchFamily="34" charset="0"/>
              </a:rPr>
            </a:br>
            <a:r>
              <a:rPr lang="en-US" altLang="en-US" sz="1900" dirty="0">
                <a:cs typeface="Arial" panose="020B0604020202020204" pitchFamily="34" charset="0"/>
                <a:sym typeface="Arial" panose="020B0604020202020204" pitchFamily="34" charset="0"/>
              </a:rPr>
              <a:t>Generates and sends prediction reports to the user’s registered email.</a:t>
            </a:r>
            <a:endParaRPr lang="en-US" altLang="en-US" sz="1900" dirty="0">
              <a:ea typeface="Arial" panose="020B0604020202020204" pitchFamily="34" charset="0"/>
              <a:sym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Bangalore</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Institute</a:t>
            </a: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5" normalizeH="0" baseline="0" noProof="0" dirty="0">
                <a:ln>
                  <a:noFill/>
                </a:ln>
                <a:solidFill>
                  <a:schemeClr val="bg1"/>
                </a:solidFill>
                <a:effectLst/>
                <a:uLnTx/>
                <a:uFillTx/>
                <a:latin typeface="Times New Roman" panose="02020603050405020304"/>
                <a:ea typeface="+mj-ea"/>
                <a:cs typeface="Times New Roman" panose="02020603050405020304"/>
              </a:rPr>
              <a:t>of</a:t>
            </a:r>
            <a:r>
              <a:rPr kumimoji="0" sz="2400" b="1" i="0" u="none" strike="noStrike" kern="0" cap="none" spc="-5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Technology</a:t>
            </a:r>
          </a:p>
        </p:txBody>
      </p:sp>
      <p:sp>
        <p:nvSpPr>
          <p:cNvPr id="3" name="object 3"/>
          <p:cNvSpPr txBox="1"/>
          <p:nvPr/>
        </p:nvSpPr>
        <p:spPr>
          <a:xfrm>
            <a:off x="3419475" y="334963"/>
            <a:ext cx="5353050" cy="593725"/>
          </a:xfrm>
          <a:prstGeom prst="rect">
            <a:avLst/>
          </a:prstGeom>
        </p:spPr>
        <p:txBody>
          <a:bodyPr lIns="0" tIns="12065" rIns="0" bIns="0">
            <a:spAutoFit/>
          </a:bodyPr>
          <a:lstStyle/>
          <a:p>
            <a:pPr marL="949325" marR="0" defTabSz="914400" eaLnBrk="1" fontAlgn="auto" hangingPunct="1">
              <a:lnSpc>
                <a:spcPts val="1760"/>
              </a:lnSpc>
              <a:spcBef>
                <a:spcPts val="95"/>
              </a:spcBef>
              <a:spcAft>
                <a:spcPts val="0"/>
              </a:spcAft>
              <a:buClrTx/>
              <a:buSzTx/>
              <a:buFontTx/>
              <a:buNone/>
              <a:defRPr/>
            </a:pPr>
            <a:r>
              <a:rPr kumimoji="0" sz="1600" kern="1200" cap="none" spc="-5" normalizeH="0" baseline="0" noProof="0" dirty="0">
                <a:solidFill>
                  <a:srgbClr val="FFFFFF"/>
                </a:solidFill>
                <a:latin typeface="Times New Roman" panose="02020603050405020304"/>
                <a:ea typeface="+mn-ea"/>
                <a:cs typeface="Times New Roman" panose="02020603050405020304"/>
              </a:rPr>
              <a:t>K.R. Road,</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110" normalizeH="0" baseline="0" noProof="0" dirty="0">
                <a:solidFill>
                  <a:srgbClr val="FFFFFF"/>
                </a:solidFill>
                <a:latin typeface="Times New Roman" panose="02020603050405020304"/>
                <a:ea typeface="+mn-ea"/>
                <a:cs typeface="Times New Roman" panose="02020603050405020304"/>
              </a:rPr>
              <a:t>V.V.</a:t>
            </a:r>
            <a:r>
              <a:rPr kumimoji="0" sz="1600" kern="1200" cap="none" spc="-5" normalizeH="0" baseline="0" noProof="0" dirty="0">
                <a:solidFill>
                  <a:srgbClr val="FFFFFF"/>
                </a:solidFill>
                <a:latin typeface="Times New Roman" panose="02020603050405020304"/>
                <a:ea typeface="+mn-ea"/>
                <a:cs typeface="Times New Roman" panose="02020603050405020304"/>
              </a:rPr>
              <a:t> Pura,</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5" normalizeH="0" baseline="0" noProof="0" dirty="0">
                <a:solidFill>
                  <a:srgbClr val="FFFFFF"/>
                </a:solidFill>
                <a:latin typeface="Times New Roman" panose="02020603050405020304"/>
                <a:ea typeface="+mn-ea"/>
                <a:cs typeface="Times New Roman" panose="02020603050405020304"/>
              </a:rPr>
              <a:t>Bengaluru.-560004.</a:t>
            </a:r>
            <a:endParaRPr kumimoji="0" sz="1600" kern="1200" cap="none" spc="0" normalizeH="0" baseline="0" noProof="0">
              <a:latin typeface="Times New Roman" panose="02020603050405020304"/>
              <a:ea typeface="+mn-ea"/>
              <a:cs typeface="Times New Roman" panose="02020603050405020304"/>
            </a:endParaRPr>
          </a:p>
          <a:p>
            <a:pPr marL="12700" marR="0" defTabSz="914400" eaLnBrk="1" fontAlgn="auto" hangingPunct="1">
              <a:lnSpc>
                <a:spcPts val="2720"/>
              </a:lnSpc>
              <a:spcBef>
                <a:spcPts val="0"/>
              </a:spcBef>
              <a:spcAft>
                <a:spcPts val="0"/>
              </a:spcAft>
              <a:buClrTx/>
              <a:buSzTx/>
              <a:buFontTx/>
              <a:buNone/>
              <a:defRPr/>
            </a:pPr>
            <a:r>
              <a:rPr kumimoji="0" sz="2400" b="1" kern="1200" cap="none" spc="0" normalizeH="0" baseline="0" noProof="0" dirty="0">
                <a:solidFill>
                  <a:srgbClr val="FFFFFF"/>
                </a:solidFill>
                <a:latin typeface="Times New Roman" panose="02020603050405020304"/>
                <a:ea typeface="+mn-ea"/>
                <a:cs typeface="Times New Roman" panose="02020603050405020304"/>
              </a:rPr>
              <a:t>D</a:t>
            </a:r>
            <a:r>
              <a:rPr kumimoji="0" sz="2000" b="1" kern="1200" cap="none" spc="0" normalizeH="0" baseline="0" noProof="0" dirty="0">
                <a:solidFill>
                  <a:srgbClr val="FFFFFF"/>
                </a:solidFill>
                <a:latin typeface="Times New Roman" panose="02020603050405020304"/>
                <a:ea typeface="+mn-ea"/>
                <a:cs typeface="Times New Roman" panose="02020603050405020304"/>
              </a:rPr>
              <a:t>epartment</a:t>
            </a:r>
            <a:r>
              <a:rPr kumimoji="0" sz="2000" b="1" kern="1200" cap="none" spc="-4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of</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Computer</a:t>
            </a:r>
            <a:r>
              <a:rPr kumimoji="0" sz="2000" b="1" kern="1200" cap="none" spc="-8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Science</a:t>
            </a:r>
            <a:r>
              <a:rPr kumimoji="0" sz="2000" b="1" kern="1200" cap="none" spc="-1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&amp;</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Engineering</a:t>
            </a:r>
            <a:endParaRPr kumimoji="0" sz="2000" kern="1200" cap="none" spc="0" normalizeH="0" baseline="0" noProof="0">
              <a:latin typeface="Times New Roman" panose="02020603050405020304"/>
              <a:ea typeface="+mn-ea"/>
              <a:cs typeface="Times New Roman" panose="02020603050405020304"/>
            </a:endParaRPr>
          </a:p>
        </p:txBody>
      </p:sp>
      <p:grpSp>
        <p:nvGrpSpPr>
          <p:cNvPr id="10244" name="object 4"/>
          <p:cNvGrpSpPr/>
          <p:nvPr/>
        </p:nvGrpSpPr>
        <p:grpSpPr>
          <a:xfrm>
            <a:off x="203200" y="0"/>
            <a:ext cx="11891963" cy="1193800"/>
            <a:chOff x="203200" y="0"/>
            <a:chExt cx="11892280" cy="1193165"/>
          </a:xfrm>
        </p:grpSpPr>
        <p:pic>
          <p:nvPicPr>
            <p:cNvPr id="10247" name="object 5"/>
            <p:cNvPicPr>
              <a:picLocks noChangeAspect="1"/>
            </p:cNvPicPr>
            <p:nvPr/>
          </p:nvPicPr>
          <p:blipFill>
            <a:blip r:embed="rId2"/>
            <a:stretch>
              <a:fillRect/>
            </a:stretch>
          </p:blipFill>
          <p:spPr>
            <a:xfrm>
              <a:off x="203200" y="0"/>
              <a:ext cx="1441958" cy="1192657"/>
            </a:xfrm>
            <a:prstGeom prst="rect">
              <a:avLst/>
            </a:prstGeom>
            <a:noFill/>
            <a:ln w="9525">
              <a:noFill/>
            </a:ln>
          </p:spPr>
        </p:pic>
        <p:pic>
          <p:nvPicPr>
            <p:cNvPr id="10248" name="object 6"/>
            <p:cNvPicPr>
              <a:picLocks noChangeAspect="1"/>
            </p:cNvPicPr>
            <p:nvPr/>
          </p:nvPicPr>
          <p:blipFill>
            <a:blip r:embed="rId3"/>
            <a:stretch>
              <a:fillRect/>
            </a:stretch>
          </p:blipFill>
          <p:spPr>
            <a:xfrm>
              <a:off x="10653521" y="70713"/>
              <a:ext cx="1441957" cy="994054"/>
            </a:xfrm>
            <a:prstGeom prst="rect">
              <a:avLst/>
            </a:prstGeom>
            <a:noFill/>
            <a:ln w="9525">
              <a:noFill/>
            </a:ln>
          </p:spPr>
        </p:pic>
      </p:grpSp>
      <p:sp>
        <p:nvSpPr>
          <p:cNvPr id="9" name="Google Shape;172;p8"/>
          <p:cNvSpPr txBox="1"/>
          <p:nvPr/>
        </p:nvSpPr>
        <p:spPr bwMode="auto">
          <a:xfrm>
            <a:off x="563563" y="1023938"/>
            <a:ext cx="10810875" cy="803275"/>
          </a:xfrm>
          <a:prstGeom prst="rect">
            <a:avLst/>
          </a:prstGeom>
          <a:noFill/>
          <a:ln>
            <a:noFill/>
          </a:ln>
        </p:spPr>
        <p:txBody>
          <a:bodyPr spcFirstLastPara="1" lIns="91425" tIns="45700" rIns="91425" bIns="45700" anchor="ctr"/>
          <a:lst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stStyle>
          <a:p>
            <a:pPr marL="0" lvl="0" indent="0" algn="ctr" eaLnBrk="1" hangingPunct="1">
              <a:lnSpc>
                <a:spcPct val="132000"/>
              </a:lnSpc>
              <a:spcBef>
                <a:spcPts val="740"/>
              </a:spcBef>
              <a:buClr>
                <a:srgbClr val="00B050"/>
              </a:buClr>
              <a:buFont typeface="Lucida Sans" panose="020B0602030504020204" pitchFamily="34" charset="0"/>
              <a:buNone/>
            </a:pPr>
            <a:r>
              <a:rPr lang="en-US" altLang="en-US" sz="2800" b="1" dirty="0">
                <a:solidFill>
                  <a:srgbClr val="000000"/>
                </a:solidFill>
                <a:latin typeface="Times New Roman" panose="02020603050405020304" pitchFamily="18" charset="0"/>
                <a:cs typeface="Arial" panose="020B0604020202020204" pitchFamily="34" charset="0"/>
                <a:sym typeface="Times New Roman" panose="02020603050405020304" pitchFamily="18" charset="0"/>
              </a:rPr>
              <a:t>ARCHITECTURAL  DESIGN</a:t>
            </a:r>
            <a:endParaRPr lang="en-US" altLang="en-US" sz="2800" b="1" dirty="0">
              <a:solidFill>
                <a:srgbClr val="000000"/>
              </a:solidFill>
              <a:latin typeface="Times New Roman" panose="02020603050405020304" pitchFamily="18" charset="0"/>
              <a:ea typeface="Arial" panose="020B0604020202020204" pitchFamily="34" charset="0"/>
              <a:sym typeface="Times New Roman" panose="02020603050405020304" pitchFamily="18" charset="0"/>
            </a:endParaRPr>
          </a:p>
        </p:txBody>
      </p:sp>
      <p:pic>
        <p:nvPicPr>
          <p:cNvPr id="4" name="Picture 4"/>
          <p:cNvPicPr>
            <a:picLocks noChangeAspect="1" noChangeArrowheads="1"/>
          </p:cNvPicPr>
          <p:nvPr/>
        </p:nvPicPr>
        <p:blipFill>
          <a:blip r:embed="rId4"/>
          <a:srcRect/>
          <a:stretch>
            <a:fillRect/>
          </a:stretch>
        </p:blipFill>
        <p:spPr bwMode="auto">
          <a:xfrm>
            <a:off x="3429000" y="1825625"/>
            <a:ext cx="5867400" cy="41910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Bangalore</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Institute</a:t>
            </a: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5" normalizeH="0" baseline="0" noProof="0" dirty="0">
                <a:ln>
                  <a:noFill/>
                </a:ln>
                <a:solidFill>
                  <a:schemeClr val="bg1"/>
                </a:solidFill>
                <a:effectLst/>
                <a:uLnTx/>
                <a:uFillTx/>
                <a:latin typeface="Times New Roman" panose="02020603050405020304"/>
                <a:ea typeface="+mj-ea"/>
                <a:cs typeface="Times New Roman" panose="02020603050405020304"/>
              </a:rPr>
              <a:t>of</a:t>
            </a:r>
            <a:r>
              <a:rPr kumimoji="0" sz="2400" b="1" i="0" u="none" strike="noStrike" kern="0" cap="none" spc="-5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Technology</a:t>
            </a:r>
          </a:p>
        </p:txBody>
      </p:sp>
      <p:sp>
        <p:nvSpPr>
          <p:cNvPr id="3" name="object 3"/>
          <p:cNvSpPr txBox="1"/>
          <p:nvPr/>
        </p:nvSpPr>
        <p:spPr>
          <a:xfrm>
            <a:off x="3419475" y="334963"/>
            <a:ext cx="5353050" cy="593725"/>
          </a:xfrm>
          <a:prstGeom prst="rect">
            <a:avLst/>
          </a:prstGeom>
        </p:spPr>
        <p:txBody>
          <a:bodyPr lIns="0" tIns="12065" rIns="0" bIns="0">
            <a:spAutoFit/>
          </a:bodyPr>
          <a:lstStyle/>
          <a:p>
            <a:pPr marL="949325" marR="0" defTabSz="914400" eaLnBrk="1" fontAlgn="auto" hangingPunct="1">
              <a:lnSpc>
                <a:spcPts val="1760"/>
              </a:lnSpc>
              <a:spcBef>
                <a:spcPts val="95"/>
              </a:spcBef>
              <a:spcAft>
                <a:spcPts val="0"/>
              </a:spcAft>
              <a:buClrTx/>
              <a:buSzTx/>
              <a:buFontTx/>
              <a:buNone/>
              <a:defRPr/>
            </a:pPr>
            <a:r>
              <a:rPr kumimoji="0" sz="1600" kern="1200" cap="none" spc="-5" normalizeH="0" baseline="0" noProof="0" dirty="0">
                <a:solidFill>
                  <a:srgbClr val="FFFFFF"/>
                </a:solidFill>
                <a:latin typeface="Times New Roman" panose="02020603050405020304"/>
                <a:ea typeface="+mn-ea"/>
                <a:cs typeface="Times New Roman" panose="02020603050405020304"/>
              </a:rPr>
              <a:t>K.R. Road,</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110" normalizeH="0" baseline="0" noProof="0" dirty="0">
                <a:solidFill>
                  <a:srgbClr val="FFFFFF"/>
                </a:solidFill>
                <a:latin typeface="Times New Roman" panose="02020603050405020304"/>
                <a:ea typeface="+mn-ea"/>
                <a:cs typeface="Times New Roman" panose="02020603050405020304"/>
              </a:rPr>
              <a:t>V.V.</a:t>
            </a:r>
            <a:r>
              <a:rPr kumimoji="0" sz="1600" kern="1200" cap="none" spc="-5" normalizeH="0" baseline="0" noProof="0" dirty="0">
                <a:solidFill>
                  <a:srgbClr val="FFFFFF"/>
                </a:solidFill>
                <a:latin typeface="Times New Roman" panose="02020603050405020304"/>
                <a:ea typeface="+mn-ea"/>
                <a:cs typeface="Times New Roman" panose="02020603050405020304"/>
              </a:rPr>
              <a:t> Pura,</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5" normalizeH="0" baseline="0" noProof="0" dirty="0">
                <a:solidFill>
                  <a:srgbClr val="FFFFFF"/>
                </a:solidFill>
                <a:latin typeface="Times New Roman" panose="02020603050405020304"/>
                <a:ea typeface="+mn-ea"/>
                <a:cs typeface="Times New Roman" panose="02020603050405020304"/>
              </a:rPr>
              <a:t>Bengaluru.-560004.</a:t>
            </a:r>
            <a:endParaRPr kumimoji="0" sz="1600" kern="1200" cap="none" spc="0" normalizeH="0" baseline="0" noProof="0">
              <a:latin typeface="Times New Roman" panose="02020603050405020304"/>
              <a:ea typeface="+mn-ea"/>
              <a:cs typeface="Times New Roman" panose="02020603050405020304"/>
            </a:endParaRPr>
          </a:p>
          <a:p>
            <a:pPr marL="12700" marR="0" defTabSz="914400" eaLnBrk="1" fontAlgn="auto" hangingPunct="1">
              <a:lnSpc>
                <a:spcPts val="2720"/>
              </a:lnSpc>
              <a:spcBef>
                <a:spcPts val="0"/>
              </a:spcBef>
              <a:spcAft>
                <a:spcPts val="0"/>
              </a:spcAft>
              <a:buClrTx/>
              <a:buSzTx/>
              <a:buFontTx/>
              <a:buNone/>
              <a:defRPr/>
            </a:pPr>
            <a:r>
              <a:rPr kumimoji="0" sz="2400" b="1" kern="1200" cap="none" spc="0" normalizeH="0" baseline="0" noProof="0" dirty="0">
                <a:solidFill>
                  <a:srgbClr val="FFFFFF"/>
                </a:solidFill>
                <a:latin typeface="Times New Roman" panose="02020603050405020304"/>
                <a:ea typeface="+mn-ea"/>
                <a:cs typeface="Times New Roman" panose="02020603050405020304"/>
              </a:rPr>
              <a:t>D</a:t>
            </a:r>
            <a:r>
              <a:rPr kumimoji="0" sz="2000" b="1" kern="1200" cap="none" spc="0" normalizeH="0" baseline="0" noProof="0" dirty="0">
                <a:solidFill>
                  <a:srgbClr val="FFFFFF"/>
                </a:solidFill>
                <a:latin typeface="Times New Roman" panose="02020603050405020304"/>
                <a:ea typeface="+mn-ea"/>
                <a:cs typeface="Times New Roman" panose="02020603050405020304"/>
              </a:rPr>
              <a:t>epartment</a:t>
            </a:r>
            <a:r>
              <a:rPr kumimoji="0" sz="2000" b="1" kern="1200" cap="none" spc="-4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of</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Computer</a:t>
            </a:r>
            <a:r>
              <a:rPr kumimoji="0" sz="2000" b="1" kern="1200" cap="none" spc="-8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Science</a:t>
            </a:r>
            <a:r>
              <a:rPr kumimoji="0" sz="2000" b="1" kern="1200" cap="none" spc="-1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&amp;</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Engineering</a:t>
            </a:r>
            <a:endParaRPr kumimoji="0" sz="2000" kern="1200" cap="none" spc="0" normalizeH="0" baseline="0" noProof="0">
              <a:latin typeface="Times New Roman" panose="02020603050405020304"/>
              <a:ea typeface="+mn-ea"/>
              <a:cs typeface="Times New Roman" panose="02020603050405020304"/>
            </a:endParaRPr>
          </a:p>
        </p:txBody>
      </p:sp>
      <p:grpSp>
        <p:nvGrpSpPr>
          <p:cNvPr id="11268" name="object 4"/>
          <p:cNvGrpSpPr/>
          <p:nvPr/>
        </p:nvGrpSpPr>
        <p:grpSpPr>
          <a:xfrm>
            <a:off x="203200" y="0"/>
            <a:ext cx="11891963" cy="1193800"/>
            <a:chOff x="203200" y="0"/>
            <a:chExt cx="11892280" cy="1193165"/>
          </a:xfrm>
        </p:grpSpPr>
        <p:pic>
          <p:nvPicPr>
            <p:cNvPr id="11298" name="object 5"/>
            <p:cNvPicPr>
              <a:picLocks noChangeAspect="1"/>
            </p:cNvPicPr>
            <p:nvPr/>
          </p:nvPicPr>
          <p:blipFill>
            <a:blip r:embed="rId2"/>
            <a:stretch>
              <a:fillRect/>
            </a:stretch>
          </p:blipFill>
          <p:spPr>
            <a:xfrm>
              <a:off x="203200" y="0"/>
              <a:ext cx="1441958" cy="1192657"/>
            </a:xfrm>
            <a:prstGeom prst="rect">
              <a:avLst/>
            </a:prstGeom>
            <a:noFill/>
            <a:ln w="9525">
              <a:noFill/>
            </a:ln>
          </p:spPr>
        </p:pic>
        <p:pic>
          <p:nvPicPr>
            <p:cNvPr id="11299" name="object 6"/>
            <p:cNvPicPr>
              <a:picLocks noChangeAspect="1"/>
            </p:cNvPicPr>
            <p:nvPr/>
          </p:nvPicPr>
          <p:blipFill>
            <a:blip r:embed="rId3"/>
            <a:stretch>
              <a:fillRect/>
            </a:stretch>
          </p:blipFill>
          <p:spPr>
            <a:xfrm>
              <a:off x="10653521" y="70713"/>
              <a:ext cx="1441957" cy="994054"/>
            </a:xfrm>
            <a:prstGeom prst="rect">
              <a:avLst/>
            </a:prstGeom>
            <a:noFill/>
            <a:ln w="9525">
              <a:noFill/>
            </a:ln>
          </p:spPr>
        </p:pic>
      </p:grpSp>
      <p:sp>
        <p:nvSpPr>
          <p:cNvPr id="11269" name="Google Shape;172;p8"/>
          <p:cNvSpPr txBox="1"/>
          <p:nvPr/>
        </p:nvSpPr>
        <p:spPr>
          <a:xfrm>
            <a:off x="688975" y="1136650"/>
            <a:ext cx="10810875" cy="803275"/>
          </a:xfrm>
          <a:prstGeom prst="rect">
            <a:avLst/>
          </a:prstGeom>
          <a:noFill/>
          <a:ln w="9525">
            <a:noFill/>
          </a:ln>
        </p:spPr>
        <p:txBody>
          <a:bodyPr lIns="91425" tIns="45700" rIns="91425" bIns="45700" anchor="ctr" anchorCtr="0"/>
          <a:lst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stStyle>
          <a:p>
            <a:pPr lvl="1" algn="ctr">
              <a:lnSpc>
                <a:spcPct val="115000"/>
              </a:lnSpc>
              <a:spcBef>
                <a:spcPct val="0"/>
              </a:spcBef>
              <a:buClr>
                <a:srgbClr val="000000"/>
              </a:buClr>
              <a:buNone/>
            </a:pPr>
            <a:r>
              <a:rPr lang="en-US" altLang="en-US" sz="2800" b="1" dirty="0">
                <a:solidFill>
                  <a:srgbClr val="252525"/>
                </a:solidFill>
                <a:latin typeface="Times New Roman" panose="02020603050405020304" pitchFamily="18" charset="0"/>
                <a:cs typeface="Arial" panose="020B0604020202020204" pitchFamily="34" charset="0"/>
                <a:sym typeface="Times New Roman" panose="02020603050405020304" pitchFamily="18" charset="0"/>
              </a:rPr>
              <a:t>MODULE DECOMPOSITION/DESCRIPTION</a:t>
            </a:r>
            <a:endParaRPr lang="en-US" altLang="en-US" sz="2800" b="1" dirty="0">
              <a:solidFill>
                <a:srgbClr val="252525"/>
              </a:solidFill>
              <a:latin typeface="Times New Roman" panose="02020603050405020304" pitchFamily="18" charset="0"/>
              <a:ea typeface="Arial" panose="020B0604020202020204" pitchFamily="34" charset="0"/>
              <a:sym typeface="Times New Roman" panose="02020603050405020304" pitchFamily="18" charset="0"/>
            </a:endParaRPr>
          </a:p>
        </p:txBody>
      </p:sp>
      <p:graphicFrame>
        <p:nvGraphicFramePr>
          <p:cNvPr id="11270" name="Table 11269"/>
          <p:cNvGraphicFramePr/>
          <p:nvPr/>
        </p:nvGraphicFramePr>
        <p:xfrm>
          <a:off x="1752600" y="2009775"/>
          <a:ext cx="9525000" cy="4059238"/>
        </p:xfrm>
        <a:graphic>
          <a:graphicData uri="http://schemas.openxmlformats.org/drawingml/2006/table">
            <a:tbl>
              <a:tblPr/>
              <a:tblGrid>
                <a:gridCol w="4762500">
                  <a:extLst>
                    <a:ext uri="{9D8B030D-6E8A-4147-A177-3AD203B41FA5}">
                      <a16:colId xmlns:a16="http://schemas.microsoft.com/office/drawing/2014/main" val="20000"/>
                    </a:ext>
                  </a:extLst>
                </a:gridCol>
                <a:gridCol w="4762500">
                  <a:extLst>
                    <a:ext uri="{9D8B030D-6E8A-4147-A177-3AD203B41FA5}">
                      <a16:colId xmlns:a16="http://schemas.microsoft.com/office/drawing/2014/main" val="20001"/>
                    </a:ext>
                  </a:extLst>
                </a:gridCol>
              </a:tblGrid>
              <a:tr h="3206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eaLnBrk="1" hangingPunct="1">
                        <a:buNone/>
                      </a:pPr>
                      <a:r>
                        <a:rPr lang="en-IN" altLang="x-none" b="1" u="sng" dirty="0">
                          <a:solidFill>
                            <a:srgbClr val="000000"/>
                          </a:solidFill>
                          <a:latin typeface="Calibri" panose="020F0502020204030204" pitchFamily="34" charset="0"/>
                        </a:rPr>
                        <a:t>Module Name</a:t>
                      </a:r>
                      <a:endParaRPr lang="en-IN" altLang="x-none" u="sng" dirty="0">
                        <a:solidFill>
                          <a:srgbClr val="000000"/>
                        </a:solidFill>
                        <a:latin typeface="Calibri" panose="020F0502020204030204" pitchFamily="34" charset="0"/>
                      </a:endParaRPr>
                    </a:p>
                  </a:txBody>
                  <a:tcPr marL="46337" marR="46337" marT="23172" marB="23172" anchor="ctr">
                    <a:lnL w="12700" cap="flat" cmpd="sng">
                      <a:solidFill>
                        <a:schemeClr val="accent1"/>
                      </a:solidFill>
                      <a:prstDash val="solid"/>
                      <a:headEnd type="none" w="med" len="med"/>
                      <a:tailEnd type="none" w="med" len="med"/>
                    </a:lnL>
                    <a:lnR>
                      <a:noFill/>
                    </a:lnR>
                    <a:lnT w="12700" cap="flat" cmpd="sng">
                      <a:solidFill>
                        <a:schemeClr val="accent1"/>
                      </a:solidFill>
                      <a:prstDash val="solid"/>
                      <a:headEnd type="none" w="med" len="med"/>
                      <a:tailEnd type="none" w="med" len="med"/>
                    </a:lnT>
                    <a:lnB w="12700" cap="flat" cmpd="sng">
                      <a:solidFill>
                        <a:schemeClr val="accent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eaLnBrk="1" hangingPunct="1">
                        <a:buNone/>
                      </a:pPr>
                      <a:r>
                        <a:rPr lang="en-IN" altLang="x-none" b="1" u="sng" dirty="0">
                          <a:solidFill>
                            <a:srgbClr val="000000"/>
                          </a:solidFill>
                          <a:latin typeface="Calibri" panose="020F0502020204030204" pitchFamily="34" charset="0"/>
                        </a:rPr>
                        <a:t>Description</a:t>
                      </a:r>
                      <a:endParaRPr lang="en-IN" altLang="x-none" u="sng" dirty="0">
                        <a:solidFill>
                          <a:srgbClr val="000000"/>
                        </a:solidFill>
                        <a:latin typeface="Calibri" panose="020F0502020204030204" pitchFamily="34" charset="0"/>
                      </a:endParaRPr>
                    </a:p>
                  </a:txBody>
                  <a:tcPr marL="46337" marR="46337" marT="23172" marB="23172" anchor="ctr">
                    <a:lnL>
                      <a:noFill/>
                    </a:lnL>
                    <a:lnR w="12700" cap="flat" cmpd="sng">
                      <a:solidFill>
                        <a:schemeClr val="accent1"/>
                      </a:solidFill>
                      <a:prstDash val="solid"/>
                      <a:headEnd type="none" w="med" len="med"/>
                      <a:tailEnd type="none" w="med" len="med"/>
                    </a:lnR>
                    <a:lnT w="12700" cap="flat" cmpd="sng">
                      <a:solidFill>
                        <a:schemeClr val="accent1"/>
                      </a:solidFill>
                      <a:prstDash val="solid"/>
                      <a:headEnd type="none" w="med" len="med"/>
                      <a:tailEnd type="none" w="med" len="med"/>
                    </a:lnT>
                    <a:lnB w="12700" cap="flat" cmpd="sng">
                      <a:solidFill>
                        <a:schemeClr val="accent1"/>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334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eaLnBrk="1" hangingPunct="1">
                        <a:buNone/>
                      </a:pPr>
                      <a:r>
                        <a:rPr lang="en-IN" altLang="x-none" sz="1600" dirty="0">
                          <a:solidFill>
                            <a:srgbClr val="000000"/>
                          </a:solidFill>
                          <a:latin typeface="Calibri" panose="020F0502020204030204" pitchFamily="34" charset="0"/>
                        </a:rPr>
                        <a:t>🔒 </a:t>
                      </a:r>
                      <a:r>
                        <a:rPr lang="en-IN" altLang="x-none" sz="1600" b="1" dirty="0">
                          <a:solidFill>
                            <a:srgbClr val="000000"/>
                          </a:solidFill>
                          <a:latin typeface="Calibri" panose="020F0502020204030204" pitchFamily="34" charset="0"/>
                        </a:rPr>
                        <a:t>User Authentication</a:t>
                      </a:r>
                      <a:endParaRPr lang="en-IN" altLang="x-none" sz="1600" dirty="0">
                        <a:solidFill>
                          <a:srgbClr val="000000"/>
                        </a:solidFill>
                        <a:latin typeface="Calibri" panose="020F0502020204030204" pitchFamily="34" charset="0"/>
                      </a:endParaRPr>
                    </a:p>
                  </a:txBody>
                  <a:tcPr marL="46337" marR="46337" marT="23172" marB="23172" anchor="ctr">
                    <a:lnL w="12700" cap="flat" cmpd="sng">
                      <a:solidFill>
                        <a:schemeClr val="accent1"/>
                      </a:solidFill>
                      <a:prstDash val="solid"/>
                      <a:headEnd type="none" w="med" len="med"/>
                      <a:tailEnd type="none" w="med" len="med"/>
                    </a:lnL>
                    <a:lnR>
                      <a:noFill/>
                    </a:lnR>
                    <a:lnT w="12700" cap="flat" cmpd="sng">
                      <a:solidFill>
                        <a:schemeClr val="accent1"/>
                      </a:solidFill>
                      <a:prstDash val="solid"/>
                      <a:headEnd type="none" w="med" len="med"/>
                      <a:tailEnd type="none" w="med" len="med"/>
                    </a:lnT>
                    <a:lnB w="12700" cap="flat" cmpd="sng">
                      <a:solidFill>
                        <a:schemeClr val="accent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eaLnBrk="1" hangingPunct="1">
                        <a:buNone/>
                      </a:pPr>
                      <a:r>
                        <a:rPr sz="1600" dirty="0">
                          <a:solidFill>
                            <a:srgbClr val="000000"/>
                          </a:solidFill>
                          <a:latin typeface="Calibri" panose="020F0502020204030204" pitchFamily="34" charset="0"/>
                        </a:rPr>
                        <a:t>Handles user sign-up and login, validates credentials, and maintains session.</a:t>
                      </a:r>
                      <a:endParaRPr lang="en-US" sz="1600" dirty="0">
                        <a:solidFill>
                          <a:srgbClr val="000000"/>
                        </a:solidFill>
                        <a:latin typeface="Calibri" panose="020F0502020204030204" pitchFamily="34" charset="0"/>
                      </a:endParaRPr>
                    </a:p>
                  </a:txBody>
                  <a:tcPr marL="46337" marR="46337" marT="23172" marB="23172" anchor="ctr">
                    <a:lnL>
                      <a:noFill/>
                    </a:lnL>
                    <a:lnR w="12700" cap="flat" cmpd="sng">
                      <a:solidFill>
                        <a:schemeClr val="accent1"/>
                      </a:solidFill>
                      <a:prstDash val="solid"/>
                      <a:headEnd type="none" w="med" len="med"/>
                      <a:tailEnd type="none" w="med" len="med"/>
                    </a:lnR>
                    <a:lnT w="12700" cap="flat" cmpd="sng">
                      <a:solidFill>
                        <a:schemeClr val="accent1"/>
                      </a:solidFill>
                      <a:prstDash val="solid"/>
                      <a:headEnd type="none" w="med" len="med"/>
                      <a:tailEnd type="none" w="med" len="med"/>
                    </a:lnT>
                    <a:lnB w="12700" cap="flat" cmpd="sng">
                      <a:solidFill>
                        <a:schemeClr val="accent1"/>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3498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eaLnBrk="1" hangingPunct="1">
                        <a:buNone/>
                      </a:pPr>
                      <a:r>
                        <a:rPr lang="en-IN" altLang="x-none" sz="1600" dirty="0">
                          <a:solidFill>
                            <a:srgbClr val="000000"/>
                          </a:solidFill>
                          <a:latin typeface="Calibri" panose="020F0502020204030204" pitchFamily="34" charset="0"/>
                        </a:rPr>
                        <a:t>📝 </a:t>
                      </a:r>
                      <a:r>
                        <a:rPr lang="en-IN" altLang="x-none" sz="1600" b="1" dirty="0">
                          <a:solidFill>
                            <a:srgbClr val="000000"/>
                          </a:solidFill>
                          <a:latin typeface="Calibri" panose="020F0502020204030204" pitchFamily="34" charset="0"/>
                        </a:rPr>
                        <a:t>Input Module</a:t>
                      </a:r>
                      <a:endParaRPr lang="en-IN" altLang="x-none" sz="1600" dirty="0">
                        <a:solidFill>
                          <a:srgbClr val="000000"/>
                        </a:solidFill>
                        <a:latin typeface="Calibri" panose="020F0502020204030204" pitchFamily="34" charset="0"/>
                      </a:endParaRPr>
                    </a:p>
                  </a:txBody>
                  <a:tcPr marL="46337" marR="46337" marT="23172" marB="23172" anchor="ctr">
                    <a:lnL w="12700" cap="flat" cmpd="sng">
                      <a:solidFill>
                        <a:schemeClr val="accent1"/>
                      </a:solidFill>
                      <a:prstDash val="solid"/>
                      <a:headEnd type="none" w="med" len="med"/>
                      <a:tailEnd type="none" w="med" len="med"/>
                    </a:lnL>
                    <a:lnR>
                      <a:noFill/>
                    </a:lnR>
                    <a:lnT w="12700" cap="flat" cmpd="sng">
                      <a:solidFill>
                        <a:schemeClr val="accent1"/>
                      </a:solidFill>
                      <a:prstDash val="solid"/>
                      <a:headEnd type="none" w="med" len="med"/>
                      <a:tailEnd type="none" w="med" len="med"/>
                    </a:lnT>
                    <a:lnB w="12700" cap="flat" cmpd="sng">
                      <a:solidFill>
                        <a:schemeClr val="accent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eaLnBrk="1" hangingPunct="1">
                        <a:buNone/>
                      </a:pPr>
                      <a:r>
                        <a:rPr lang="en-IN" altLang="x-none" sz="1600" dirty="0">
                          <a:solidFill>
                            <a:srgbClr val="000000"/>
                          </a:solidFill>
                          <a:latin typeface="Calibri" panose="020F0502020204030204" pitchFamily="34" charset="0"/>
                        </a:rPr>
                        <a:t>Accepts user inputs like crop type, zone, region, and center.</a:t>
                      </a:r>
                    </a:p>
                  </a:txBody>
                  <a:tcPr marL="46337" marR="46337" marT="23172" marB="23172" anchor="ctr">
                    <a:lnL>
                      <a:noFill/>
                    </a:lnL>
                    <a:lnR w="12700" cap="flat" cmpd="sng">
                      <a:solidFill>
                        <a:schemeClr val="accent1"/>
                      </a:solidFill>
                      <a:prstDash val="solid"/>
                      <a:headEnd type="none" w="med" len="med"/>
                      <a:tailEnd type="none" w="med" len="med"/>
                    </a:lnR>
                    <a:lnT w="12700" cap="flat" cmpd="sng">
                      <a:solidFill>
                        <a:schemeClr val="accent1"/>
                      </a:solidFill>
                      <a:prstDash val="solid"/>
                      <a:headEnd type="none" w="med" len="med"/>
                      <a:tailEnd type="none" w="med" len="med"/>
                    </a:lnT>
                    <a:lnB w="12700" cap="flat" cmpd="sng">
                      <a:solidFill>
                        <a:schemeClr val="accent1"/>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334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eaLnBrk="1" hangingPunct="1">
                        <a:buNone/>
                      </a:pPr>
                      <a:r>
                        <a:rPr lang="en-IN" altLang="x-none" sz="1600" dirty="0">
                          <a:solidFill>
                            <a:srgbClr val="000000"/>
                          </a:solidFill>
                          <a:latin typeface="Calibri" panose="020F0502020204030204" pitchFamily="34" charset="0"/>
                        </a:rPr>
                        <a:t>🧹 </a:t>
                      </a:r>
                      <a:r>
                        <a:rPr lang="en-IN" altLang="x-none" sz="1600" b="1" dirty="0">
                          <a:solidFill>
                            <a:srgbClr val="000000"/>
                          </a:solidFill>
                          <a:latin typeface="Calibri" panose="020F0502020204030204" pitchFamily="34" charset="0"/>
                        </a:rPr>
                        <a:t>Data Preprocessing</a:t>
                      </a:r>
                      <a:endParaRPr lang="en-IN" altLang="x-none" sz="1600" dirty="0">
                        <a:solidFill>
                          <a:srgbClr val="000000"/>
                        </a:solidFill>
                        <a:latin typeface="Calibri" panose="020F0502020204030204" pitchFamily="34" charset="0"/>
                      </a:endParaRPr>
                    </a:p>
                  </a:txBody>
                  <a:tcPr marL="46337" marR="46337" marT="23172" marB="23172" anchor="ctr">
                    <a:lnL w="12700" cap="flat" cmpd="sng">
                      <a:solidFill>
                        <a:schemeClr val="accent1"/>
                      </a:solidFill>
                      <a:prstDash val="solid"/>
                      <a:headEnd type="none" w="med" len="med"/>
                      <a:tailEnd type="none" w="med" len="med"/>
                    </a:lnL>
                    <a:lnR>
                      <a:noFill/>
                    </a:lnR>
                    <a:lnT w="12700" cap="flat" cmpd="sng">
                      <a:solidFill>
                        <a:schemeClr val="accent1"/>
                      </a:solidFill>
                      <a:prstDash val="solid"/>
                      <a:headEnd type="none" w="med" len="med"/>
                      <a:tailEnd type="none" w="med" len="med"/>
                    </a:lnT>
                    <a:lnB w="12700" cap="flat" cmpd="sng">
                      <a:solidFill>
                        <a:schemeClr val="accent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eaLnBrk="1" hangingPunct="1">
                        <a:buNone/>
                      </a:pPr>
                      <a:r>
                        <a:rPr sz="1600" dirty="0">
                          <a:solidFill>
                            <a:srgbClr val="000000"/>
                          </a:solidFill>
                          <a:latin typeface="Calibri" panose="020F0502020204030204" pitchFamily="34" charset="0"/>
                        </a:rPr>
                        <a:t>Cleans and prepares historical price, weather, and soil data for modeling.</a:t>
                      </a:r>
                      <a:endParaRPr lang="en-US" sz="1600" dirty="0">
                        <a:solidFill>
                          <a:srgbClr val="000000"/>
                        </a:solidFill>
                        <a:latin typeface="Calibri" panose="020F0502020204030204" pitchFamily="34" charset="0"/>
                      </a:endParaRPr>
                    </a:p>
                  </a:txBody>
                  <a:tcPr marL="46337" marR="46337" marT="23172" marB="23172" anchor="ctr">
                    <a:lnL>
                      <a:noFill/>
                    </a:lnL>
                    <a:lnR w="12700" cap="flat" cmpd="sng">
                      <a:solidFill>
                        <a:schemeClr val="accent1"/>
                      </a:solidFill>
                      <a:prstDash val="solid"/>
                      <a:headEnd type="none" w="med" len="med"/>
                      <a:tailEnd type="none" w="med" len="med"/>
                    </a:lnR>
                    <a:lnT w="12700" cap="flat" cmpd="sng">
                      <a:solidFill>
                        <a:schemeClr val="accent1"/>
                      </a:solidFill>
                      <a:prstDash val="solid"/>
                      <a:headEnd type="none" w="med" len="med"/>
                      <a:tailEnd type="none" w="med" len="med"/>
                    </a:lnT>
                    <a:lnB w="12700" cap="flat" cmpd="sng">
                      <a:solidFill>
                        <a:schemeClr val="accent1"/>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3498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eaLnBrk="1" hangingPunct="1">
                        <a:buNone/>
                      </a:pPr>
                      <a:r>
                        <a:rPr lang="en-IN" altLang="x-none" sz="1600" dirty="0">
                          <a:solidFill>
                            <a:srgbClr val="000000"/>
                          </a:solidFill>
                          <a:latin typeface="Calibri" panose="020F0502020204030204" pitchFamily="34" charset="0"/>
                        </a:rPr>
                        <a:t>📈 </a:t>
                      </a:r>
                      <a:r>
                        <a:rPr lang="en-IN" altLang="x-none" sz="1600" b="1" dirty="0">
                          <a:solidFill>
                            <a:srgbClr val="000000"/>
                          </a:solidFill>
                          <a:latin typeface="Calibri" panose="020F0502020204030204" pitchFamily="34" charset="0"/>
                        </a:rPr>
                        <a:t>Prediction Module</a:t>
                      </a:r>
                      <a:endParaRPr lang="en-IN" altLang="x-none" sz="1600" dirty="0">
                        <a:solidFill>
                          <a:srgbClr val="000000"/>
                        </a:solidFill>
                        <a:latin typeface="Calibri" panose="020F0502020204030204" pitchFamily="34" charset="0"/>
                      </a:endParaRPr>
                    </a:p>
                  </a:txBody>
                  <a:tcPr marL="46337" marR="46337" marT="23172" marB="23172" anchor="ctr">
                    <a:lnL w="12700" cap="flat" cmpd="sng">
                      <a:solidFill>
                        <a:schemeClr val="accent1"/>
                      </a:solidFill>
                      <a:prstDash val="solid"/>
                      <a:headEnd type="none" w="med" len="med"/>
                      <a:tailEnd type="none" w="med" len="med"/>
                    </a:lnL>
                    <a:lnR>
                      <a:noFill/>
                    </a:lnR>
                    <a:lnT w="12700" cap="flat" cmpd="sng">
                      <a:solidFill>
                        <a:schemeClr val="accent1"/>
                      </a:solidFill>
                      <a:prstDash val="solid"/>
                      <a:headEnd type="none" w="med" len="med"/>
                      <a:tailEnd type="none" w="med" len="med"/>
                    </a:lnT>
                    <a:lnB w="12700" cap="flat" cmpd="sng">
                      <a:solidFill>
                        <a:schemeClr val="accent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eaLnBrk="1" hangingPunct="1">
                        <a:buNone/>
                      </a:pPr>
                      <a:r>
                        <a:rPr sz="1600" dirty="0">
                          <a:solidFill>
                            <a:srgbClr val="000000"/>
                          </a:solidFill>
                          <a:latin typeface="Calibri" panose="020F0502020204030204" pitchFamily="34" charset="0"/>
                        </a:rPr>
                        <a:t>Uses SARIMA model to forecast future crop prices based on preprocessed data.</a:t>
                      </a:r>
                      <a:endParaRPr lang="en-US" sz="1600" dirty="0">
                        <a:solidFill>
                          <a:srgbClr val="000000"/>
                        </a:solidFill>
                        <a:latin typeface="Calibri" panose="020F0502020204030204" pitchFamily="34" charset="0"/>
                      </a:endParaRPr>
                    </a:p>
                  </a:txBody>
                  <a:tcPr marL="46337" marR="46337" marT="23172" marB="23172" anchor="ctr">
                    <a:lnL>
                      <a:noFill/>
                    </a:lnL>
                    <a:lnR w="12700" cap="flat" cmpd="sng">
                      <a:solidFill>
                        <a:schemeClr val="accent1"/>
                      </a:solidFill>
                      <a:prstDash val="solid"/>
                      <a:headEnd type="none" w="med" len="med"/>
                      <a:tailEnd type="none" w="med" len="med"/>
                    </a:lnR>
                    <a:lnT w="12700" cap="flat" cmpd="sng">
                      <a:solidFill>
                        <a:schemeClr val="accent1"/>
                      </a:solidFill>
                      <a:prstDash val="solid"/>
                      <a:headEnd type="none" w="med" len="med"/>
                      <a:tailEnd type="none" w="med" len="med"/>
                    </a:lnT>
                    <a:lnB w="12700" cap="flat" cmpd="sng">
                      <a:solidFill>
                        <a:schemeClr val="accent1"/>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5334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eaLnBrk="1" hangingPunct="1">
                        <a:buNone/>
                      </a:pPr>
                      <a:r>
                        <a:rPr lang="en-IN" altLang="x-none" sz="1600" dirty="0">
                          <a:solidFill>
                            <a:srgbClr val="000000"/>
                          </a:solidFill>
                          <a:latin typeface="Calibri" panose="020F0502020204030204" pitchFamily="34" charset="0"/>
                        </a:rPr>
                        <a:t>📊 </a:t>
                      </a:r>
                      <a:r>
                        <a:rPr lang="en-IN" altLang="x-none" sz="1600" b="1" dirty="0">
                          <a:solidFill>
                            <a:srgbClr val="000000"/>
                          </a:solidFill>
                          <a:latin typeface="Calibri" panose="020F0502020204030204" pitchFamily="34" charset="0"/>
                        </a:rPr>
                        <a:t>Visualization Module</a:t>
                      </a:r>
                      <a:endParaRPr lang="en-IN" altLang="x-none" sz="1600" dirty="0">
                        <a:solidFill>
                          <a:srgbClr val="000000"/>
                        </a:solidFill>
                        <a:latin typeface="Calibri" panose="020F0502020204030204" pitchFamily="34" charset="0"/>
                      </a:endParaRPr>
                    </a:p>
                  </a:txBody>
                  <a:tcPr marL="46337" marR="46337" marT="23172" marB="23172" anchor="ctr">
                    <a:lnL w="12700" cap="flat" cmpd="sng">
                      <a:solidFill>
                        <a:schemeClr val="accent1"/>
                      </a:solidFill>
                      <a:prstDash val="solid"/>
                      <a:headEnd type="none" w="med" len="med"/>
                      <a:tailEnd type="none" w="med" len="med"/>
                    </a:lnL>
                    <a:lnR>
                      <a:noFill/>
                    </a:lnR>
                    <a:lnT w="12700" cap="flat" cmpd="sng">
                      <a:solidFill>
                        <a:schemeClr val="accent1"/>
                      </a:solidFill>
                      <a:prstDash val="solid"/>
                      <a:headEnd type="none" w="med" len="med"/>
                      <a:tailEnd type="none" w="med" len="med"/>
                    </a:lnT>
                    <a:lnB w="12700" cap="flat" cmpd="sng">
                      <a:solidFill>
                        <a:schemeClr val="accent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eaLnBrk="1" hangingPunct="1">
                        <a:buNone/>
                      </a:pPr>
                      <a:r>
                        <a:rPr sz="1600" dirty="0">
                          <a:solidFill>
                            <a:srgbClr val="000000"/>
                          </a:solidFill>
                          <a:latin typeface="Calibri" panose="020F0502020204030204" pitchFamily="34" charset="0"/>
                        </a:rPr>
                        <a:t>Displays predictions using interactive graphs and tables for better insight.</a:t>
                      </a:r>
                      <a:endParaRPr lang="en-US" sz="1600" dirty="0">
                        <a:solidFill>
                          <a:srgbClr val="000000"/>
                        </a:solidFill>
                        <a:latin typeface="Calibri" panose="020F0502020204030204" pitchFamily="34" charset="0"/>
                      </a:endParaRPr>
                    </a:p>
                  </a:txBody>
                  <a:tcPr marL="46337" marR="46337" marT="23172" marB="23172" anchor="ctr">
                    <a:lnL>
                      <a:noFill/>
                    </a:lnL>
                    <a:lnR w="12700" cap="flat" cmpd="sng">
                      <a:solidFill>
                        <a:schemeClr val="accent1"/>
                      </a:solidFill>
                      <a:prstDash val="solid"/>
                      <a:headEnd type="none" w="med" len="med"/>
                      <a:tailEnd type="none" w="med" len="med"/>
                    </a:lnR>
                    <a:lnT w="12700" cap="flat" cmpd="sng">
                      <a:solidFill>
                        <a:schemeClr val="accent1"/>
                      </a:solidFill>
                      <a:prstDash val="solid"/>
                      <a:headEnd type="none" w="med" len="med"/>
                      <a:tailEnd type="none" w="med" len="med"/>
                    </a:lnT>
                    <a:lnB w="12700" cap="flat" cmpd="sng">
                      <a:solidFill>
                        <a:schemeClr val="accent1"/>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53498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eaLnBrk="1" hangingPunct="1">
                        <a:buNone/>
                      </a:pPr>
                      <a:r>
                        <a:rPr lang="en-IN" altLang="x-none" sz="1600" dirty="0">
                          <a:solidFill>
                            <a:srgbClr val="000000"/>
                          </a:solidFill>
                          <a:latin typeface="Calibri" panose="020F0502020204030204" pitchFamily="34" charset="0"/>
                        </a:rPr>
                        <a:t>❌ </a:t>
                      </a:r>
                      <a:r>
                        <a:rPr lang="en-IN" altLang="x-none" sz="1600" b="1" dirty="0">
                          <a:solidFill>
                            <a:srgbClr val="000000"/>
                          </a:solidFill>
                          <a:latin typeface="Calibri" panose="020F0502020204030204" pitchFamily="34" charset="0"/>
                        </a:rPr>
                        <a:t>Error Handling Module</a:t>
                      </a:r>
                      <a:endParaRPr lang="en-IN" altLang="x-none" sz="1600" dirty="0">
                        <a:solidFill>
                          <a:srgbClr val="000000"/>
                        </a:solidFill>
                        <a:latin typeface="Calibri" panose="020F0502020204030204" pitchFamily="34" charset="0"/>
                      </a:endParaRPr>
                    </a:p>
                  </a:txBody>
                  <a:tcPr marL="46337" marR="46337" marT="23172" marB="23172" anchor="ctr">
                    <a:lnL w="12700" cap="flat" cmpd="sng">
                      <a:solidFill>
                        <a:schemeClr val="accent1"/>
                      </a:solidFill>
                      <a:prstDash val="solid"/>
                      <a:headEnd type="none" w="med" len="med"/>
                      <a:tailEnd type="none" w="med" len="med"/>
                    </a:lnL>
                    <a:lnR>
                      <a:noFill/>
                    </a:lnR>
                    <a:lnT w="12700" cap="flat" cmpd="sng">
                      <a:solidFill>
                        <a:schemeClr val="accent1"/>
                      </a:solidFill>
                      <a:prstDash val="solid"/>
                      <a:headEnd type="none" w="med" len="med"/>
                      <a:tailEnd type="none" w="med" len="med"/>
                    </a:lnT>
                    <a:lnB w="12700" cap="flat" cmpd="sng">
                      <a:solidFill>
                        <a:schemeClr val="accent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eaLnBrk="1" hangingPunct="1">
                        <a:buNone/>
                      </a:pPr>
                      <a:r>
                        <a:rPr sz="1600" dirty="0">
                          <a:solidFill>
                            <a:srgbClr val="000000"/>
                          </a:solidFill>
                          <a:latin typeface="Calibri" panose="020F0502020204030204" pitchFamily="34" charset="0"/>
                        </a:rPr>
                        <a:t>Displays appropriate error messages for invalid input or login failures.</a:t>
                      </a:r>
                      <a:endParaRPr lang="en-US" sz="1600" dirty="0">
                        <a:solidFill>
                          <a:srgbClr val="000000"/>
                        </a:solidFill>
                        <a:latin typeface="Calibri" panose="020F0502020204030204" pitchFamily="34" charset="0"/>
                      </a:endParaRPr>
                    </a:p>
                  </a:txBody>
                  <a:tcPr marL="46337" marR="46337" marT="23172" marB="23172" anchor="ctr">
                    <a:lnL>
                      <a:noFill/>
                    </a:lnL>
                    <a:lnR w="12700" cap="flat" cmpd="sng">
                      <a:solidFill>
                        <a:schemeClr val="accent1"/>
                      </a:solidFill>
                      <a:prstDash val="solid"/>
                      <a:headEnd type="none" w="med" len="med"/>
                      <a:tailEnd type="none" w="med" len="med"/>
                    </a:lnR>
                    <a:lnT w="12700" cap="flat" cmpd="sng">
                      <a:solidFill>
                        <a:schemeClr val="accent1"/>
                      </a:solidFill>
                      <a:prstDash val="solid"/>
                      <a:headEnd type="none" w="med" len="med"/>
                      <a:tailEnd type="none" w="med" len="med"/>
                    </a:lnT>
                    <a:lnB w="12700" cap="flat" cmpd="sng">
                      <a:solidFill>
                        <a:schemeClr val="accent1"/>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334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eaLnBrk="1" hangingPunct="1">
                        <a:buNone/>
                      </a:pPr>
                      <a:r>
                        <a:rPr lang="en-IN" altLang="x-none" sz="1600" dirty="0">
                          <a:solidFill>
                            <a:srgbClr val="000000"/>
                          </a:solidFill>
                          <a:latin typeface="Calibri" panose="020F0502020204030204" pitchFamily="34" charset="0"/>
                        </a:rPr>
                        <a:t>📧 </a:t>
                      </a:r>
                      <a:r>
                        <a:rPr lang="en-IN" altLang="x-none" sz="1600" b="1" dirty="0">
                          <a:solidFill>
                            <a:srgbClr val="000000"/>
                          </a:solidFill>
                          <a:latin typeface="Calibri" panose="020F0502020204030204" pitchFamily="34" charset="0"/>
                        </a:rPr>
                        <a:t>Email Reporting Module</a:t>
                      </a:r>
                      <a:endParaRPr lang="en-IN" altLang="x-none" sz="1600" dirty="0">
                        <a:solidFill>
                          <a:srgbClr val="000000"/>
                        </a:solidFill>
                        <a:latin typeface="Calibri" panose="020F0502020204030204" pitchFamily="34" charset="0"/>
                      </a:endParaRPr>
                    </a:p>
                  </a:txBody>
                  <a:tcPr marL="46337" marR="46337" marT="23172" marB="23172" anchor="ctr">
                    <a:lnL w="12700" cap="flat" cmpd="sng">
                      <a:solidFill>
                        <a:schemeClr val="accent1"/>
                      </a:solidFill>
                      <a:prstDash val="solid"/>
                      <a:headEnd type="none" w="med" len="med"/>
                      <a:tailEnd type="none" w="med" len="med"/>
                    </a:lnL>
                    <a:lnR>
                      <a:noFill/>
                    </a:lnR>
                    <a:lnT w="12700" cap="flat" cmpd="sng">
                      <a:solidFill>
                        <a:schemeClr val="accent1"/>
                      </a:solidFill>
                      <a:prstDash val="solid"/>
                      <a:headEnd type="none" w="med" len="med"/>
                      <a:tailEnd type="none" w="med" len="med"/>
                    </a:lnT>
                    <a:lnB w="12700" cap="flat" cmpd="sng">
                      <a:solidFill>
                        <a:schemeClr val="accent1"/>
                      </a:solidFill>
                      <a:prstDash val="solid"/>
                      <a:headEnd type="none" w="med" len="med"/>
                      <a:tailEnd type="none" w="med" len="med"/>
                    </a:lnB>
                    <a:lnTlToBr>
                      <a:noFill/>
                    </a:lnTlToBr>
                    <a:lnBlToTr>
                      <a:noFill/>
                    </a:lnBlToTr>
                    <a:solidFill>
                      <a:schemeClr val="bg1"/>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eaLnBrk="1" hangingPunct="1">
                        <a:buNone/>
                      </a:pPr>
                      <a:r>
                        <a:rPr sz="1600" dirty="0">
                          <a:solidFill>
                            <a:srgbClr val="000000"/>
                          </a:solidFill>
                          <a:latin typeface="Calibri" panose="020F0502020204030204" pitchFamily="34" charset="0"/>
                        </a:rPr>
                        <a:t>Sends the predicted crop prices to the user’s registered email.</a:t>
                      </a:r>
                      <a:endParaRPr lang="en-US" sz="1600" dirty="0">
                        <a:solidFill>
                          <a:srgbClr val="000000"/>
                        </a:solidFill>
                        <a:latin typeface="Calibri" panose="020F0502020204030204" pitchFamily="34" charset="0"/>
                      </a:endParaRPr>
                    </a:p>
                  </a:txBody>
                  <a:tcPr marL="46337" marR="46337" marT="23172" marB="23172" anchor="ctr">
                    <a:lnL>
                      <a:noFill/>
                    </a:lnL>
                    <a:lnR w="12700" cap="flat" cmpd="sng">
                      <a:solidFill>
                        <a:schemeClr val="accent1"/>
                      </a:solidFill>
                      <a:prstDash val="solid"/>
                      <a:headEnd type="none" w="med" len="med"/>
                      <a:tailEnd type="none" w="med" len="med"/>
                    </a:lnR>
                    <a:lnT w="12700" cap="flat" cmpd="sng">
                      <a:solidFill>
                        <a:schemeClr val="accent1"/>
                      </a:solidFill>
                      <a:prstDash val="solid"/>
                      <a:headEnd type="none" w="med" len="med"/>
                      <a:tailEnd type="none" w="med" len="med"/>
                    </a:lnT>
                    <a:lnB w="12700" cap="flat" cmpd="sng">
                      <a:solidFill>
                        <a:schemeClr val="accent1"/>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Bangalore</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Institute</a:t>
            </a: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5" normalizeH="0" baseline="0" noProof="0" dirty="0">
                <a:ln>
                  <a:noFill/>
                </a:ln>
                <a:solidFill>
                  <a:schemeClr val="bg1"/>
                </a:solidFill>
                <a:effectLst/>
                <a:uLnTx/>
                <a:uFillTx/>
                <a:latin typeface="Times New Roman" panose="02020603050405020304"/>
                <a:ea typeface="+mj-ea"/>
                <a:cs typeface="Times New Roman" panose="02020603050405020304"/>
              </a:rPr>
              <a:t>of</a:t>
            </a:r>
            <a:r>
              <a:rPr kumimoji="0" sz="2400" b="1" i="0" u="none" strike="noStrike" kern="0" cap="none" spc="-5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Technology</a:t>
            </a:r>
          </a:p>
        </p:txBody>
      </p:sp>
      <p:sp>
        <p:nvSpPr>
          <p:cNvPr id="4" name="Content Placeholder 3"/>
          <p:cNvSpPr>
            <a:spLocks noGrp="1"/>
          </p:cNvSpPr>
          <p:nvPr>
            <p:ph sz="half" idx="2"/>
          </p:nvPr>
        </p:nvSpPr>
        <p:spPr>
          <a:xfrm>
            <a:off x="625475" y="1917700"/>
            <a:ext cx="5302250" cy="3756025"/>
          </a:xfrm>
        </p:spPr>
        <p:txBody>
          <a:bodyPr vert="horz" wrap="square" lIns="0" tIns="0" rIns="0" bIns="0" numCol="1" anchor="t"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defRPr/>
            </a:pPr>
            <a:r>
              <a:rPr kumimoji="0" lang="en-US" altLang="en-US" sz="2000" b="0" i="0" u="none" strike="noStrike" kern="0" cap="none" spc="0" normalizeH="0" baseline="0" noProof="0" dirty="0">
                <a:ln>
                  <a:noFill/>
                </a:ln>
                <a:solidFill>
                  <a:schemeClr val="tx1"/>
                </a:solidFill>
                <a:effectLst/>
                <a:uLnTx/>
                <a:uFillTx/>
                <a:latin typeface="+mn-lt"/>
                <a:ea typeface="+mn-ea"/>
                <a:cs typeface="+mn-cs"/>
              </a:rPr>
              <a:t>The system accurately forecasts crop prices for </a:t>
            </a:r>
            <a:r>
              <a:rPr kumimoji="0" lang="en-US" altLang="en-US" sz="2000" b="1" i="0" u="none" strike="noStrike" kern="0" cap="none" spc="0" normalizeH="0" baseline="0" noProof="0" dirty="0">
                <a:ln>
                  <a:noFill/>
                </a:ln>
                <a:solidFill>
                  <a:schemeClr val="tx1"/>
                </a:solidFill>
                <a:effectLst/>
                <a:uLnTx/>
                <a:uFillTx/>
                <a:latin typeface="+mn-lt"/>
                <a:ea typeface="+mn-ea"/>
                <a:cs typeface="+mn-cs"/>
              </a:rPr>
              <a:t>12 future months </a:t>
            </a:r>
            <a:r>
              <a:rPr kumimoji="0" lang="en-US" altLang="en-US" sz="2000" b="0" i="0" u="none" strike="noStrike" kern="0" cap="none" spc="0" normalizeH="0" baseline="0" noProof="0" dirty="0">
                <a:ln>
                  <a:noFill/>
                </a:ln>
                <a:solidFill>
                  <a:schemeClr val="tx1"/>
                </a:solidFill>
                <a:effectLst/>
                <a:uLnTx/>
                <a:uFillTx/>
                <a:latin typeface="+mn-lt"/>
                <a:ea typeface="+mn-ea"/>
                <a:cs typeface="+mn-cs"/>
              </a:rPr>
              <a:t>using the SARIMA model.</a:t>
            </a:r>
          </a:p>
          <a:p>
            <a:pPr marL="0" marR="0" lvl="0" indent="0" algn="l" defTabSz="914400" rtl="0" eaLnBrk="0" fontAlgn="base" latinLnBrk="0" hangingPunct="0">
              <a:lnSpc>
                <a:spcPct val="100000"/>
              </a:lnSpc>
              <a:spcBef>
                <a:spcPct val="0"/>
              </a:spcBef>
              <a:spcAft>
                <a:spcPct val="0"/>
              </a:spcAft>
              <a:buClrTx/>
              <a:buSzTx/>
              <a:buFontTx/>
              <a:buChar char="•"/>
              <a:defRPr/>
            </a:pPr>
            <a:r>
              <a:rPr kumimoji="0" lang="en-US" altLang="en-US" sz="2000" b="1" i="0" u="none" strike="noStrike" kern="0" cap="none" spc="0" normalizeH="0" baseline="0" noProof="0" dirty="0">
                <a:ln>
                  <a:noFill/>
                </a:ln>
                <a:solidFill>
                  <a:schemeClr val="tx1"/>
                </a:solidFill>
                <a:effectLst/>
                <a:uLnTx/>
                <a:uFillTx/>
                <a:latin typeface="+mn-lt"/>
                <a:ea typeface="+mn-ea"/>
                <a:cs typeface="+mn-cs"/>
              </a:rPr>
              <a:t>Predicted prices </a:t>
            </a:r>
            <a:r>
              <a:rPr kumimoji="0" lang="en-US" altLang="en-US" sz="2000" b="0" i="0" u="none" strike="noStrike" kern="0" cap="none" spc="0" normalizeH="0" baseline="0" noProof="0" dirty="0">
                <a:ln>
                  <a:noFill/>
                </a:ln>
                <a:solidFill>
                  <a:schemeClr val="tx1"/>
                </a:solidFill>
                <a:effectLst/>
                <a:uLnTx/>
                <a:uFillTx/>
                <a:latin typeface="+mn-lt"/>
                <a:ea typeface="+mn-ea"/>
                <a:cs typeface="+mn-cs"/>
              </a:rPr>
              <a:t>are displayed in both tabular format and a clear, interactive line graph.</a:t>
            </a:r>
          </a:p>
          <a:p>
            <a:pPr marL="0" marR="0" lvl="0" indent="0" algn="l" defTabSz="914400" rtl="0" eaLnBrk="0" fontAlgn="base" latinLnBrk="0" hangingPunct="0">
              <a:lnSpc>
                <a:spcPct val="100000"/>
              </a:lnSpc>
              <a:spcBef>
                <a:spcPct val="0"/>
              </a:spcBef>
              <a:spcAft>
                <a:spcPct val="0"/>
              </a:spcAft>
              <a:buClrTx/>
              <a:buSzTx/>
              <a:buFontTx/>
              <a:buChar char="•"/>
              <a:defRPr/>
            </a:pPr>
            <a:r>
              <a:rPr kumimoji="0" lang="en-US" altLang="en-US" sz="2000" b="0" i="0" u="none" strike="noStrike" kern="0" cap="none" spc="0" normalizeH="0" baseline="0" noProof="0" dirty="0">
                <a:ln>
                  <a:noFill/>
                </a:ln>
                <a:solidFill>
                  <a:schemeClr val="tx1"/>
                </a:solidFill>
                <a:effectLst/>
                <a:uLnTx/>
                <a:uFillTx/>
                <a:latin typeface="+mn-lt"/>
                <a:ea typeface="+mn-ea"/>
                <a:cs typeface="+mn-cs"/>
              </a:rPr>
              <a:t>The user interface allows seamless selection of crop, zone, and region for personalized forecasting.</a:t>
            </a:r>
          </a:p>
          <a:p>
            <a:pPr marL="0" marR="0" lvl="0" indent="0" algn="l" defTabSz="914400" rtl="0" eaLnBrk="0" fontAlgn="base" latinLnBrk="0" hangingPunct="0">
              <a:lnSpc>
                <a:spcPct val="100000"/>
              </a:lnSpc>
              <a:spcBef>
                <a:spcPct val="0"/>
              </a:spcBef>
              <a:spcAft>
                <a:spcPct val="0"/>
              </a:spcAft>
              <a:buClrTx/>
              <a:buSzTx/>
              <a:buFontTx/>
              <a:buChar char="•"/>
              <a:defRPr/>
            </a:pPr>
            <a:r>
              <a:rPr kumimoji="0" lang="en-US" altLang="en-US" sz="2000" b="1" i="0" u="none" strike="noStrike" kern="0" cap="none" spc="0" normalizeH="0" baseline="0" noProof="0" dirty="0">
                <a:ln>
                  <a:noFill/>
                </a:ln>
                <a:solidFill>
                  <a:schemeClr val="tx1"/>
                </a:solidFill>
                <a:effectLst/>
                <a:uLnTx/>
                <a:uFillTx/>
                <a:latin typeface="+mn-lt"/>
                <a:ea typeface="+mn-ea"/>
                <a:cs typeface="+mn-cs"/>
              </a:rPr>
              <a:t>Email reports </a:t>
            </a:r>
            <a:r>
              <a:rPr kumimoji="0" lang="en-US" altLang="en-US" sz="2000" b="0" i="0" u="none" strike="noStrike" kern="0" cap="none" spc="0" normalizeH="0" baseline="0" noProof="0" dirty="0">
                <a:ln>
                  <a:noFill/>
                </a:ln>
                <a:solidFill>
                  <a:schemeClr val="tx1"/>
                </a:solidFill>
                <a:effectLst/>
                <a:uLnTx/>
                <a:uFillTx/>
                <a:latin typeface="+mn-lt"/>
                <a:ea typeface="+mn-ea"/>
                <a:cs typeface="+mn-cs"/>
              </a:rPr>
              <a:t>are generated and sent, enhancing accessibility and usability.</a:t>
            </a:r>
          </a:p>
          <a:p>
            <a:pPr marL="0" marR="0" lvl="0" indent="0" algn="l" defTabSz="914400" rtl="0" eaLnBrk="0" fontAlgn="base" latinLnBrk="0" hangingPunct="0">
              <a:lnSpc>
                <a:spcPct val="100000"/>
              </a:lnSpc>
              <a:spcBef>
                <a:spcPct val="0"/>
              </a:spcBef>
              <a:spcAft>
                <a:spcPct val="0"/>
              </a:spcAft>
              <a:buClrTx/>
              <a:buSzTx/>
              <a:buFontTx/>
              <a:buChar char="•"/>
              <a:defRPr/>
            </a:pPr>
            <a:r>
              <a:rPr kumimoji="0" lang="en-US" altLang="en-US" sz="2000" b="0" i="0" u="none" strike="noStrike" kern="0" cap="none" spc="0" normalizeH="0" baseline="0" noProof="0" dirty="0">
                <a:ln>
                  <a:noFill/>
                </a:ln>
                <a:solidFill>
                  <a:schemeClr val="tx1"/>
                </a:solidFill>
                <a:effectLst/>
                <a:uLnTx/>
                <a:uFillTx/>
                <a:latin typeface="+mn-lt"/>
                <a:ea typeface="+mn-ea"/>
                <a:cs typeface="+mn-cs"/>
              </a:rPr>
              <a:t>SARIMA’s ability to model seasonality and trends ensures consistent and reliable predictions.</a:t>
            </a:r>
          </a:p>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0" lang="en-IN" sz="2000" b="0" i="0" u="none" strike="noStrike" kern="0" cap="none" spc="0" normalizeH="0" baseline="0" noProof="0" dirty="0">
              <a:ln>
                <a:noFill/>
              </a:ln>
              <a:solidFill>
                <a:schemeClr val="tx1"/>
              </a:solidFill>
              <a:effectLst/>
              <a:uLnTx/>
              <a:uFillTx/>
              <a:latin typeface="+mn-lt"/>
              <a:ea typeface="+mn-ea"/>
              <a:cs typeface="+mn-cs"/>
            </a:endParaRPr>
          </a:p>
        </p:txBody>
      </p:sp>
      <p:sp>
        <p:nvSpPr>
          <p:cNvPr id="3" name="object 3"/>
          <p:cNvSpPr txBox="1"/>
          <p:nvPr/>
        </p:nvSpPr>
        <p:spPr>
          <a:xfrm>
            <a:off x="3419475" y="334963"/>
            <a:ext cx="5353050" cy="593725"/>
          </a:xfrm>
          <a:prstGeom prst="rect">
            <a:avLst/>
          </a:prstGeom>
        </p:spPr>
        <p:txBody>
          <a:bodyPr lIns="0" tIns="12065" rIns="0" bIns="0">
            <a:spAutoFit/>
          </a:bodyPr>
          <a:lstStyle/>
          <a:p>
            <a:pPr marL="949325" marR="0" defTabSz="914400" eaLnBrk="1" fontAlgn="auto" hangingPunct="1">
              <a:lnSpc>
                <a:spcPts val="1760"/>
              </a:lnSpc>
              <a:spcBef>
                <a:spcPts val="95"/>
              </a:spcBef>
              <a:spcAft>
                <a:spcPts val="0"/>
              </a:spcAft>
              <a:buClrTx/>
              <a:buSzTx/>
              <a:buFontTx/>
              <a:buNone/>
              <a:defRPr/>
            </a:pPr>
            <a:r>
              <a:rPr kumimoji="0" sz="1600" kern="1200" cap="none" spc="-5" normalizeH="0" baseline="0" noProof="0" dirty="0">
                <a:solidFill>
                  <a:srgbClr val="FFFFFF"/>
                </a:solidFill>
                <a:latin typeface="Times New Roman" panose="02020603050405020304"/>
                <a:ea typeface="+mn-ea"/>
                <a:cs typeface="Times New Roman" panose="02020603050405020304"/>
              </a:rPr>
              <a:t>K.R. Road,</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110" normalizeH="0" baseline="0" noProof="0" dirty="0">
                <a:solidFill>
                  <a:srgbClr val="FFFFFF"/>
                </a:solidFill>
                <a:latin typeface="Times New Roman" panose="02020603050405020304"/>
                <a:ea typeface="+mn-ea"/>
                <a:cs typeface="Times New Roman" panose="02020603050405020304"/>
              </a:rPr>
              <a:t>V.V.</a:t>
            </a:r>
            <a:r>
              <a:rPr kumimoji="0" sz="1600" kern="1200" cap="none" spc="-5" normalizeH="0" baseline="0" noProof="0" dirty="0">
                <a:solidFill>
                  <a:srgbClr val="FFFFFF"/>
                </a:solidFill>
                <a:latin typeface="Times New Roman" panose="02020603050405020304"/>
                <a:ea typeface="+mn-ea"/>
                <a:cs typeface="Times New Roman" panose="02020603050405020304"/>
              </a:rPr>
              <a:t> Pura,</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5" normalizeH="0" baseline="0" noProof="0" dirty="0">
                <a:solidFill>
                  <a:srgbClr val="FFFFFF"/>
                </a:solidFill>
                <a:latin typeface="Times New Roman" panose="02020603050405020304"/>
                <a:ea typeface="+mn-ea"/>
                <a:cs typeface="Times New Roman" panose="02020603050405020304"/>
              </a:rPr>
              <a:t>Bengaluru.-560004.</a:t>
            </a:r>
            <a:endParaRPr kumimoji="0" sz="1600" kern="1200" cap="none" spc="0" normalizeH="0" baseline="0" noProof="0">
              <a:latin typeface="Times New Roman" panose="02020603050405020304"/>
              <a:ea typeface="+mn-ea"/>
              <a:cs typeface="Times New Roman" panose="02020603050405020304"/>
            </a:endParaRPr>
          </a:p>
          <a:p>
            <a:pPr marL="12700" marR="0" defTabSz="914400" eaLnBrk="1" fontAlgn="auto" hangingPunct="1">
              <a:lnSpc>
                <a:spcPts val="2720"/>
              </a:lnSpc>
              <a:spcBef>
                <a:spcPts val="0"/>
              </a:spcBef>
              <a:spcAft>
                <a:spcPts val="0"/>
              </a:spcAft>
              <a:buClrTx/>
              <a:buSzTx/>
              <a:buFontTx/>
              <a:buNone/>
              <a:defRPr/>
            </a:pPr>
            <a:r>
              <a:rPr kumimoji="0" sz="2400" b="1" kern="1200" cap="none" spc="0" normalizeH="0" baseline="0" noProof="0" dirty="0">
                <a:solidFill>
                  <a:srgbClr val="FFFFFF"/>
                </a:solidFill>
                <a:latin typeface="Times New Roman" panose="02020603050405020304"/>
                <a:ea typeface="+mn-ea"/>
                <a:cs typeface="Times New Roman" panose="02020603050405020304"/>
              </a:rPr>
              <a:t>D</a:t>
            </a:r>
            <a:r>
              <a:rPr kumimoji="0" sz="2000" b="1" kern="1200" cap="none" spc="0" normalizeH="0" baseline="0" noProof="0" dirty="0">
                <a:solidFill>
                  <a:srgbClr val="FFFFFF"/>
                </a:solidFill>
                <a:latin typeface="Times New Roman" panose="02020603050405020304"/>
                <a:ea typeface="+mn-ea"/>
                <a:cs typeface="Times New Roman" panose="02020603050405020304"/>
              </a:rPr>
              <a:t>epartment</a:t>
            </a:r>
            <a:r>
              <a:rPr kumimoji="0" sz="2000" b="1" kern="1200" cap="none" spc="-4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of</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Computer</a:t>
            </a:r>
            <a:r>
              <a:rPr kumimoji="0" sz="2000" b="1" kern="1200" cap="none" spc="-8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Science</a:t>
            </a:r>
            <a:r>
              <a:rPr kumimoji="0" sz="2000" b="1" kern="1200" cap="none" spc="-1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&amp;</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Engineering</a:t>
            </a:r>
            <a:endParaRPr kumimoji="0" sz="2000" kern="1200" cap="none" spc="0" normalizeH="0" baseline="0" noProof="0">
              <a:latin typeface="Times New Roman" panose="02020603050405020304"/>
              <a:ea typeface="+mn-ea"/>
              <a:cs typeface="Times New Roman" panose="02020603050405020304"/>
            </a:endParaRPr>
          </a:p>
        </p:txBody>
      </p:sp>
      <p:grpSp>
        <p:nvGrpSpPr>
          <p:cNvPr id="12293" name="object 4"/>
          <p:cNvGrpSpPr/>
          <p:nvPr/>
        </p:nvGrpSpPr>
        <p:grpSpPr>
          <a:xfrm>
            <a:off x="203200" y="0"/>
            <a:ext cx="11891963" cy="1193800"/>
            <a:chOff x="203200" y="0"/>
            <a:chExt cx="11892280" cy="1193165"/>
          </a:xfrm>
        </p:grpSpPr>
        <p:pic>
          <p:nvPicPr>
            <p:cNvPr id="12300" name="object 5"/>
            <p:cNvPicPr>
              <a:picLocks noChangeAspect="1"/>
            </p:cNvPicPr>
            <p:nvPr/>
          </p:nvPicPr>
          <p:blipFill>
            <a:blip r:embed="rId2"/>
            <a:stretch>
              <a:fillRect/>
            </a:stretch>
          </p:blipFill>
          <p:spPr>
            <a:xfrm>
              <a:off x="203200" y="0"/>
              <a:ext cx="1441958" cy="1192657"/>
            </a:xfrm>
            <a:prstGeom prst="rect">
              <a:avLst/>
            </a:prstGeom>
            <a:noFill/>
            <a:ln w="9525">
              <a:noFill/>
            </a:ln>
          </p:spPr>
        </p:pic>
        <p:pic>
          <p:nvPicPr>
            <p:cNvPr id="12301" name="object 6"/>
            <p:cNvPicPr>
              <a:picLocks noChangeAspect="1"/>
            </p:cNvPicPr>
            <p:nvPr/>
          </p:nvPicPr>
          <p:blipFill>
            <a:blip r:embed="rId3"/>
            <a:stretch>
              <a:fillRect/>
            </a:stretch>
          </p:blipFill>
          <p:spPr>
            <a:xfrm>
              <a:off x="10653521" y="70713"/>
              <a:ext cx="1441957" cy="994054"/>
            </a:xfrm>
            <a:prstGeom prst="rect">
              <a:avLst/>
            </a:prstGeom>
            <a:noFill/>
            <a:ln w="9525">
              <a:noFill/>
            </a:ln>
          </p:spPr>
        </p:pic>
      </p:grpSp>
      <p:sp>
        <p:nvSpPr>
          <p:cNvPr id="12294" name="Google Shape;195;p10"/>
          <p:cNvSpPr txBox="1"/>
          <p:nvPr/>
        </p:nvSpPr>
        <p:spPr>
          <a:xfrm>
            <a:off x="669925" y="1184275"/>
            <a:ext cx="10515600" cy="595313"/>
          </a:xfrm>
          <a:prstGeom prst="rect">
            <a:avLst/>
          </a:prstGeom>
          <a:noFill/>
          <a:ln w="9525">
            <a:noFill/>
          </a:ln>
        </p:spPr>
        <p:txBody>
          <a:bodyPr lIns="91425" tIns="45700" rIns="91425" bIns="45700" anchor="ctr" anchorCtr="0"/>
          <a:lstStyle/>
          <a:p>
            <a:pPr algn="ctr" eaLnBrk="1" hangingPunct="1">
              <a:buClr>
                <a:srgbClr val="4E67C8"/>
              </a:buClr>
              <a:buFont typeface="Lucida Sans" panose="020B0602030504020204" pitchFamily="34" charset="0"/>
              <a:buNone/>
            </a:pPr>
            <a:r>
              <a:rPr lang="en-IN" altLang="en-US" sz="2800" b="1" dirty="0">
                <a:latin typeface="Times New Roman" panose="02020603050405020304" pitchFamily="18" charset="0"/>
                <a:cs typeface="Arial" panose="020B0604020202020204" pitchFamily="34" charset="0"/>
                <a:sym typeface="Arial" panose="020B0604020202020204" pitchFamily="34" charset="0"/>
              </a:rPr>
              <a:t>RESULTS AND PERFORMANCE ANALYSIS </a:t>
            </a:r>
            <a:endParaRPr lang="en-US" altLang="en-US" sz="2800" b="1" dirty="0">
              <a:latin typeface="Times New Roman" panose="02020603050405020304" pitchFamily="18" charset="0"/>
              <a:ea typeface="Arial" panose="020B0604020202020204" pitchFamily="34" charset="0"/>
              <a:sym typeface="Lucida Sans" panose="020B0602030504020204" pitchFamily="34" charset="0"/>
            </a:endParaRPr>
          </a:p>
        </p:txBody>
      </p:sp>
      <p:pic>
        <p:nvPicPr>
          <p:cNvPr id="7" name="Picture 6"/>
          <p:cNvPicPr>
            <a:picLocks noChangeAspect="1"/>
          </p:cNvPicPr>
          <p:nvPr/>
        </p:nvPicPr>
        <p:blipFill>
          <a:blip r:embed="rId4"/>
          <a:srcRect r="67476"/>
          <a:stretch>
            <a:fillRect/>
          </a:stretch>
        </p:blipFill>
        <p:spPr>
          <a:xfrm>
            <a:off x="6021306" y="1790940"/>
            <a:ext cx="1461361" cy="4227511"/>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p:cNvPicPr>
            <a:picLocks noChangeAspect="1"/>
          </p:cNvPicPr>
          <p:nvPr/>
        </p:nvPicPr>
        <p:blipFill>
          <a:blip r:embed="rId4"/>
          <a:srcRect l="70421"/>
          <a:stretch>
            <a:fillRect/>
          </a:stretch>
        </p:blipFill>
        <p:spPr>
          <a:xfrm>
            <a:off x="7549240" y="1790940"/>
            <a:ext cx="1329031" cy="4227511"/>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p:cNvPicPr>
            <a:picLocks noChangeAspect="1"/>
          </p:cNvPicPr>
          <p:nvPr/>
        </p:nvPicPr>
        <p:blipFill>
          <a:blip r:embed="rId5"/>
          <a:stretch>
            <a:fillRect/>
          </a:stretch>
        </p:blipFill>
        <p:spPr>
          <a:xfrm>
            <a:off x="9151938" y="3143250"/>
            <a:ext cx="2838450" cy="1524000"/>
          </a:xfrm>
          <a:prstGeom prst="rect">
            <a:avLst/>
          </a:prstGeom>
          <a:ln>
            <a:noFill/>
          </a:ln>
          <a:effectLst>
            <a:outerShdw blurRad="292100" dist="139700" dir="2700000" algn="tl" rotWithShape="0">
              <a:srgbClr val="333333">
                <a:alpha val="65000"/>
              </a:srgbClr>
            </a:outerShdw>
          </a:effectLst>
        </p:spPr>
      </p:pic>
      <p:pic>
        <p:nvPicPr>
          <p:cNvPr id="13" name="Picture 12"/>
          <p:cNvPicPr>
            <a:picLocks noChangeAspect="1"/>
          </p:cNvPicPr>
          <p:nvPr/>
        </p:nvPicPr>
        <p:blipFill>
          <a:blip r:embed="rId6"/>
          <a:stretch>
            <a:fillRect/>
          </a:stretch>
        </p:blipFill>
        <p:spPr>
          <a:xfrm>
            <a:off x="9047163" y="4852988"/>
            <a:ext cx="3048000" cy="1165225"/>
          </a:xfrm>
          <a:prstGeom prst="rect">
            <a:avLst/>
          </a:prstGeom>
          <a:ln>
            <a:noFill/>
          </a:ln>
          <a:effectLst>
            <a:outerShdw blurRad="292100" dist="139700" dir="2700000" algn="tl" rotWithShape="0">
              <a:srgbClr val="333333">
                <a:alpha val="65000"/>
              </a:srgbClr>
            </a:outerShdw>
          </a:effectLst>
        </p:spPr>
      </p:pic>
      <p:pic>
        <p:nvPicPr>
          <p:cNvPr id="15" name="Picture 14"/>
          <p:cNvPicPr>
            <a:picLocks noChangeAspect="1"/>
          </p:cNvPicPr>
          <p:nvPr/>
        </p:nvPicPr>
        <p:blipFill>
          <a:blip r:embed="rId7"/>
          <a:stretch>
            <a:fillRect/>
          </a:stretch>
        </p:blipFill>
        <p:spPr>
          <a:xfrm>
            <a:off x="9245600" y="1784350"/>
            <a:ext cx="2647950" cy="117157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Bangalore</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Institute</a:t>
            </a: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5" normalizeH="0" baseline="0" noProof="0" dirty="0">
                <a:ln>
                  <a:noFill/>
                </a:ln>
                <a:solidFill>
                  <a:schemeClr val="bg1"/>
                </a:solidFill>
                <a:effectLst/>
                <a:uLnTx/>
                <a:uFillTx/>
                <a:latin typeface="Times New Roman" panose="02020603050405020304"/>
                <a:ea typeface="+mj-ea"/>
                <a:cs typeface="Times New Roman" panose="02020603050405020304"/>
              </a:rPr>
              <a:t>of</a:t>
            </a:r>
            <a:r>
              <a:rPr kumimoji="0" sz="2400" b="1" i="0" u="none" strike="noStrike" kern="0" cap="none" spc="-5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Technology</a:t>
            </a:r>
          </a:p>
        </p:txBody>
      </p:sp>
      <p:sp>
        <p:nvSpPr>
          <p:cNvPr id="3" name="object 3"/>
          <p:cNvSpPr txBox="1"/>
          <p:nvPr/>
        </p:nvSpPr>
        <p:spPr>
          <a:xfrm>
            <a:off x="3419475" y="334963"/>
            <a:ext cx="5353050" cy="593725"/>
          </a:xfrm>
          <a:prstGeom prst="rect">
            <a:avLst/>
          </a:prstGeom>
        </p:spPr>
        <p:txBody>
          <a:bodyPr lIns="0" tIns="12065" rIns="0" bIns="0">
            <a:spAutoFit/>
          </a:bodyPr>
          <a:lstStyle/>
          <a:p>
            <a:pPr marL="949325" marR="0" defTabSz="914400" eaLnBrk="1" fontAlgn="auto" hangingPunct="1">
              <a:lnSpc>
                <a:spcPts val="1760"/>
              </a:lnSpc>
              <a:spcBef>
                <a:spcPts val="95"/>
              </a:spcBef>
              <a:spcAft>
                <a:spcPts val="0"/>
              </a:spcAft>
              <a:buClrTx/>
              <a:buSzTx/>
              <a:buFontTx/>
              <a:buNone/>
              <a:defRPr/>
            </a:pPr>
            <a:r>
              <a:rPr kumimoji="0" sz="1600" kern="1200" cap="none" spc="-5" normalizeH="0" baseline="0" noProof="0" dirty="0">
                <a:solidFill>
                  <a:srgbClr val="FFFFFF"/>
                </a:solidFill>
                <a:latin typeface="Times New Roman" panose="02020603050405020304"/>
                <a:ea typeface="+mn-ea"/>
                <a:cs typeface="Times New Roman" panose="02020603050405020304"/>
              </a:rPr>
              <a:t>K.R. Road,</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110" normalizeH="0" baseline="0" noProof="0" dirty="0">
                <a:solidFill>
                  <a:srgbClr val="FFFFFF"/>
                </a:solidFill>
                <a:latin typeface="Times New Roman" panose="02020603050405020304"/>
                <a:ea typeface="+mn-ea"/>
                <a:cs typeface="Times New Roman" panose="02020603050405020304"/>
              </a:rPr>
              <a:t>V.V.</a:t>
            </a:r>
            <a:r>
              <a:rPr kumimoji="0" sz="1600" kern="1200" cap="none" spc="-5" normalizeH="0" baseline="0" noProof="0" dirty="0">
                <a:solidFill>
                  <a:srgbClr val="FFFFFF"/>
                </a:solidFill>
                <a:latin typeface="Times New Roman" panose="02020603050405020304"/>
                <a:ea typeface="+mn-ea"/>
                <a:cs typeface="Times New Roman" panose="02020603050405020304"/>
              </a:rPr>
              <a:t> Pura,</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5" normalizeH="0" baseline="0" noProof="0" dirty="0">
                <a:solidFill>
                  <a:srgbClr val="FFFFFF"/>
                </a:solidFill>
                <a:latin typeface="Times New Roman" panose="02020603050405020304"/>
                <a:ea typeface="+mn-ea"/>
                <a:cs typeface="Times New Roman" panose="02020603050405020304"/>
              </a:rPr>
              <a:t>Bengaluru.-560004.</a:t>
            </a:r>
            <a:endParaRPr kumimoji="0" sz="1600" kern="1200" cap="none" spc="0" normalizeH="0" baseline="0" noProof="0">
              <a:latin typeface="Times New Roman" panose="02020603050405020304"/>
              <a:ea typeface="+mn-ea"/>
              <a:cs typeface="Times New Roman" panose="02020603050405020304"/>
            </a:endParaRPr>
          </a:p>
          <a:p>
            <a:pPr marL="12700" marR="0" defTabSz="914400" eaLnBrk="1" fontAlgn="auto" hangingPunct="1">
              <a:lnSpc>
                <a:spcPts val="2720"/>
              </a:lnSpc>
              <a:spcBef>
                <a:spcPts val="0"/>
              </a:spcBef>
              <a:spcAft>
                <a:spcPts val="0"/>
              </a:spcAft>
              <a:buClrTx/>
              <a:buSzTx/>
              <a:buFontTx/>
              <a:buNone/>
              <a:defRPr/>
            </a:pPr>
            <a:r>
              <a:rPr kumimoji="0" sz="2400" b="1" kern="1200" cap="none" spc="0" normalizeH="0" baseline="0" noProof="0" dirty="0">
                <a:solidFill>
                  <a:srgbClr val="FFFFFF"/>
                </a:solidFill>
                <a:latin typeface="Times New Roman" panose="02020603050405020304"/>
                <a:ea typeface="+mn-ea"/>
                <a:cs typeface="Times New Roman" panose="02020603050405020304"/>
              </a:rPr>
              <a:t>D</a:t>
            </a:r>
            <a:r>
              <a:rPr kumimoji="0" sz="2000" b="1" kern="1200" cap="none" spc="0" normalizeH="0" baseline="0" noProof="0" dirty="0">
                <a:solidFill>
                  <a:srgbClr val="FFFFFF"/>
                </a:solidFill>
                <a:latin typeface="Times New Roman" panose="02020603050405020304"/>
                <a:ea typeface="+mn-ea"/>
                <a:cs typeface="Times New Roman" panose="02020603050405020304"/>
              </a:rPr>
              <a:t>epartment</a:t>
            </a:r>
            <a:r>
              <a:rPr kumimoji="0" sz="2000" b="1" kern="1200" cap="none" spc="-4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of</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Computer</a:t>
            </a:r>
            <a:r>
              <a:rPr kumimoji="0" sz="2000" b="1" kern="1200" cap="none" spc="-8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Science</a:t>
            </a:r>
            <a:r>
              <a:rPr kumimoji="0" sz="2000" b="1" kern="1200" cap="none" spc="-1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&amp;</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Engineering</a:t>
            </a:r>
            <a:endParaRPr kumimoji="0" sz="2000" kern="1200" cap="none" spc="0" normalizeH="0" baseline="0" noProof="0">
              <a:latin typeface="Times New Roman" panose="02020603050405020304"/>
              <a:ea typeface="+mn-ea"/>
              <a:cs typeface="Times New Roman" panose="02020603050405020304"/>
            </a:endParaRPr>
          </a:p>
        </p:txBody>
      </p:sp>
      <p:grpSp>
        <p:nvGrpSpPr>
          <p:cNvPr id="13316" name="object 4"/>
          <p:cNvGrpSpPr/>
          <p:nvPr/>
        </p:nvGrpSpPr>
        <p:grpSpPr>
          <a:xfrm>
            <a:off x="203200" y="0"/>
            <a:ext cx="11891963" cy="1193800"/>
            <a:chOff x="203200" y="0"/>
            <a:chExt cx="11892280" cy="1193165"/>
          </a:xfrm>
        </p:grpSpPr>
        <p:pic>
          <p:nvPicPr>
            <p:cNvPr id="13324" name="object 5"/>
            <p:cNvPicPr>
              <a:picLocks noChangeAspect="1"/>
            </p:cNvPicPr>
            <p:nvPr/>
          </p:nvPicPr>
          <p:blipFill>
            <a:blip r:embed="rId2"/>
            <a:stretch>
              <a:fillRect/>
            </a:stretch>
          </p:blipFill>
          <p:spPr>
            <a:xfrm>
              <a:off x="203200" y="0"/>
              <a:ext cx="1441958" cy="1192657"/>
            </a:xfrm>
            <a:prstGeom prst="rect">
              <a:avLst/>
            </a:prstGeom>
            <a:noFill/>
            <a:ln w="9525">
              <a:noFill/>
            </a:ln>
          </p:spPr>
        </p:pic>
        <p:pic>
          <p:nvPicPr>
            <p:cNvPr id="13325" name="object 6"/>
            <p:cNvPicPr>
              <a:picLocks noChangeAspect="1"/>
            </p:cNvPicPr>
            <p:nvPr/>
          </p:nvPicPr>
          <p:blipFill>
            <a:blip r:embed="rId3"/>
            <a:stretch>
              <a:fillRect/>
            </a:stretch>
          </p:blipFill>
          <p:spPr>
            <a:xfrm>
              <a:off x="10653521" y="70713"/>
              <a:ext cx="1441957" cy="994054"/>
            </a:xfrm>
            <a:prstGeom prst="rect">
              <a:avLst/>
            </a:prstGeom>
            <a:noFill/>
            <a:ln w="9525">
              <a:noFill/>
            </a:ln>
          </p:spPr>
        </p:pic>
      </p:grpSp>
      <p:sp>
        <p:nvSpPr>
          <p:cNvPr id="13317" name="Google Shape;195;p10"/>
          <p:cNvSpPr txBox="1"/>
          <p:nvPr/>
        </p:nvSpPr>
        <p:spPr>
          <a:xfrm>
            <a:off x="1066800" y="1077913"/>
            <a:ext cx="10515600" cy="595312"/>
          </a:xfrm>
          <a:prstGeom prst="rect">
            <a:avLst/>
          </a:prstGeom>
          <a:noFill/>
          <a:ln w="9525">
            <a:noFill/>
          </a:ln>
        </p:spPr>
        <p:txBody>
          <a:bodyPr lIns="91425" tIns="45700" rIns="91425" bIns="45700" anchor="ctr" anchorCtr="0"/>
          <a:lstStyle/>
          <a:p>
            <a:pPr>
              <a:buClr>
                <a:srgbClr val="464646"/>
              </a:buClr>
              <a:buFont typeface="Lucida Sans" panose="020B0602030504020204" pitchFamily="34" charset="0"/>
              <a:buNone/>
            </a:pPr>
            <a:endParaRPr lang="en-IN" altLang="en-US" sz="2800" b="1"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algn="ctr">
              <a:buClr>
                <a:srgbClr val="464646"/>
              </a:buClr>
              <a:buFont typeface="Lucida Sans" panose="020B0602030504020204" pitchFamily="34" charset="0"/>
              <a:buNone/>
            </a:pPr>
            <a:r>
              <a:rPr lang="en-IN" altLang="en-US" sz="2800" b="1" dirty="0">
                <a:latin typeface="Times New Roman" panose="02020603050405020304" pitchFamily="18" charset="0"/>
                <a:cs typeface="Arial" panose="020B0604020202020204" pitchFamily="34" charset="0"/>
                <a:sym typeface="Arial" panose="020B0604020202020204" pitchFamily="34" charset="0"/>
              </a:rPr>
              <a:t> </a:t>
            </a:r>
          </a:p>
          <a:p>
            <a:pPr algn="ctr">
              <a:buClr>
                <a:srgbClr val="464646"/>
              </a:buClr>
              <a:buFont typeface="Lucida Sans" panose="020B0602030504020204" pitchFamily="34" charset="0"/>
              <a:buNone/>
            </a:pPr>
            <a:r>
              <a:rPr lang="en-IN" altLang="en-US" sz="2800" b="1" dirty="0">
                <a:latin typeface="Times New Roman" panose="02020603050405020304" pitchFamily="18" charset="0"/>
                <a:cs typeface="Arial" panose="020B0604020202020204" pitchFamily="34" charset="0"/>
                <a:sym typeface="Arial" panose="020B0604020202020204" pitchFamily="34" charset="0"/>
              </a:rPr>
              <a:t>SNAPSHOTS</a:t>
            </a:r>
          </a:p>
          <a:p>
            <a:pPr>
              <a:buClr>
                <a:srgbClr val="464646"/>
              </a:buClr>
              <a:buFont typeface="Lucida Sans" panose="020B0602030504020204" pitchFamily="34" charset="0"/>
              <a:buNone/>
            </a:pPr>
            <a:br>
              <a:rPr lang="en-IN" altLang="en-US" sz="2800" dirty="0">
                <a:solidFill>
                  <a:srgbClr val="000000"/>
                </a:solidFill>
                <a:latin typeface="Arial" panose="020B0604020202020204" pitchFamily="34" charset="0"/>
                <a:cs typeface="Arial" panose="020B0604020202020204" pitchFamily="34" charset="0"/>
                <a:sym typeface="Arial" panose="020B0604020202020204" pitchFamily="34" charset="0"/>
              </a:rPr>
            </a:br>
            <a:endParaRPr lang="en-US" altLang="en-US" sz="2800" b="1" dirty="0">
              <a:latin typeface="Times New Roman" panose="02020603050405020304" pitchFamily="18" charset="0"/>
              <a:ea typeface="Arial" panose="020B0604020202020204" pitchFamily="34" charset="0"/>
              <a:sym typeface="Lucida Sans" panose="020B0602030504020204" pitchFamily="34" charset="0"/>
            </a:endParaRPr>
          </a:p>
        </p:txBody>
      </p:sp>
      <p:pic>
        <p:nvPicPr>
          <p:cNvPr id="5" name="Picture 4"/>
          <p:cNvPicPr>
            <a:picLocks noChangeAspect="1"/>
          </p:cNvPicPr>
          <p:nvPr/>
        </p:nvPicPr>
        <p:blipFill>
          <a:blip r:embed="rId4"/>
          <a:srcRect l="2757" t="7795" r="67677" b="8292"/>
          <a:stretch>
            <a:fillRect/>
          </a:stretch>
        </p:blipFill>
        <p:spPr>
          <a:xfrm>
            <a:off x="130175" y="1352550"/>
            <a:ext cx="1441450" cy="2541588"/>
          </a:xfrm>
          <a:prstGeom prst="rect">
            <a:avLst/>
          </a:prstGeom>
          <a:ln>
            <a:noFill/>
          </a:ln>
          <a:effectLst>
            <a:outerShdw blurRad="292100" dist="139700" dir="2700000" algn="tl" rotWithShape="0">
              <a:srgbClr val="333333">
                <a:alpha val="65000"/>
              </a:srgbClr>
            </a:outerShdw>
          </a:effectLst>
        </p:spPr>
      </p:pic>
      <p:pic>
        <p:nvPicPr>
          <p:cNvPr id="7" name="Picture 6"/>
          <p:cNvPicPr>
            <a:picLocks noChangeAspect="1"/>
          </p:cNvPicPr>
          <p:nvPr/>
        </p:nvPicPr>
        <p:blipFill>
          <a:blip r:embed="rId5"/>
          <a:srcRect t="8270"/>
          <a:stretch>
            <a:fillRect/>
          </a:stretch>
        </p:blipFill>
        <p:spPr>
          <a:xfrm>
            <a:off x="1746250" y="1341438"/>
            <a:ext cx="1209675" cy="2462213"/>
          </a:xfrm>
          <a:prstGeom prst="rect">
            <a:avLst/>
          </a:prstGeom>
          <a:ln>
            <a:noFill/>
          </a:ln>
          <a:effectLst>
            <a:outerShdw blurRad="292100" dist="139700" dir="2700000" algn="tl" rotWithShape="0">
              <a:srgbClr val="333333">
                <a:alpha val="65000"/>
              </a:srgbClr>
            </a:outerShdw>
          </a:effectLst>
        </p:spPr>
      </p:pic>
      <p:pic>
        <p:nvPicPr>
          <p:cNvPr id="9" name="Picture 8"/>
          <p:cNvPicPr>
            <a:picLocks noChangeAspect="1"/>
          </p:cNvPicPr>
          <p:nvPr/>
        </p:nvPicPr>
        <p:blipFill>
          <a:blip r:embed="rId6"/>
          <a:srcRect r="61645" b="48560"/>
          <a:stretch>
            <a:fillRect/>
          </a:stretch>
        </p:blipFill>
        <p:spPr>
          <a:xfrm>
            <a:off x="944563" y="4076700"/>
            <a:ext cx="1441450" cy="1736725"/>
          </a:xfrm>
          <a:prstGeom prst="rect">
            <a:avLst/>
          </a:prstGeom>
          <a:ln>
            <a:noFill/>
          </a:ln>
          <a:effectLst>
            <a:outerShdw blurRad="292100" dist="139700" dir="2700000" algn="tl" rotWithShape="0">
              <a:srgbClr val="333333">
                <a:alpha val="65000"/>
              </a:srgbClr>
            </a:outerShdw>
          </a:effectLst>
        </p:spPr>
      </p:pic>
      <p:pic>
        <p:nvPicPr>
          <p:cNvPr id="11" name="Picture 10"/>
          <p:cNvPicPr>
            <a:picLocks noChangeAspect="1"/>
          </p:cNvPicPr>
          <p:nvPr/>
        </p:nvPicPr>
        <p:blipFill>
          <a:blip r:embed="rId7"/>
          <a:stretch>
            <a:fillRect/>
          </a:stretch>
        </p:blipFill>
        <p:spPr>
          <a:xfrm>
            <a:off x="3157538" y="3427413"/>
            <a:ext cx="5630863" cy="2432050"/>
          </a:xfrm>
          <a:prstGeom prst="rect">
            <a:avLst/>
          </a:prstGeom>
          <a:ln>
            <a:noFill/>
          </a:ln>
          <a:effectLst>
            <a:outerShdw blurRad="292100" dist="139700" dir="2700000" algn="tl" rotWithShape="0">
              <a:srgbClr val="333333">
                <a:alpha val="65000"/>
              </a:srgbClr>
            </a:outerShdw>
          </a:effectLst>
        </p:spPr>
      </p:pic>
      <p:pic>
        <p:nvPicPr>
          <p:cNvPr id="13" name="Picture 12"/>
          <p:cNvPicPr>
            <a:picLocks noChangeAspect="1"/>
          </p:cNvPicPr>
          <p:nvPr/>
        </p:nvPicPr>
        <p:blipFill>
          <a:blip r:embed="rId8"/>
          <a:srcRect b="56021"/>
          <a:stretch>
            <a:fillRect/>
          </a:stretch>
        </p:blipFill>
        <p:spPr>
          <a:xfrm>
            <a:off x="3411538" y="2049463"/>
            <a:ext cx="4929188" cy="1095375"/>
          </a:xfrm>
          <a:prstGeom prst="rect">
            <a:avLst/>
          </a:prstGeom>
          <a:ln>
            <a:noFill/>
          </a:ln>
          <a:effectLst>
            <a:outerShdw blurRad="292100" dist="139700" dir="2700000" algn="tl" rotWithShape="0">
              <a:srgbClr val="333333">
                <a:alpha val="65000"/>
              </a:srgbClr>
            </a:outerShdw>
          </a:effectLst>
        </p:spPr>
      </p:pic>
      <p:pic>
        <p:nvPicPr>
          <p:cNvPr id="15" name="Picture 14"/>
          <p:cNvPicPr>
            <a:picLocks noChangeAspect="1"/>
          </p:cNvPicPr>
          <p:nvPr/>
        </p:nvPicPr>
        <p:blipFill>
          <a:blip r:embed="rId9"/>
          <a:stretch>
            <a:fillRect/>
          </a:stretch>
        </p:blipFill>
        <p:spPr>
          <a:xfrm>
            <a:off x="8991600" y="1947863"/>
            <a:ext cx="2951163" cy="3821113"/>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Bangalore</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Institute</a:t>
            </a: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5" normalizeH="0" baseline="0" noProof="0" dirty="0">
                <a:ln>
                  <a:noFill/>
                </a:ln>
                <a:solidFill>
                  <a:schemeClr val="bg1"/>
                </a:solidFill>
                <a:effectLst/>
                <a:uLnTx/>
                <a:uFillTx/>
                <a:latin typeface="Times New Roman" panose="02020603050405020304"/>
                <a:ea typeface="+mj-ea"/>
                <a:cs typeface="Times New Roman" panose="02020603050405020304"/>
              </a:rPr>
              <a:t>of</a:t>
            </a:r>
            <a:r>
              <a:rPr kumimoji="0" sz="2400" b="1" i="0" u="none" strike="noStrike" kern="0" cap="none" spc="-5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Technology</a:t>
            </a:r>
          </a:p>
        </p:txBody>
      </p:sp>
      <p:sp>
        <p:nvSpPr>
          <p:cNvPr id="3" name="object 3"/>
          <p:cNvSpPr txBox="1"/>
          <p:nvPr/>
        </p:nvSpPr>
        <p:spPr>
          <a:xfrm>
            <a:off x="3419475" y="334963"/>
            <a:ext cx="5353050" cy="593725"/>
          </a:xfrm>
          <a:prstGeom prst="rect">
            <a:avLst/>
          </a:prstGeom>
        </p:spPr>
        <p:txBody>
          <a:bodyPr lIns="0" tIns="12065" rIns="0" bIns="0">
            <a:spAutoFit/>
          </a:bodyPr>
          <a:lstStyle/>
          <a:p>
            <a:pPr marL="949325" marR="0" defTabSz="914400" eaLnBrk="1" fontAlgn="auto" hangingPunct="1">
              <a:lnSpc>
                <a:spcPts val="1760"/>
              </a:lnSpc>
              <a:spcBef>
                <a:spcPts val="95"/>
              </a:spcBef>
              <a:spcAft>
                <a:spcPts val="0"/>
              </a:spcAft>
              <a:buClrTx/>
              <a:buSzTx/>
              <a:buFontTx/>
              <a:buNone/>
              <a:defRPr/>
            </a:pPr>
            <a:r>
              <a:rPr kumimoji="0" sz="1600" kern="1200" cap="none" spc="-5" normalizeH="0" baseline="0" noProof="0" dirty="0">
                <a:solidFill>
                  <a:srgbClr val="FFFFFF"/>
                </a:solidFill>
                <a:latin typeface="Times New Roman" panose="02020603050405020304"/>
                <a:ea typeface="+mn-ea"/>
                <a:cs typeface="Times New Roman" panose="02020603050405020304"/>
              </a:rPr>
              <a:t>K.R. Road,</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110" normalizeH="0" baseline="0" noProof="0" dirty="0">
                <a:solidFill>
                  <a:srgbClr val="FFFFFF"/>
                </a:solidFill>
                <a:latin typeface="Times New Roman" panose="02020603050405020304"/>
                <a:ea typeface="+mn-ea"/>
                <a:cs typeface="Times New Roman" panose="02020603050405020304"/>
              </a:rPr>
              <a:t>V.V.</a:t>
            </a:r>
            <a:r>
              <a:rPr kumimoji="0" sz="1600" kern="1200" cap="none" spc="-5" normalizeH="0" baseline="0" noProof="0" dirty="0">
                <a:solidFill>
                  <a:srgbClr val="FFFFFF"/>
                </a:solidFill>
                <a:latin typeface="Times New Roman" panose="02020603050405020304"/>
                <a:ea typeface="+mn-ea"/>
                <a:cs typeface="Times New Roman" panose="02020603050405020304"/>
              </a:rPr>
              <a:t> Pura,</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5" normalizeH="0" baseline="0" noProof="0" dirty="0">
                <a:solidFill>
                  <a:srgbClr val="FFFFFF"/>
                </a:solidFill>
                <a:latin typeface="Times New Roman" panose="02020603050405020304"/>
                <a:ea typeface="+mn-ea"/>
                <a:cs typeface="Times New Roman" panose="02020603050405020304"/>
              </a:rPr>
              <a:t>Bengaluru.-560004.</a:t>
            </a:r>
            <a:endParaRPr kumimoji="0" sz="1600" kern="1200" cap="none" spc="0" normalizeH="0" baseline="0" noProof="0">
              <a:latin typeface="Times New Roman" panose="02020603050405020304"/>
              <a:ea typeface="+mn-ea"/>
              <a:cs typeface="Times New Roman" panose="02020603050405020304"/>
            </a:endParaRPr>
          </a:p>
          <a:p>
            <a:pPr marL="12700" marR="0" defTabSz="914400" eaLnBrk="1" fontAlgn="auto" hangingPunct="1">
              <a:lnSpc>
                <a:spcPts val="2720"/>
              </a:lnSpc>
              <a:spcBef>
                <a:spcPts val="0"/>
              </a:spcBef>
              <a:spcAft>
                <a:spcPts val="0"/>
              </a:spcAft>
              <a:buClrTx/>
              <a:buSzTx/>
              <a:buFontTx/>
              <a:buNone/>
              <a:defRPr/>
            </a:pPr>
            <a:r>
              <a:rPr kumimoji="0" sz="2400" b="1" kern="1200" cap="none" spc="0" normalizeH="0" baseline="0" noProof="0" dirty="0">
                <a:solidFill>
                  <a:srgbClr val="FFFFFF"/>
                </a:solidFill>
                <a:latin typeface="Times New Roman" panose="02020603050405020304"/>
                <a:ea typeface="+mn-ea"/>
                <a:cs typeface="Times New Roman" panose="02020603050405020304"/>
              </a:rPr>
              <a:t>D</a:t>
            </a:r>
            <a:r>
              <a:rPr kumimoji="0" sz="2000" b="1" kern="1200" cap="none" spc="0" normalizeH="0" baseline="0" noProof="0" dirty="0">
                <a:solidFill>
                  <a:srgbClr val="FFFFFF"/>
                </a:solidFill>
                <a:latin typeface="Times New Roman" panose="02020603050405020304"/>
                <a:ea typeface="+mn-ea"/>
                <a:cs typeface="Times New Roman" panose="02020603050405020304"/>
              </a:rPr>
              <a:t>epartment</a:t>
            </a:r>
            <a:r>
              <a:rPr kumimoji="0" sz="2000" b="1" kern="1200" cap="none" spc="-4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of</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Computer</a:t>
            </a:r>
            <a:r>
              <a:rPr kumimoji="0" sz="2000" b="1" kern="1200" cap="none" spc="-8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Science</a:t>
            </a:r>
            <a:r>
              <a:rPr kumimoji="0" sz="2000" b="1" kern="1200" cap="none" spc="-1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&amp;</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Engineering</a:t>
            </a:r>
            <a:endParaRPr kumimoji="0" sz="2000" kern="1200" cap="none" spc="0" normalizeH="0" baseline="0" noProof="0">
              <a:latin typeface="Times New Roman" panose="02020603050405020304"/>
              <a:ea typeface="+mn-ea"/>
              <a:cs typeface="Times New Roman" panose="02020603050405020304"/>
            </a:endParaRPr>
          </a:p>
        </p:txBody>
      </p:sp>
      <p:grpSp>
        <p:nvGrpSpPr>
          <p:cNvPr id="14340" name="object 4"/>
          <p:cNvGrpSpPr/>
          <p:nvPr/>
        </p:nvGrpSpPr>
        <p:grpSpPr>
          <a:xfrm>
            <a:off x="203200" y="0"/>
            <a:ext cx="11891963" cy="1193800"/>
            <a:chOff x="203200" y="0"/>
            <a:chExt cx="11892280" cy="1193165"/>
          </a:xfrm>
        </p:grpSpPr>
        <p:pic>
          <p:nvPicPr>
            <p:cNvPr id="14343" name="object 5"/>
            <p:cNvPicPr>
              <a:picLocks noChangeAspect="1"/>
            </p:cNvPicPr>
            <p:nvPr/>
          </p:nvPicPr>
          <p:blipFill>
            <a:blip r:embed="rId2"/>
            <a:stretch>
              <a:fillRect/>
            </a:stretch>
          </p:blipFill>
          <p:spPr>
            <a:xfrm>
              <a:off x="203200" y="0"/>
              <a:ext cx="1441958" cy="1192657"/>
            </a:xfrm>
            <a:prstGeom prst="rect">
              <a:avLst/>
            </a:prstGeom>
            <a:noFill/>
            <a:ln w="9525">
              <a:noFill/>
            </a:ln>
          </p:spPr>
        </p:pic>
        <p:pic>
          <p:nvPicPr>
            <p:cNvPr id="14344" name="object 6"/>
            <p:cNvPicPr>
              <a:picLocks noChangeAspect="1"/>
            </p:cNvPicPr>
            <p:nvPr/>
          </p:nvPicPr>
          <p:blipFill>
            <a:blip r:embed="rId3"/>
            <a:stretch>
              <a:fillRect/>
            </a:stretch>
          </p:blipFill>
          <p:spPr>
            <a:xfrm>
              <a:off x="10653521" y="70713"/>
              <a:ext cx="1441957" cy="994054"/>
            </a:xfrm>
            <a:prstGeom prst="rect">
              <a:avLst/>
            </a:prstGeom>
            <a:noFill/>
            <a:ln w="9525">
              <a:noFill/>
            </a:ln>
          </p:spPr>
        </p:pic>
      </p:grpSp>
      <p:sp>
        <p:nvSpPr>
          <p:cNvPr id="9" name="Google Shape;195;p10"/>
          <p:cNvSpPr txBox="1"/>
          <p:nvPr/>
        </p:nvSpPr>
        <p:spPr bwMode="auto">
          <a:xfrm>
            <a:off x="533400" y="1352550"/>
            <a:ext cx="10515600" cy="595313"/>
          </a:xfrm>
          <a:prstGeom prst="rect">
            <a:avLst/>
          </a:prstGeom>
          <a:noFill/>
          <a:ln>
            <a:noFill/>
          </a:ln>
        </p:spPr>
        <p:txBody>
          <a:bodyPr spcFirstLastPara="1" lIns="91425" tIns="45700" rIns="91425" bIns="45700" anchor="ctr"/>
          <a:lst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stStyle>
          <a:p>
            <a:pPr marL="0" lvl="0" indent="0" algn="ctr" eaLnBrk="1" hangingPunct="1">
              <a:spcBef>
                <a:spcPct val="0"/>
              </a:spcBef>
              <a:buClr>
                <a:srgbClr val="4E67C8"/>
              </a:buClr>
              <a:buFont typeface="Times New Roman" panose="02020603050405020304" pitchFamily="18" charset="0"/>
              <a:buNone/>
            </a:pPr>
            <a:r>
              <a:rPr lang="en-US" altLang="en-US" sz="2800" b="1" dirty="0">
                <a:latin typeface="Times New Roman" panose="02020603050405020304" pitchFamily="18" charset="0"/>
                <a:cs typeface="Arial" panose="020B0604020202020204" pitchFamily="34" charset="0"/>
                <a:sym typeface="Times New Roman" panose="02020603050405020304" pitchFamily="18" charset="0"/>
              </a:rPr>
              <a:t>APPLICATIONS</a:t>
            </a:r>
            <a:endParaRPr lang="en-US" altLang="en-US" sz="2800" b="1" dirty="0">
              <a:latin typeface="Lucida Sans" panose="020B0602030504020204" pitchFamily="34" charset="0"/>
              <a:ea typeface="Arial" panose="020B0604020202020204" pitchFamily="34" charset="0"/>
              <a:sym typeface="Lucida Sans" panose="020B0602030504020204" pitchFamily="34" charset="0"/>
            </a:endParaRPr>
          </a:p>
        </p:txBody>
      </p:sp>
      <p:sp>
        <p:nvSpPr>
          <p:cNvPr id="14342" name="Google Shape;202;p11"/>
          <p:cNvSpPr txBox="1"/>
          <p:nvPr/>
        </p:nvSpPr>
        <p:spPr>
          <a:xfrm>
            <a:off x="1047750" y="1947863"/>
            <a:ext cx="10306050" cy="3690937"/>
          </a:xfrm>
          <a:prstGeom prst="rect">
            <a:avLst/>
          </a:prstGeom>
          <a:noFill/>
          <a:ln w="9525">
            <a:noFill/>
          </a:ln>
        </p:spPr>
        <p:txBody>
          <a:bodyPr lIns="91425" tIns="45700" rIns="91425" bIns="45700"/>
          <a:lstStyle/>
          <a:p>
            <a:pPr marL="450850" indent="-342900">
              <a:buFont typeface="Arial" panose="020B0604020202020204" pitchFamily="34" charset="0"/>
              <a:buChar char="•"/>
            </a:pPr>
            <a:r>
              <a:rPr lang="en-US" altLang="en-US" sz="2400" b="1" dirty="0">
                <a:latin typeface="Calibri" panose="020F0502020204030204" pitchFamily="34" charset="0"/>
              </a:rPr>
              <a:t>Farmers</a:t>
            </a:r>
            <a:r>
              <a:rPr lang="en-US" altLang="en-US" sz="2400" dirty="0">
                <a:latin typeface="Calibri" panose="020F0502020204030204" pitchFamily="34" charset="0"/>
              </a:rPr>
              <a:t> can plan crop cycles and market engagement based on expected prices.</a:t>
            </a:r>
          </a:p>
          <a:p>
            <a:pPr marL="450850" indent="-342900">
              <a:buFont typeface="Arial" panose="020B0604020202020204" pitchFamily="34" charset="0"/>
              <a:buChar char="•"/>
            </a:pPr>
            <a:r>
              <a:rPr lang="en-US" altLang="en-US" sz="2400" b="1" dirty="0">
                <a:latin typeface="Calibri" panose="020F0502020204030204" pitchFamily="34" charset="0"/>
              </a:rPr>
              <a:t>Policy makers</a:t>
            </a:r>
            <a:r>
              <a:rPr lang="en-US" altLang="en-US" sz="2400" dirty="0">
                <a:latin typeface="Calibri" panose="020F0502020204030204" pitchFamily="34" charset="0"/>
              </a:rPr>
              <a:t> gain insights for designing effective agricultural and economic policies.</a:t>
            </a:r>
          </a:p>
          <a:p>
            <a:pPr marL="450850" indent="-342900">
              <a:buFont typeface="Arial" panose="020B0604020202020204" pitchFamily="34" charset="0"/>
              <a:buChar char="•"/>
            </a:pPr>
            <a:r>
              <a:rPr lang="en-US" altLang="en-US" sz="2400" b="1" dirty="0">
                <a:latin typeface="Calibri" panose="020F0502020204030204" pitchFamily="34" charset="0"/>
              </a:rPr>
              <a:t>Traders and wholesalers</a:t>
            </a:r>
            <a:r>
              <a:rPr lang="en-US" altLang="en-US" sz="2400" dirty="0">
                <a:latin typeface="Calibri" panose="020F0502020204030204" pitchFamily="34" charset="0"/>
              </a:rPr>
              <a:t> can manage inventory and pricing strategies efficiently.</a:t>
            </a:r>
          </a:p>
          <a:p>
            <a:pPr marL="450850" indent="-342900">
              <a:buFont typeface="Arial" panose="020B0604020202020204" pitchFamily="34" charset="0"/>
              <a:buChar char="•"/>
            </a:pPr>
            <a:r>
              <a:rPr lang="en-US" altLang="en-US" sz="2400" b="1" dirty="0">
                <a:latin typeface="Calibri" panose="020F0502020204030204" pitchFamily="34" charset="0"/>
              </a:rPr>
              <a:t>Agro-tech companies</a:t>
            </a:r>
            <a:r>
              <a:rPr lang="en-US" altLang="en-US" sz="2400" dirty="0">
                <a:latin typeface="Calibri" panose="020F0502020204030204" pitchFamily="34" charset="0"/>
              </a:rPr>
              <a:t> can integrate forecasting into smart farming solutions.</a:t>
            </a:r>
          </a:p>
          <a:p>
            <a:pPr marL="450850" indent="-342900">
              <a:buFont typeface="Arial" panose="020B0604020202020204" pitchFamily="34" charset="0"/>
              <a:buChar char="•"/>
            </a:pPr>
            <a:r>
              <a:rPr lang="en-US" altLang="en-US" sz="2400" b="1" dirty="0">
                <a:latin typeface="Calibri" panose="020F0502020204030204" pitchFamily="34" charset="0"/>
              </a:rPr>
              <a:t>Researchers</a:t>
            </a:r>
            <a:r>
              <a:rPr lang="en-US" altLang="en-US" sz="2400" dirty="0">
                <a:latin typeface="Calibri" panose="020F0502020204030204" pitchFamily="34" charset="0"/>
              </a:rPr>
              <a:t> can use the system for analyzing long-term market behavior and trends.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Bangalore</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Institute</a:t>
            </a: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5" normalizeH="0" baseline="0" noProof="0" dirty="0">
                <a:ln>
                  <a:noFill/>
                </a:ln>
                <a:solidFill>
                  <a:schemeClr val="bg1"/>
                </a:solidFill>
                <a:effectLst/>
                <a:uLnTx/>
                <a:uFillTx/>
                <a:latin typeface="Times New Roman" panose="02020603050405020304"/>
                <a:ea typeface="+mj-ea"/>
                <a:cs typeface="Times New Roman" panose="02020603050405020304"/>
              </a:rPr>
              <a:t>of</a:t>
            </a:r>
            <a:r>
              <a:rPr kumimoji="0" sz="2400" b="1" i="0" u="none" strike="noStrike" kern="0" cap="none" spc="-5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Technology</a:t>
            </a:r>
          </a:p>
        </p:txBody>
      </p:sp>
      <p:sp>
        <p:nvSpPr>
          <p:cNvPr id="3" name="object 3"/>
          <p:cNvSpPr txBox="1"/>
          <p:nvPr/>
        </p:nvSpPr>
        <p:spPr>
          <a:xfrm>
            <a:off x="3419475" y="334963"/>
            <a:ext cx="5353050" cy="593725"/>
          </a:xfrm>
          <a:prstGeom prst="rect">
            <a:avLst/>
          </a:prstGeom>
        </p:spPr>
        <p:txBody>
          <a:bodyPr lIns="0" tIns="12065" rIns="0" bIns="0">
            <a:spAutoFit/>
          </a:bodyPr>
          <a:lstStyle/>
          <a:p>
            <a:pPr marL="949325" marR="0" defTabSz="914400" eaLnBrk="1" fontAlgn="auto" hangingPunct="1">
              <a:lnSpc>
                <a:spcPts val="1760"/>
              </a:lnSpc>
              <a:spcBef>
                <a:spcPts val="95"/>
              </a:spcBef>
              <a:spcAft>
                <a:spcPts val="0"/>
              </a:spcAft>
              <a:buClrTx/>
              <a:buSzTx/>
              <a:buFontTx/>
              <a:buNone/>
              <a:defRPr/>
            </a:pPr>
            <a:r>
              <a:rPr kumimoji="0" sz="1600" kern="1200" cap="none" spc="-5" normalizeH="0" baseline="0" noProof="0" dirty="0">
                <a:solidFill>
                  <a:srgbClr val="FFFFFF"/>
                </a:solidFill>
                <a:latin typeface="Times New Roman" panose="02020603050405020304"/>
                <a:ea typeface="+mn-ea"/>
                <a:cs typeface="Times New Roman" panose="02020603050405020304"/>
              </a:rPr>
              <a:t>K.R. Road,</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110" normalizeH="0" baseline="0" noProof="0" dirty="0">
                <a:solidFill>
                  <a:srgbClr val="FFFFFF"/>
                </a:solidFill>
                <a:latin typeface="Times New Roman" panose="02020603050405020304"/>
                <a:ea typeface="+mn-ea"/>
                <a:cs typeface="Times New Roman" panose="02020603050405020304"/>
              </a:rPr>
              <a:t>V.V.</a:t>
            </a:r>
            <a:r>
              <a:rPr kumimoji="0" sz="1600" kern="1200" cap="none" spc="-5" normalizeH="0" baseline="0" noProof="0" dirty="0">
                <a:solidFill>
                  <a:srgbClr val="FFFFFF"/>
                </a:solidFill>
                <a:latin typeface="Times New Roman" panose="02020603050405020304"/>
                <a:ea typeface="+mn-ea"/>
                <a:cs typeface="Times New Roman" panose="02020603050405020304"/>
              </a:rPr>
              <a:t> Pura,</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5" normalizeH="0" baseline="0" noProof="0" dirty="0">
                <a:solidFill>
                  <a:srgbClr val="FFFFFF"/>
                </a:solidFill>
                <a:latin typeface="Times New Roman" panose="02020603050405020304"/>
                <a:ea typeface="+mn-ea"/>
                <a:cs typeface="Times New Roman" panose="02020603050405020304"/>
              </a:rPr>
              <a:t>Bengaluru.-560004.</a:t>
            </a:r>
            <a:endParaRPr kumimoji="0" sz="1600" kern="1200" cap="none" spc="0" normalizeH="0" baseline="0" noProof="0">
              <a:latin typeface="Times New Roman" panose="02020603050405020304"/>
              <a:ea typeface="+mn-ea"/>
              <a:cs typeface="Times New Roman" panose="02020603050405020304"/>
            </a:endParaRPr>
          </a:p>
          <a:p>
            <a:pPr marL="12700" marR="0" defTabSz="914400" eaLnBrk="1" fontAlgn="auto" hangingPunct="1">
              <a:lnSpc>
                <a:spcPts val="2720"/>
              </a:lnSpc>
              <a:spcBef>
                <a:spcPts val="0"/>
              </a:spcBef>
              <a:spcAft>
                <a:spcPts val="0"/>
              </a:spcAft>
              <a:buClrTx/>
              <a:buSzTx/>
              <a:buFontTx/>
              <a:buNone/>
              <a:defRPr/>
            </a:pPr>
            <a:r>
              <a:rPr kumimoji="0" sz="2400" b="1" kern="1200" cap="none" spc="0" normalizeH="0" baseline="0" noProof="0" dirty="0">
                <a:solidFill>
                  <a:srgbClr val="FFFFFF"/>
                </a:solidFill>
                <a:latin typeface="Times New Roman" panose="02020603050405020304"/>
                <a:ea typeface="+mn-ea"/>
                <a:cs typeface="Times New Roman" panose="02020603050405020304"/>
              </a:rPr>
              <a:t>D</a:t>
            </a:r>
            <a:r>
              <a:rPr kumimoji="0" sz="2000" b="1" kern="1200" cap="none" spc="0" normalizeH="0" baseline="0" noProof="0" dirty="0">
                <a:solidFill>
                  <a:srgbClr val="FFFFFF"/>
                </a:solidFill>
                <a:latin typeface="Times New Roman" panose="02020603050405020304"/>
                <a:ea typeface="+mn-ea"/>
                <a:cs typeface="Times New Roman" panose="02020603050405020304"/>
              </a:rPr>
              <a:t>epartment</a:t>
            </a:r>
            <a:r>
              <a:rPr kumimoji="0" sz="2000" b="1" kern="1200" cap="none" spc="-4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of</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Computer</a:t>
            </a:r>
            <a:r>
              <a:rPr kumimoji="0" sz="2000" b="1" kern="1200" cap="none" spc="-8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Science</a:t>
            </a:r>
            <a:r>
              <a:rPr kumimoji="0" sz="2000" b="1" kern="1200" cap="none" spc="-1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&amp;</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Engineering</a:t>
            </a:r>
            <a:endParaRPr kumimoji="0" sz="2000" kern="1200" cap="none" spc="0" normalizeH="0" baseline="0" noProof="0">
              <a:latin typeface="Times New Roman" panose="02020603050405020304"/>
              <a:ea typeface="+mn-ea"/>
              <a:cs typeface="Times New Roman" panose="02020603050405020304"/>
            </a:endParaRPr>
          </a:p>
        </p:txBody>
      </p:sp>
      <p:grpSp>
        <p:nvGrpSpPr>
          <p:cNvPr id="15364" name="object 4"/>
          <p:cNvGrpSpPr/>
          <p:nvPr/>
        </p:nvGrpSpPr>
        <p:grpSpPr>
          <a:xfrm>
            <a:off x="203200" y="0"/>
            <a:ext cx="11891963" cy="1193800"/>
            <a:chOff x="203200" y="0"/>
            <a:chExt cx="11892280" cy="1193165"/>
          </a:xfrm>
        </p:grpSpPr>
        <p:pic>
          <p:nvPicPr>
            <p:cNvPr id="15367" name="object 5"/>
            <p:cNvPicPr>
              <a:picLocks noChangeAspect="1"/>
            </p:cNvPicPr>
            <p:nvPr/>
          </p:nvPicPr>
          <p:blipFill>
            <a:blip r:embed="rId2"/>
            <a:stretch>
              <a:fillRect/>
            </a:stretch>
          </p:blipFill>
          <p:spPr>
            <a:xfrm>
              <a:off x="203200" y="0"/>
              <a:ext cx="1441958" cy="1192657"/>
            </a:xfrm>
            <a:prstGeom prst="rect">
              <a:avLst/>
            </a:prstGeom>
            <a:noFill/>
            <a:ln w="9525">
              <a:noFill/>
            </a:ln>
          </p:spPr>
        </p:pic>
        <p:pic>
          <p:nvPicPr>
            <p:cNvPr id="15368" name="object 6"/>
            <p:cNvPicPr>
              <a:picLocks noChangeAspect="1"/>
            </p:cNvPicPr>
            <p:nvPr/>
          </p:nvPicPr>
          <p:blipFill>
            <a:blip r:embed="rId3"/>
            <a:stretch>
              <a:fillRect/>
            </a:stretch>
          </p:blipFill>
          <p:spPr>
            <a:xfrm>
              <a:off x="10653521" y="70713"/>
              <a:ext cx="1441957" cy="994054"/>
            </a:xfrm>
            <a:prstGeom prst="rect">
              <a:avLst/>
            </a:prstGeom>
            <a:noFill/>
            <a:ln w="9525">
              <a:noFill/>
            </a:ln>
          </p:spPr>
        </p:pic>
      </p:grpSp>
      <p:sp>
        <p:nvSpPr>
          <p:cNvPr id="9" name="Google Shape;195;p10"/>
          <p:cNvSpPr txBox="1"/>
          <p:nvPr/>
        </p:nvSpPr>
        <p:spPr bwMode="auto">
          <a:xfrm>
            <a:off x="609600" y="1352550"/>
            <a:ext cx="10515600" cy="595313"/>
          </a:xfrm>
          <a:prstGeom prst="rect">
            <a:avLst/>
          </a:prstGeom>
          <a:noFill/>
          <a:ln>
            <a:noFill/>
          </a:ln>
        </p:spPr>
        <p:txBody>
          <a:bodyPr spcFirstLastPara="1" lIns="91425" tIns="45700" rIns="91425" bIns="45700" anchor="ctr"/>
          <a:lst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stStyle>
          <a:p>
            <a:pPr marL="0" lvl="0" indent="0">
              <a:spcBef>
                <a:spcPct val="0"/>
              </a:spcBef>
              <a:buClr>
                <a:srgbClr val="464646"/>
              </a:buClr>
              <a:buFont typeface="Lucida Sans" panose="020B0602030504020204" pitchFamily="34" charset="0"/>
              <a:buNone/>
            </a:pPr>
            <a:endParaRPr lang="en-IN" altLang="x-none" sz="2800" b="1"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marL="0" lvl="0" indent="0" algn="ctr">
              <a:spcBef>
                <a:spcPct val="0"/>
              </a:spcBef>
              <a:buClr>
                <a:srgbClr val="464646"/>
              </a:buClr>
              <a:buFont typeface="Lucida Sans" panose="020B0602030504020204" pitchFamily="34" charset="0"/>
              <a:buNone/>
            </a:pPr>
            <a:endParaRPr lang="en-IN" altLang="x-none" sz="2800" b="1" dirty="0">
              <a:latin typeface="Times New Roman" panose="02020603050405020304" pitchFamily="18" charset="0"/>
              <a:cs typeface="Arial" panose="020B0604020202020204" pitchFamily="34" charset="0"/>
              <a:sym typeface="Arial" panose="020B0604020202020204" pitchFamily="34" charset="0"/>
            </a:endParaRPr>
          </a:p>
          <a:p>
            <a:pPr marL="0" lvl="0" indent="0" algn="ctr">
              <a:spcBef>
                <a:spcPct val="0"/>
              </a:spcBef>
              <a:buClr>
                <a:srgbClr val="464646"/>
              </a:buClr>
              <a:buFont typeface="Lucida Sans" panose="020B0602030504020204" pitchFamily="34" charset="0"/>
              <a:buNone/>
            </a:pPr>
            <a:r>
              <a:rPr lang="en-IN" altLang="x-none" sz="2800" b="1" dirty="0">
                <a:latin typeface="Times New Roman" panose="02020603050405020304" pitchFamily="18" charset="0"/>
                <a:cs typeface="Arial" panose="020B0604020202020204" pitchFamily="34" charset="0"/>
                <a:sym typeface="Arial" panose="020B0604020202020204" pitchFamily="34" charset="0"/>
              </a:rPr>
              <a:t>CONCLUSION AND FUTURE SCOPE</a:t>
            </a:r>
          </a:p>
          <a:p>
            <a:pPr marL="0" lvl="0" indent="0">
              <a:spcBef>
                <a:spcPct val="0"/>
              </a:spcBef>
              <a:buClr>
                <a:srgbClr val="464646"/>
              </a:buClr>
              <a:buFont typeface="Lucida Sans" panose="020B0602030504020204" pitchFamily="34" charset="0"/>
              <a:buNone/>
            </a:pPr>
            <a:br>
              <a:rPr lang="en-IN" altLang="x-none" sz="2800" dirty="0">
                <a:solidFill>
                  <a:srgbClr val="000000"/>
                </a:solidFill>
                <a:latin typeface="Arial" panose="020B0604020202020204" pitchFamily="34" charset="0"/>
                <a:cs typeface="Arial" panose="020B0604020202020204" pitchFamily="34" charset="0"/>
                <a:sym typeface="Arial" panose="020B0604020202020204" pitchFamily="34" charset="0"/>
              </a:rPr>
            </a:br>
            <a:endParaRPr lang="en-US" altLang="en-US" sz="2800" b="1" dirty="0">
              <a:latin typeface="Lucida Sans" panose="020B0602030504020204" pitchFamily="34" charset="0"/>
              <a:ea typeface="Arial" panose="020B0604020202020204" pitchFamily="34" charset="0"/>
              <a:sym typeface="Lucida Sans" panose="020B0602030504020204" pitchFamily="34" charset="0"/>
            </a:endParaRPr>
          </a:p>
        </p:txBody>
      </p:sp>
      <p:sp>
        <p:nvSpPr>
          <p:cNvPr id="15366" name="Google Shape;202;p11"/>
          <p:cNvSpPr txBox="1"/>
          <p:nvPr/>
        </p:nvSpPr>
        <p:spPr>
          <a:xfrm>
            <a:off x="203200" y="1957388"/>
            <a:ext cx="12453938" cy="3690937"/>
          </a:xfrm>
          <a:prstGeom prst="rect">
            <a:avLst/>
          </a:prstGeom>
          <a:noFill/>
          <a:ln w="9525">
            <a:noFill/>
          </a:ln>
        </p:spPr>
        <p:txBody>
          <a:bodyPr lIns="91425" tIns="45700" rIns="91425" bIns="45700"/>
          <a:lstStyle/>
          <a:p>
            <a:pPr marL="365125" indent="-255270" eaLnBrk="1" hangingPunct="1">
              <a:buClr>
                <a:srgbClr val="2DA2BF"/>
              </a:buClr>
              <a:buNone/>
            </a:pPr>
            <a:r>
              <a:rPr lang="en-US" altLang="en-US" sz="2800" dirty="0">
                <a:latin typeface="Calibri" panose="020F0502020204030204" pitchFamily="34" charset="0"/>
              </a:rPr>
              <a:t>	</a:t>
            </a:r>
            <a:r>
              <a:rPr lang="en-US" altLang="en-US" sz="2000" dirty="0">
                <a:latin typeface="Calibri" panose="020F0502020204030204" pitchFamily="34" charset="0"/>
              </a:rPr>
              <a:t>The project effectively forecasts crop prices using SARIMA, providing reliable predictions with minimal preprocessing. The web interface enhances usability and helps stakeholders make informed decisions. In the future, the system can be expanded by integrating real-time data, supporting more crops and regions, and improving accuracy through advanced machine learning models.</a:t>
            </a:r>
          </a:p>
          <a:p>
            <a:pPr marL="365125" indent="-255270" eaLnBrk="1" hangingPunct="1">
              <a:buClr>
                <a:srgbClr val="2DA2BF"/>
              </a:buClr>
              <a:buNone/>
            </a:pPr>
            <a:endParaRPr lang="en-US" altLang="en-US" sz="2000" dirty="0">
              <a:latin typeface="Calibri" panose="020F0502020204030204" pitchFamily="34" charset="0"/>
            </a:endParaRPr>
          </a:p>
          <a:p>
            <a:pPr marL="365125" indent="-255270" eaLnBrk="1" hangingPunct="1">
              <a:buClr>
                <a:srgbClr val="2DA2BF"/>
              </a:buClr>
              <a:buNone/>
            </a:pPr>
            <a:r>
              <a:rPr lang="en-US" altLang="en-US" sz="2000" b="1" dirty="0">
                <a:latin typeface="Calibri" panose="020F0502020204030204" pitchFamily="34" charset="0"/>
              </a:rPr>
              <a:t>	Future Scope:</a:t>
            </a:r>
            <a:endParaRPr lang="en-US" altLang="en-US" sz="2000" dirty="0">
              <a:latin typeface="Calibri" panose="020F0502020204030204" pitchFamily="34" charset="0"/>
            </a:endParaRPr>
          </a:p>
          <a:p>
            <a:pPr marL="377825" lvl="1" indent="0">
              <a:buChar char="•"/>
            </a:pPr>
            <a:r>
              <a:rPr lang="en-US" altLang="en-US" sz="2000" dirty="0">
                <a:latin typeface="Calibri" panose="020F0502020204030204" pitchFamily="34" charset="0"/>
              </a:rPr>
              <a:t>Implement crop filters for easier data navigation</a:t>
            </a:r>
          </a:p>
          <a:p>
            <a:pPr marL="377825" lvl="1" indent="0">
              <a:buChar char="•"/>
            </a:pPr>
            <a:r>
              <a:rPr lang="en-US" altLang="en-US" sz="2000" dirty="0">
                <a:latin typeface="Calibri" panose="020F0502020204030204" pitchFamily="34" charset="0"/>
              </a:rPr>
              <a:t>Enable users to upload their own crop price data</a:t>
            </a:r>
          </a:p>
          <a:p>
            <a:pPr marL="377825" lvl="1" indent="0">
              <a:buChar char="•"/>
            </a:pPr>
            <a:r>
              <a:rPr lang="en-US" altLang="en-US" sz="2000" dirty="0">
                <a:latin typeface="Calibri" panose="020F0502020204030204" pitchFamily="34" charset="0"/>
              </a:rPr>
              <a:t>Integrate an AI chatbot to assist users with queries</a:t>
            </a:r>
          </a:p>
          <a:p>
            <a:pPr marL="377825" lvl="1" indent="0">
              <a:buChar char="•"/>
            </a:pPr>
            <a:r>
              <a:rPr lang="en-US" altLang="en-US" sz="2000" dirty="0">
                <a:latin typeface="Calibri" panose="020F0502020204030204" pitchFamily="34" charset="0"/>
              </a:rPr>
              <a:t>Include real-time weather data using Weather APIs</a:t>
            </a:r>
          </a:p>
          <a:p>
            <a:pPr marL="377825" lvl="1" indent="0">
              <a:buChar char="•"/>
            </a:pPr>
            <a:r>
              <a:rPr lang="en-US" altLang="en-US" sz="2000" dirty="0">
                <a:latin typeface="Calibri" panose="020F0502020204030204" pitchFamily="34" charset="0"/>
              </a:rPr>
              <a:t>Explore and integrate additional ML models</a:t>
            </a:r>
          </a:p>
          <a:p>
            <a:pPr marL="377825" lvl="1" indent="0">
              <a:buChar char="•"/>
            </a:pPr>
            <a:r>
              <a:rPr lang="en-US" altLang="en-US" sz="2000" dirty="0">
                <a:latin typeface="Calibri" panose="020F0502020204030204" pitchFamily="34" charset="0"/>
              </a:rPr>
              <a:t>Dynamically select the best-performing model based on evaluation metrics</a:t>
            </a:r>
          </a:p>
          <a:p>
            <a:pPr marL="365125" indent="-255270" eaLnBrk="1" hangingPunct="1">
              <a:buClr>
                <a:srgbClr val="2DA2BF"/>
              </a:buClr>
              <a:buNone/>
            </a:pPr>
            <a:endParaRPr lang="en-US" altLang="en-US" sz="2000" dirty="0">
              <a:latin typeface="Calibri" panose="020F0502020204030204" pitchFamily="34" charset="0"/>
            </a:endParaRPr>
          </a:p>
          <a:p>
            <a:pPr marL="365125" indent="-255270" eaLnBrk="1" hangingPunct="1">
              <a:buClr>
                <a:srgbClr val="2DA2BF"/>
              </a:buClr>
              <a:buNone/>
            </a:pPr>
            <a:endParaRPr lang="en-US" altLang="en-US" sz="2000" dirty="0">
              <a:solidFill>
                <a:srgbClr val="000000"/>
              </a:solidFill>
              <a:latin typeface="Lucida Sans" panose="020B0602030504020204" pitchFamily="34" charset="0"/>
              <a:ea typeface="Arial" panose="020B0604020202020204" pitchFamily="34" charset="0"/>
              <a:sym typeface="Lucida Sans" panose="020B0602030504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Bangalore</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Institute</a:t>
            </a: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5" normalizeH="0" baseline="0" noProof="0" dirty="0">
                <a:ln>
                  <a:noFill/>
                </a:ln>
                <a:solidFill>
                  <a:schemeClr val="bg1"/>
                </a:solidFill>
                <a:effectLst/>
                <a:uLnTx/>
                <a:uFillTx/>
                <a:latin typeface="Times New Roman" panose="02020603050405020304"/>
                <a:ea typeface="+mj-ea"/>
                <a:cs typeface="Times New Roman" panose="02020603050405020304"/>
              </a:rPr>
              <a:t>of</a:t>
            </a:r>
            <a:r>
              <a:rPr kumimoji="0" sz="2400" b="1" i="0" u="none" strike="noStrike" kern="0" cap="none" spc="-5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Technology</a:t>
            </a:r>
          </a:p>
        </p:txBody>
      </p:sp>
      <p:sp>
        <p:nvSpPr>
          <p:cNvPr id="3" name="object 3"/>
          <p:cNvSpPr txBox="1"/>
          <p:nvPr/>
        </p:nvSpPr>
        <p:spPr>
          <a:xfrm>
            <a:off x="3419475" y="334963"/>
            <a:ext cx="5353050" cy="593725"/>
          </a:xfrm>
          <a:prstGeom prst="rect">
            <a:avLst/>
          </a:prstGeom>
        </p:spPr>
        <p:txBody>
          <a:bodyPr lIns="0" tIns="12065" rIns="0" bIns="0">
            <a:spAutoFit/>
          </a:bodyPr>
          <a:lstStyle/>
          <a:p>
            <a:pPr marL="949325" marR="0" defTabSz="914400" eaLnBrk="1" fontAlgn="auto" hangingPunct="1">
              <a:lnSpc>
                <a:spcPts val="1760"/>
              </a:lnSpc>
              <a:spcBef>
                <a:spcPts val="95"/>
              </a:spcBef>
              <a:spcAft>
                <a:spcPts val="0"/>
              </a:spcAft>
              <a:buClrTx/>
              <a:buSzTx/>
              <a:buFontTx/>
              <a:buNone/>
              <a:defRPr/>
            </a:pPr>
            <a:r>
              <a:rPr kumimoji="0" sz="1600" kern="1200" cap="none" spc="-5" normalizeH="0" baseline="0" noProof="0" dirty="0">
                <a:solidFill>
                  <a:srgbClr val="FFFFFF"/>
                </a:solidFill>
                <a:latin typeface="Times New Roman" panose="02020603050405020304"/>
                <a:ea typeface="+mn-ea"/>
                <a:cs typeface="Times New Roman" panose="02020603050405020304"/>
              </a:rPr>
              <a:t>K.R. Road,</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110" normalizeH="0" baseline="0" noProof="0" dirty="0">
                <a:solidFill>
                  <a:srgbClr val="FFFFFF"/>
                </a:solidFill>
                <a:latin typeface="Times New Roman" panose="02020603050405020304"/>
                <a:ea typeface="+mn-ea"/>
                <a:cs typeface="Times New Roman" panose="02020603050405020304"/>
              </a:rPr>
              <a:t>V.V.</a:t>
            </a:r>
            <a:r>
              <a:rPr kumimoji="0" sz="1600" kern="1200" cap="none" spc="-5" normalizeH="0" baseline="0" noProof="0" dirty="0">
                <a:solidFill>
                  <a:srgbClr val="FFFFFF"/>
                </a:solidFill>
                <a:latin typeface="Times New Roman" panose="02020603050405020304"/>
                <a:ea typeface="+mn-ea"/>
                <a:cs typeface="Times New Roman" panose="02020603050405020304"/>
              </a:rPr>
              <a:t> Pura,</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5" normalizeH="0" baseline="0" noProof="0" dirty="0">
                <a:solidFill>
                  <a:srgbClr val="FFFFFF"/>
                </a:solidFill>
                <a:latin typeface="Times New Roman" panose="02020603050405020304"/>
                <a:ea typeface="+mn-ea"/>
                <a:cs typeface="Times New Roman" panose="02020603050405020304"/>
              </a:rPr>
              <a:t>Bengaluru.-560004.</a:t>
            </a:r>
            <a:endParaRPr kumimoji="0" sz="1600" kern="1200" cap="none" spc="0" normalizeH="0" baseline="0" noProof="0">
              <a:latin typeface="Times New Roman" panose="02020603050405020304"/>
              <a:ea typeface="+mn-ea"/>
              <a:cs typeface="Times New Roman" panose="02020603050405020304"/>
            </a:endParaRPr>
          </a:p>
          <a:p>
            <a:pPr marL="12700" marR="0" defTabSz="914400" eaLnBrk="1" fontAlgn="auto" hangingPunct="1">
              <a:lnSpc>
                <a:spcPts val="2720"/>
              </a:lnSpc>
              <a:spcBef>
                <a:spcPts val="0"/>
              </a:spcBef>
              <a:spcAft>
                <a:spcPts val="0"/>
              </a:spcAft>
              <a:buClrTx/>
              <a:buSzTx/>
              <a:buFontTx/>
              <a:buNone/>
              <a:defRPr/>
            </a:pPr>
            <a:r>
              <a:rPr kumimoji="0" sz="2400" b="1" kern="1200" cap="none" spc="0" normalizeH="0" baseline="0" noProof="0" dirty="0">
                <a:solidFill>
                  <a:srgbClr val="FFFFFF"/>
                </a:solidFill>
                <a:latin typeface="Times New Roman" panose="02020603050405020304"/>
                <a:ea typeface="+mn-ea"/>
                <a:cs typeface="Times New Roman" panose="02020603050405020304"/>
              </a:rPr>
              <a:t>D</a:t>
            </a:r>
            <a:r>
              <a:rPr kumimoji="0" sz="2000" b="1" kern="1200" cap="none" spc="0" normalizeH="0" baseline="0" noProof="0" dirty="0">
                <a:solidFill>
                  <a:srgbClr val="FFFFFF"/>
                </a:solidFill>
                <a:latin typeface="Times New Roman" panose="02020603050405020304"/>
                <a:ea typeface="+mn-ea"/>
                <a:cs typeface="Times New Roman" panose="02020603050405020304"/>
              </a:rPr>
              <a:t>epartment</a:t>
            </a:r>
            <a:r>
              <a:rPr kumimoji="0" sz="2000" b="1" kern="1200" cap="none" spc="-4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of</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Computer</a:t>
            </a:r>
            <a:r>
              <a:rPr kumimoji="0" sz="2000" b="1" kern="1200" cap="none" spc="-8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Science</a:t>
            </a:r>
            <a:r>
              <a:rPr kumimoji="0" sz="2000" b="1" kern="1200" cap="none" spc="-1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&amp;</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Engineering</a:t>
            </a:r>
            <a:endParaRPr kumimoji="0" sz="2000" kern="1200" cap="none" spc="0" normalizeH="0" baseline="0" noProof="0">
              <a:latin typeface="Times New Roman" panose="02020603050405020304"/>
              <a:ea typeface="+mn-ea"/>
              <a:cs typeface="Times New Roman" panose="02020603050405020304"/>
            </a:endParaRPr>
          </a:p>
        </p:txBody>
      </p:sp>
      <p:grpSp>
        <p:nvGrpSpPr>
          <p:cNvPr id="16388" name="object 4"/>
          <p:cNvGrpSpPr/>
          <p:nvPr/>
        </p:nvGrpSpPr>
        <p:grpSpPr>
          <a:xfrm>
            <a:off x="203200" y="0"/>
            <a:ext cx="11891963" cy="1193800"/>
            <a:chOff x="203200" y="0"/>
            <a:chExt cx="11892280" cy="1193165"/>
          </a:xfrm>
        </p:grpSpPr>
        <p:pic>
          <p:nvPicPr>
            <p:cNvPr id="16391" name="object 5"/>
            <p:cNvPicPr>
              <a:picLocks noChangeAspect="1"/>
            </p:cNvPicPr>
            <p:nvPr/>
          </p:nvPicPr>
          <p:blipFill>
            <a:blip r:embed="rId2"/>
            <a:stretch>
              <a:fillRect/>
            </a:stretch>
          </p:blipFill>
          <p:spPr>
            <a:xfrm>
              <a:off x="203200" y="0"/>
              <a:ext cx="1441958" cy="1192657"/>
            </a:xfrm>
            <a:prstGeom prst="rect">
              <a:avLst/>
            </a:prstGeom>
            <a:noFill/>
            <a:ln w="9525">
              <a:noFill/>
            </a:ln>
          </p:spPr>
        </p:pic>
        <p:pic>
          <p:nvPicPr>
            <p:cNvPr id="16392" name="object 6"/>
            <p:cNvPicPr>
              <a:picLocks noChangeAspect="1"/>
            </p:cNvPicPr>
            <p:nvPr/>
          </p:nvPicPr>
          <p:blipFill>
            <a:blip r:embed="rId3"/>
            <a:stretch>
              <a:fillRect/>
            </a:stretch>
          </p:blipFill>
          <p:spPr>
            <a:xfrm>
              <a:off x="10653521" y="70713"/>
              <a:ext cx="1441957" cy="994054"/>
            </a:xfrm>
            <a:prstGeom prst="rect">
              <a:avLst/>
            </a:prstGeom>
            <a:noFill/>
            <a:ln w="9525">
              <a:noFill/>
            </a:ln>
          </p:spPr>
        </p:pic>
      </p:grpSp>
      <p:sp>
        <p:nvSpPr>
          <p:cNvPr id="9" name="Google Shape;195;p10"/>
          <p:cNvSpPr txBox="1"/>
          <p:nvPr/>
        </p:nvSpPr>
        <p:spPr bwMode="auto">
          <a:xfrm>
            <a:off x="609600" y="1352550"/>
            <a:ext cx="10515600" cy="595313"/>
          </a:xfrm>
          <a:prstGeom prst="rect">
            <a:avLst/>
          </a:prstGeom>
          <a:noFill/>
          <a:ln>
            <a:noFill/>
          </a:ln>
        </p:spPr>
        <p:txBody>
          <a:bodyPr spcFirstLastPara="1" lIns="91425" tIns="45700" rIns="91425" bIns="45700" anchor="ctr"/>
          <a:lst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stStyle>
          <a:p>
            <a:pPr marL="0" lvl="0" indent="0" algn="ctr" eaLnBrk="1" hangingPunct="1">
              <a:spcBef>
                <a:spcPct val="0"/>
              </a:spcBef>
              <a:buClr>
                <a:srgbClr val="4E67C8"/>
              </a:buClr>
              <a:buFont typeface="Times New Roman" panose="02020603050405020304" pitchFamily="18" charset="0"/>
              <a:buNone/>
            </a:pPr>
            <a:r>
              <a:rPr lang="en-US" altLang="en-US" sz="2800" b="1" dirty="0">
                <a:latin typeface="Times New Roman" panose="02020603050405020304" pitchFamily="18" charset="0"/>
                <a:cs typeface="Arial" panose="020B0604020202020204" pitchFamily="34" charset="0"/>
                <a:sym typeface="Times New Roman" panose="02020603050405020304" pitchFamily="18" charset="0"/>
              </a:rPr>
              <a:t>REFERENCES</a:t>
            </a:r>
            <a:endParaRPr lang="en-US" altLang="en-US" sz="2800" b="1" dirty="0">
              <a:latin typeface="Lucida Sans" panose="020B0602030504020204" pitchFamily="34" charset="0"/>
              <a:ea typeface="Arial" panose="020B0604020202020204" pitchFamily="34" charset="0"/>
              <a:sym typeface="Lucida Sans" panose="020B0602030504020204" pitchFamily="34" charset="0"/>
            </a:endParaRPr>
          </a:p>
        </p:txBody>
      </p:sp>
      <p:sp>
        <p:nvSpPr>
          <p:cNvPr id="16390" name="Google Shape;202;p11"/>
          <p:cNvSpPr txBox="1"/>
          <p:nvPr/>
        </p:nvSpPr>
        <p:spPr>
          <a:xfrm>
            <a:off x="1047750" y="1947863"/>
            <a:ext cx="10306050" cy="4071937"/>
          </a:xfrm>
          <a:prstGeom prst="rect">
            <a:avLst/>
          </a:prstGeom>
          <a:noFill/>
          <a:ln w="9525">
            <a:noFill/>
          </a:ln>
        </p:spPr>
        <p:txBody>
          <a:bodyPr lIns="91425" tIns="45700" rIns="91425" bIns="45700"/>
          <a:lstStyle/>
          <a:p>
            <a:pPr marL="365125" indent="-255270" algn="just" eaLnBrk="1" hangingPunct="1">
              <a:buClr>
                <a:srgbClr val="2DA2BF"/>
              </a:buClr>
              <a:buNone/>
            </a:pPr>
            <a:r>
              <a:rPr lang="en-US" altLang="en-US" sz="1600" dirty="0">
                <a:solidFill>
                  <a:srgbClr val="000000"/>
                </a:solidFill>
                <a:latin typeface="Times New Roman" panose="02020603050405020304" pitchFamily="18" charset="0"/>
                <a:cs typeface="Arial" panose="020B0604020202020204" pitchFamily="34" charset="0"/>
                <a:sym typeface="Times New Roman" panose="02020603050405020304" pitchFamily="18" charset="0"/>
              </a:rPr>
              <a:t>[1]</a:t>
            </a:r>
            <a:r>
              <a:rPr lang="en-IN" altLang="x-none" sz="1600" dirty="0">
                <a:latin typeface="Calibri" panose="020F0502020204030204" pitchFamily="34" charset="0"/>
              </a:rPr>
              <a:t> </a:t>
            </a:r>
            <a:r>
              <a:rPr lang="en-IN" altLang="x-none" dirty="0">
                <a:latin typeface="Times New Roman" panose="02020603050405020304" pitchFamily="18" charset="0"/>
                <a:cs typeface="Times New Roman" panose="02020603050405020304" pitchFamily="18" charset="0"/>
              </a:rPr>
              <a:t>Mohita Chaudhary</a:t>
            </a:r>
            <a:r>
              <a:rPr lang="en-US" altLang="en-US" dirty="0">
                <a:solidFill>
                  <a:srgbClr val="000000"/>
                </a:solidFill>
                <a:latin typeface="Times New Roman" panose="02020603050405020304" pitchFamily="18" charset="0"/>
                <a:cs typeface="Arial" panose="020B0604020202020204" pitchFamily="34" charset="0"/>
                <a:sym typeface="Times New Roman" panose="02020603050405020304" pitchFamily="18" charset="0"/>
              </a:rPr>
              <a:t>,  “</a:t>
            </a:r>
            <a:r>
              <a:rPr dirty="0">
                <a:latin typeface="Times New Roman" panose="02020603050405020304" pitchFamily="18" charset="0"/>
                <a:cs typeface="Times New Roman" panose="02020603050405020304" pitchFamily="18" charset="0"/>
              </a:rPr>
              <a:t>AI Aided Tools for Fresh Produce Yield and Price Forecasting: Deep Learning Approaches</a:t>
            </a:r>
            <a:r>
              <a:rPr lang="en-US" altLang="en-US" dirty="0">
                <a:solidFill>
                  <a:srgbClr val="000000"/>
                </a:solidFill>
                <a:latin typeface="Times New Roman" panose="02020603050405020304" pitchFamily="18" charset="0"/>
                <a:cs typeface="Arial" panose="020B0604020202020204" pitchFamily="34" charset="0"/>
                <a:sym typeface="Times New Roman" panose="02020603050405020304" pitchFamily="18" charset="0"/>
              </a:rPr>
              <a:t>”, Journal of Agricultural Science,Vol.2 , Page No.10,2021.</a:t>
            </a:r>
          </a:p>
          <a:p>
            <a:pPr marL="365125" indent="-255270" algn="just" eaLnBrk="1" hangingPunct="1">
              <a:buClr>
                <a:srgbClr val="2DA2BF"/>
              </a:buClr>
              <a:buNone/>
            </a:pPr>
            <a:endParaRPr lang="en-US" altLang="en-US" dirty="0">
              <a:solidFill>
                <a:srgbClr val="000000"/>
              </a:solidFill>
              <a:latin typeface="Times New Roman" panose="02020603050405020304" pitchFamily="18" charset="0"/>
              <a:cs typeface="Arial" panose="020B0604020202020204" pitchFamily="34" charset="0"/>
              <a:sym typeface="Times New Roman" panose="02020603050405020304" pitchFamily="18" charset="0"/>
            </a:endParaRPr>
          </a:p>
          <a:p>
            <a:pPr marL="365125" indent="-255270" algn="just" eaLnBrk="1" hangingPunct="1">
              <a:buClr>
                <a:srgbClr val="2DA2BF"/>
              </a:buClr>
              <a:buNone/>
            </a:pPr>
            <a:r>
              <a:rPr lang="en-US" altLang="en-US" sz="1600" dirty="0">
                <a:solidFill>
                  <a:srgbClr val="000000"/>
                </a:solidFill>
                <a:latin typeface="Times New Roman" panose="02020603050405020304" pitchFamily="18" charset="0"/>
                <a:cs typeface="Arial" panose="020B0604020202020204" pitchFamily="34" charset="0"/>
                <a:sym typeface="Times New Roman" panose="02020603050405020304" pitchFamily="18" charset="0"/>
              </a:rPr>
              <a:t>[2] </a:t>
            </a:r>
            <a:r>
              <a:rPr lang="en-IN" altLang="x-none" dirty="0">
                <a:solidFill>
                  <a:srgbClr val="333333"/>
                </a:solidFill>
                <a:latin typeface="Times New Roman" panose="02020603050405020304" pitchFamily="18" charset="0"/>
                <a:cs typeface="Times New Roman" panose="02020603050405020304" pitchFamily="18" charset="0"/>
              </a:rPr>
              <a:t>Harsh Tiwari, “</a:t>
            </a:r>
            <a:r>
              <a:rPr dirty="0">
                <a:solidFill>
                  <a:srgbClr val="333333"/>
                </a:solidFill>
                <a:latin typeface="Times New Roman" panose="02020603050405020304" pitchFamily="18" charset="0"/>
                <a:cs typeface="Times New Roman" panose="02020603050405020304" pitchFamily="18" charset="0"/>
              </a:rPr>
              <a:t>IoT System for Crop Recommendation Based on Soil and Weather Patterns”,Environemtal</a:t>
            </a:r>
          </a:p>
          <a:p>
            <a:pPr marL="365125" indent="-255270" algn="just" eaLnBrk="1" hangingPunct="1">
              <a:buClr>
                <a:srgbClr val="2DA2BF"/>
              </a:buClr>
              <a:buNone/>
            </a:pPr>
            <a:r>
              <a:rPr dirty="0">
                <a:solidFill>
                  <a:srgbClr val="333333"/>
                </a:solidFill>
                <a:latin typeface="Times New Roman" panose="02020603050405020304" pitchFamily="18" charset="0"/>
                <a:cs typeface="Times New Roman" panose="02020603050405020304" pitchFamily="18" charset="0"/>
              </a:rPr>
              <a:t>Research Letters,Vol.13,Page No.15,2023.</a:t>
            </a:r>
          </a:p>
          <a:p>
            <a:pPr marL="365125" indent="-255270" algn="just" eaLnBrk="1" hangingPunct="1">
              <a:buClr>
                <a:srgbClr val="2DA2BF"/>
              </a:buClr>
              <a:buNone/>
            </a:pPr>
            <a:endParaRPr dirty="0">
              <a:solidFill>
                <a:srgbClr val="333333"/>
              </a:solidFill>
              <a:latin typeface="Times New Roman" panose="02020603050405020304" pitchFamily="18" charset="0"/>
              <a:cs typeface="Times New Roman" panose="02020603050405020304" pitchFamily="18" charset="0"/>
            </a:endParaRPr>
          </a:p>
          <a:p>
            <a:pPr marL="365125" indent="-255270" algn="just" eaLnBrk="1" hangingPunct="1">
              <a:buClr>
                <a:srgbClr val="2DA2BF"/>
              </a:buClr>
              <a:buNone/>
            </a:pPr>
            <a:r>
              <a:rPr dirty="0">
                <a:solidFill>
                  <a:srgbClr val="333333"/>
                </a:solidFill>
                <a:latin typeface="Times New Roman" panose="02020603050405020304" pitchFamily="18" charset="0"/>
                <a:cs typeface="Times New Roman" panose="02020603050405020304" pitchFamily="18" charset="0"/>
              </a:rPr>
              <a:t>[3]</a:t>
            </a:r>
            <a:r>
              <a:rPr lang="en-IN" altLang="x-none" dirty="0">
                <a:latin typeface="Times New Roman" panose="02020603050405020304" pitchFamily="18" charset="0"/>
                <a:cs typeface="Times New Roman" panose="02020603050405020304" pitchFamily="18" charset="0"/>
              </a:rPr>
              <a:t> Ersin Elbasi,”</a:t>
            </a:r>
            <a:r>
              <a:rPr dirty="0">
                <a:latin typeface="Times New Roman" panose="02020603050405020304" pitchFamily="18" charset="0"/>
                <a:cs typeface="Times New Roman" panose="02020603050405020304" pitchFamily="18" charset="0"/>
              </a:rPr>
              <a:t> Crop Prediction Model Using Machine Learning Algorithms”,Journal of Agricultural Science,Vol.2,Page No.7,2023.</a:t>
            </a:r>
          </a:p>
          <a:p>
            <a:pPr marL="365125" indent="-255270" algn="just" eaLnBrk="1" hangingPunct="1">
              <a:buClr>
                <a:srgbClr val="2DA2BF"/>
              </a:buClr>
              <a:buNone/>
            </a:pPr>
            <a:endParaRPr dirty="0">
              <a:latin typeface="Times New Roman" panose="02020603050405020304" pitchFamily="18" charset="0"/>
              <a:cs typeface="Times New Roman" panose="02020603050405020304" pitchFamily="18" charset="0"/>
            </a:endParaRPr>
          </a:p>
          <a:p>
            <a:pPr marL="365125" indent="-255270" algn="just" eaLnBrk="1" hangingPunct="1">
              <a:buClr>
                <a:srgbClr val="2DA2BF"/>
              </a:buClr>
              <a:buNone/>
            </a:pPr>
            <a:r>
              <a:rPr dirty="0">
                <a:latin typeface="Times New Roman" panose="02020603050405020304" pitchFamily="18" charset="0"/>
                <a:cs typeface="Times New Roman" panose="02020603050405020304" pitchFamily="18" charset="0"/>
              </a:rPr>
              <a:t>[4] </a:t>
            </a:r>
            <a:r>
              <a:rPr lang="en-IN" altLang="x-none" dirty="0">
                <a:latin typeface="Times New Roman" panose="02020603050405020304" pitchFamily="18" charset="0"/>
                <a:cs typeface="Times New Roman" panose="02020603050405020304" pitchFamily="18" charset="0"/>
              </a:rPr>
              <a:t>Nischitha K , “</a:t>
            </a:r>
            <a:r>
              <a:rPr dirty="0">
                <a:latin typeface="Times New Roman" panose="02020603050405020304" pitchFamily="18" charset="0"/>
                <a:cs typeface="Times New Roman" panose="02020603050405020304" pitchFamily="18" charset="0"/>
              </a:rPr>
              <a:t>Crop Prediction using Machine Learning Approaches”,Asian journal of Environmental Science,Vol.3,Page No.24,2020 .</a:t>
            </a:r>
          </a:p>
          <a:p>
            <a:pPr marL="365125" indent="-255270" algn="just" eaLnBrk="1" hangingPunct="1">
              <a:buClr>
                <a:srgbClr val="2DA2BF"/>
              </a:buClr>
              <a:buNone/>
            </a:pPr>
            <a:endParaRPr dirty="0">
              <a:latin typeface="Times New Roman" panose="02020603050405020304" pitchFamily="18" charset="0"/>
              <a:cs typeface="Times New Roman" panose="02020603050405020304" pitchFamily="18" charset="0"/>
            </a:endParaRPr>
          </a:p>
          <a:p>
            <a:pPr marL="365125" indent="-255270" algn="just" eaLnBrk="1" hangingPunct="1">
              <a:buClr>
                <a:srgbClr val="2DA2BF"/>
              </a:buClr>
              <a:buNone/>
            </a:pPr>
            <a:r>
              <a:rPr dirty="0">
                <a:latin typeface="Times New Roman" panose="02020603050405020304" pitchFamily="18" charset="0"/>
                <a:cs typeface="Times New Roman" panose="02020603050405020304" pitchFamily="18" charset="0"/>
              </a:rPr>
              <a:t>[5] </a:t>
            </a:r>
            <a:r>
              <a:rPr lang="en-IN" altLang="x-none" dirty="0">
                <a:latin typeface="Times New Roman" panose="02020603050405020304" pitchFamily="18" charset="0"/>
                <a:cs typeface="Times New Roman" panose="02020603050405020304" pitchFamily="18" charset="0"/>
              </a:rPr>
              <a:t>Archana Gupta</a:t>
            </a:r>
            <a:r>
              <a:rPr dirty="0">
                <a:latin typeface="Times New Roman" panose="02020603050405020304" pitchFamily="18" charset="0"/>
                <a:cs typeface="Times New Roman" panose="02020603050405020304" pitchFamily="18" charset="0"/>
              </a:rPr>
              <a:t> , “Crop Prediction System using Machine Learning Algorithms”,Organic Agriculture Journal, Vol.5,Page No.75,2020.</a:t>
            </a:r>
            <a:endParaRPr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Bangalore</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Institute</a:t>
            </a:r>
            <a:r>
              <a:rPr kumimoji="0" sz="2400" b="1"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5" normalizeH="0" baseline="0" noProof="0" dirty="0">
                <a:ln>
                  <a:noFill/>
                </a:ln>
                <a:solidFill>
                  <a:schemeClr val="bg1"/>
                </a:solidFill>
                <a:effectLst/>
                <a:uLnTx/>
                <a:uFillTx/>
                <a:latin typeface="Times New Roman" panose="02020603050405020304"/>
                <a:ea typeface="+mj-ea"/>
                <a:cs typeface="Times New Roman" panose="02020603050405020304"/>
              </a:rPr>
              <a:t>of</a:t>
            </a:r>
            <a:r>
              <a:rPr kumimoji="0" sz="2400" b="1" i="0" u="none" strike="noStrike" kern="0" cap="none" spc="-5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2400" b="1"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Technology</a:t>
            </a:r>
          </a:p>
        </p:txBody>
      </p:sp>
      <p:sp>
        <p:nvSpPr>
          <p:cNvPr id="3" name="object 3"/>
          <p:cNvSpPr txBox="1"/>
          <p:nvPr/>
        </p:nvSpPr>
        <p:spPr>
          <a:xfrm>
            <a:off x="3419475" y="334963"/>
            <a:ext cx="5353050" cy="593725"/>
          </a:xfrm>
          <a:prstGeom prst="rect">
            <a:avLst/>
          </a:prstGeom>
        </p:spPr>
        <p:txBody>
          <a:bodyPr lIns="0" tIns="12065" rIns="0" bIns="0">
            <a:spAutoFit/>
          </a:bodyPr>
          <a:lstStyle/>
          <a:p>
            <a:pPr marL="949325" marR="0" defTabSz="914400" eaLnBrk="1" fontAlgn="auto" hangingPunct="1">
              <a:lnSpc>
                <a:spcPts val="1760"/>
              </a:lnSpc>
              <a:spcBef>
                <a:spcPts val="95"/>
              </a:spcBef>
              <a:spcAft>
                <a:spcPts val="0"/>
              </a:spcAft>
              <a:buClrTx/>
              <a:buSzTx/>
              <a:buFontTx/>
              <a:buNone/>
              <a:defRPr/>
            </a:pPr>
            <a:r>
              <a:rPr kumimoji="0" sz="1600" kern="1200" cap="none" spc="-5" normalizeH="0" baseline="0" noProof="0" dirty="0">
                <a:solidFill>
                  <a:srgbClr val="FFFFFF"/>
                </a:solidFill>
                <a:latin typeface="Times New Roman" panose="02020603050405020304"/>
                <a:ea typeface="+mn-ea"/>
                <a:cs typeface="Times New Roman" panose="02020603050405020304"/>
              </a:rPr>
              <a:t>K.R. Road,</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110" normalizeH="0" baseline="0" noProof="0" dirty="0">
                <a:solidFill>
                  <a:srgbClr val="FFFFFF"/>
                </a:solidFill>
                <a:latin typeface="Times New Roman" panose="02020603050405020304"/>
                <a:ea typeface="+mn-ea"/>
                <a:cs typeface="Times New Roman" panose="02020603050405020304"/>
              </a:rPr>
              <a:t>V.V.</a:t>
            </a:r>
            <a:r>
              <a:rPr kumimoji="0" sz="1600" kern="1200" cap="none" spc="-5" normalizeH="0" baseline="0" noProof="0" dirty="0">
                <a:solidFill>
                  <a:srgbClr val="FFFFFF"/>
                </a:solidFill>
                <a:latin typeface="Times New Roman" panose="02020603050405020304"/>
                <a:ea typeface="+mn-ea"/>
                <a:cs typeface="Times New Roman" panose="02020603050405020304"/>
              </a:rPr>
              <a:t> Pura,</a:t>
            </a:r>
            <a:r>
              <a:rPr kumimoji="0" sz="1600" kern="1200" cap="none" spc="20" normalizeH="0" baseline="0" noProof="0" dirty="0">
                <a:solidFill>
                  <a:srgbClr val="FFFFFF"/>
                </a:solidFill>
                <a:latin typeface="Times New Roman" panose="02020603050405020304"/>
                <a:ea typeface="+mn-ea"/>
                <a:cs typeface="Times New Roman" panose="02020603050405020304"/>
              </a:rPr>
              <a:t> </a:t>
            </a:r>
            <a:r>
              <a:rPr kumimoji="0" sz="1600" kern="1200" cap="none" spc="-5" normalizeH="0" baseline="0" noProof="0" dirty="0">
                <a:solidFill>
                  <a:srgbClr val="FFFFFF"/>
                </a:solidFill>
                <a:latin typeface="Times New Roman" panose="02020603050405020304"/>
                <a:ea typeface="+mn-ea"/>
                <a:cs typeface="Times New Roman" panose="02020603050405020304"/>
              </a:rPr>
              <a:t>Bengaluru.-560004.</a:t>
            </a:r>
            <a:endParaRPr kumimoji="0" sz="1600" kern="1200" cap="none" spc="0" normalizeH="0" baseline="0" noProof="0">
              <a:latin typeface="Times New Roman" panose="02020603050405020304"/>
              <a:ea typeface="+mn-ea"/>
              <a:cs typeface="Times New Roman" panose="02020603050405020304"/>
            </a:endParaRPr>
          </a:p>
          <a:p>
            <a:pPr marL="12700" marR="0" defTabSz="914400" eaLnBrk="1" fontAlgn="auto" hangingPunct="1">
              <a:lnSpc>
                <a:spcPts val="2720"/>
              </a:lnSpc>
              <a:spcBef>
                <a:spcPts val="0"/>
              </a:spcBef>
              <a:spcAft>
                <a:spcPts val="0"/>
              </a:spcAft>
              <a:buClrTx/>
              <a:buSzTx/>
              <a:buFontTx/>
              <a:buNone/>
              <a:defRPr/>
            </a:pPr>
            <a:r>
              <a:rPr kumimoji="0" sz="2400" b="1" kern="1200" cap="none" spc="0" normalizeH="0" baseline="0" noProof="0" dirty="0">
                <a:solidFill>
                  <a:srgbClr val="FFFFFF"/>
                </a:solidFill>
                <a:latin typeface="Times New Roman" panose="02020603050405020304"/>
                <a:ea typeface="+mn-ea"/>
                <a:cs typeface="Times New Roman" panose="02020603050405020304"/>
              </a:rPr>
              <a:t>D</a:t>
            </a:r>
            <a:r>
              <a:rPr kumimoji="0" sz="2000" b="1" kern="1200" cap="none" spc="0" normalizeH="0" baseline="0" noProof="0" dirty="0">
                <a:solidFill>
                  <a:srgbClr val="FFFFFF"/>
                </a:solidFill>
                <a:latin typeface="Times New Roman" panose="02020603050405020304"/>
                <a:ea typeface="+mn-ea"/>
                <a:cs typeface="Times New Roman" panose="02020603050405020304"/>
              </a:rPr>
              <a:t>epartment</a:t>
            </a:r>
            <a:r>
              <a:rPr kumimoji="0" sz="2000" b="1" kern="1200" cap="none" spc="-4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of</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Computer</a:t>
            </a:r>
            <a:r>
              <a:rPr kumimoji="0" sz="2000" b="1" kern="1200" cap="none" spc="-8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Science</a:t>
            </a:r>
            <a:r>
              <a:rPr kumimoji="0" sz="2000" b="1" kern="1200" cap="none" spc="-15"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&amp;</a:t>
            </a:r>
            <a:r>
              <a:rPr kumimoji="0" sz="2000" b="1" kern="1200" cap="none" spc="-20" normalizeH="0" baseline="0" noProof="0" dirty="0">
                <a:solidFill>
                  <a:srgbClr val="FFFFFF"/>
                </a:solidFill>
                <a:latin typeface="Times New Roman" panose="02020603050405020304"/>
                <a:ea typeface="+mn-ea"/>
                <a:cs typeface="Times New Roman" panose="02020603050405020304"/>
              </a:rPr>
              <a:t> </a:t>
            </a:r>
            <a:r>
              <a:rPr kumimoji="0" sz="2000" b="1" kern="1200" cap="none" spc="0" normalizeH="0" baseline="0" noProof="0" dirty="0">
                <a:solidFill>
                  <a:srgbClr val="FFFFFF"/>
                </a:solidFill>
                <a:latin typeface="Times New Roman" panose="02020603050405020304"/>
                <a:ea typeface="+mn-ea"/>
                <a:cs typeface="Times New Roman" panose="02020603050405020304"/>
              </a:rPr>
              <a:t>Engineering</a:t>
            </a:r>
            <a:endParaRPr kumimoji="0" sz="2000" kern="1200" cap="none" spc="0" normalizeH="0" baseline="0" noProof="0">
              <a:latin typeface="Times New Roman" panose="02020603050405020304"/>
              <a:ea typeface="+mn-ea"/>
              <a:cs typeface="Times New Roman" panose="02020603050405020304"/>
            </a:endParaRPr>
          </a:p>
        </p:txBody>
      </p:sp>
      <p:grpSp>
        <p:nvGrpSpPr>
          <p:cNvPr id="17412" name="object 4"/>
          <p:cNvGrpSpPr/>
          <p:nvPr/>
        </p:nvGrpSpPr>
        <p:grpSpPr>
          <a:xfrm>
            <a:off x="203200" y="0"/>
            <a:ext cx="11891963" cy="1193800"/>
            <a:chOff x="203200" y="0"/>
            <a:chExt cx="11892280" cy="1193165"/>
          </a:xfrm>
        </p:grpSpPr>
        <p:pic>
          <p:nvPicPr>
            <p:cNvPr id="17414" name="object 5"/>
            <p:cNvPicPr>
              <a:picLocks noChangeAspect="1"/>
            </p:cNvPicPr>
            <p:nvPr/>
          </p:nvPicPr>
          <p:blipFill>
            <a:blip r:embed="rId2"/>
            <a:stretch>
              <a:fillRect/>
            </a:stretch>
          </p:blipFill>
          <p:spPr>
            <a:xfrm>
              <a:off x="203200" y="0"/>
              <a:ext cx="1441958" cy="1192657"/>
            </a:xfrm>
            <a:prstGeom prst="rect">
              <a:avLst/>
            </a:prstGeom>
            <a:noFill/>
            <a:ln w="9525">
              <a:noFill/>
            </a:ln>
          </p:spPr>
        </p:pic>
        <p:pic>
          <p:nvPicPr>
            <p:cNvPr id="17415" name="object 6"/>
            <p:cNvPicPr>
              <a:picLocks noChangeAspect="1"/>
            </p:cNvPicPr>
            <p:nvPr/>
          </p:nvPicPr>
          <p:blipFill>
            <a:blip r:embed="rId3"/>
            <a:stretch>
              <a:fillRect/>
            </a:stretch>
          </p:blipFill>
          <p:spPr>
            <a:xfrm>
              <a:off x="10653521" y="70713"/>
              <a:ext cx="1441957" cy="994054"/>
            </a:xfrm>
            <a:prstGeom prst="rect">
              <a:avLst/>
            </a:prstGeom>
            <a:noFill/>
            <a:ln w="9525">
              <a:noFill/>
            </a:ln>
          </p:spPr>
        </p:pic>
      </p:grpSp>
      <p:sp>
        <p:nvSpPr>
          <p:cNvPr id="17413" name="Google Shape;202;p11"/>
          <p:cNvSpPr txBox="1"/>
          <p:nvPr/>
        </p:nvSpPr>
        <p:spPr>
          <a:xfrm>
            <a:off x="1047750" y="1947863"/>
            <a:ext cx="10306050" cy="3690937"/>
          </a:xfrm>
          <a:prstGeom prst="rect">
            <a:avLst/>
          </a:prstGeom>
          <a:noFill/>
          <a:ln w="9525">
            <a:noFill/>
          </a:ln>
        </p:spPr>
        <p:txBody>
          <a:bodyPr lIns="91425" tIns="45700" rIns="91425" bIns="45700"/>
          <a:lstStyle/>
          <a:p>
            <a:pPr marL="365125" indent="-255270" algn="ctr" eaLnBrk="1" hangingPunct="1">
              <a:buClr>
                <a:srgbClr val="2DA2BF"/>
              </a:buClr>
            </a:pPr>
            <a:endParaRPr lang="en-US" altLang="en-US" sz="2700" dirty="0">
              <a:solidFill>
                <a:srgbClr val="000000"/>
              </a:solidFill>
              <a:latin typeface="Lucida Sans" panose="020B0602030504020204" pitchFamily="34" charset="0"/>
              <a:cs typeface="Arial" panose="020B0604020202020204" pitchFamily="34" charset="0"/>
              <a:sym typeface="Lucida Sans" panose="020B0602030504020204" pitchFamily="34" charset="0"/>
            </a:endParaRPr>
          </a:p>
          <a:p>
            <a:pPr marL="365125" indent="-255270" algn="ctr" eaLnBrk="1" hangingPunct="1">
              <a:buClr>
                <a:srgbClr val="2DA2BF"/>
              </a:buClr>
            </a:pPr>
            <a:endParaRPr lang="en-US" altLang="en-US" sz="2700" dirty="0">
              <a:solidFill>
                <a:srgbClr val="000000"/>
              </a:solidFill>
              <a:latin typeface="Lucida Sans" panose="020B0602030504020204" pitchFamily="34" charset="0"/>
              <a:cs typeface="Arial" panose="020B0604020202020204" pitchFamily="34" charset="0"/>
              <a:sym typeface="Lucida Sans" panose="020B0602030504020204" pitchFamily="34" charset="0"/>
            </a:endParaRPr>
          </a:p>
          <a:p>
            <a:pPr marL="365125" indent="-255270" algn="ctr" eaLnBrk="1" hangingPunct="1">
              <a:buClr>
                <a:srgbClr val="2DA2BF"/>
              </a:buClr>
            </a:pPr>
            <a:endParaRPr lang="en-US" altLang="en-US" sz="2700" dirty="0">
              <a:solidFill>
                <a:srgbClr val="000000"/>
              </a:solidFill>
              <a:latin typeface="Lucida Sans" panose="020B0602030504020204" pitchFamily="34" charset="0"/>
              <a:cs typeface="Arial" panose="020B0604020202020204" pitchFamily="34" charset="0"/>
              <a:sym typeface="Lucida Sans" panose="020B0602030504020204" pitchFamily="34" charset="0"/>
            </a:endParaRPr>
          </a:p>
          <a:p>
            <a:pPr marL="365125" indent="-255270" algn="ctr" eaLnBrk="1" hangingPunct="1">
              <a:buClr>
                <a:srgbClr val="2DA2BF"/>
              </a:buClr>
            </a:pPr>
            <a:r>
              <a:rPr lang="en-US" altLang="en-US" sz="4400" i="1" dirty="0">
                <a:solidFill>
                  <a:srgbClr val="FF0000"/>
                </a:solidFill>
                <a:latin typeface="Algerian" panose="04020705040A02060702" pitchFamily="82" charset="0"/>
                <a:cs typeface="Arial" panose="020B0604020202020204" pitchFamily="34" charset="0"/>
                <a:sym typeface="Lucida Sans" panose="020B0602030504020204" pitchFamily="34" charset="0"/>
              </a:rPr>
              <a:t>THANK YOU</a:t>
            </a:r>
            <a:endParaRPr lang="en-US" altLang="en-US" sz="4400" i="1" dirty="0">
              <a:solidFill>
                <a:srgbClr val="FF0000"/>
              </a:solidFill>
              <a:latin typeface="Algerian" panose="04020705040A02060702" pitchFamily="82" charset="0"/>
              <a:ea typeface="Arial" panose="020B0604020202020204" pitchFamily="34" charset="0"/>
              <a:sym typeface="Lucida Sans" panose="020B0602030504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1668</Words>
  <Application>Microsoft Office PowerPoint</Application>
  <PresentationFormat>Widescreen</PresentationFormat>
  <Paragraphs>180</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Algerian</vt:lpstr>
      <vt:lpstr>Arial</vt:lpstr>
      <vt:lpstr>Calibri</vt:lpstr>
      <vt:lpstr>Courier New</vt:lpstr>
      <vt:lpstr>Lucida Sans</vt:lpstr>
      <vt:lpstr>Noto Sans Symbols</vt:lpstr>
      <vt:lpstr>Times New Roman</vt:lpstr>
      <vt:lpstr>Trebuchet MS</vt:lpstr>
      <vt:lpstr>Office Theme</vt:lpstr>
      <vt:lpstr>PowerPoint Presentation</vt:lpstr>
      <vt:lpstr>PowerPoint Presentation</vt:lpstr>
      <vt:lpstr>Bangalore Institute of Technology</vt:lpstr>
      <vt:lpstr>Bangalore Institute of Technology</vt:lpstr>
      <vt:lpstr>Bangalore Institute of Technology</vt:lpstr>
      <vt:lpstr>Bangalore Institute of Technology</vt:lpstr>
      <vt:lpstr>Bangalore Institute of Technology</vt:lpstr>
      <vt:lpstr>Bangalore Institute of Technology</vt:lpstr>
      <vt:lpstr>Bangalore Institute of Technology</vt:lpstr>
      <vt:lpstr>Bangalore Institute of Technology</vt:lpstr>
      <vt:lpstr>Bangalore Institute of Technology</vt:lpstr>
      <vt:lpstr>Bangalore Institute of Technology</vt:lpstr>
      <vt:lpstr>Bangalore Institute of Technology</vt:lpstr>
      <vt:lpstr>Bangalore Institute of Technology</vt:lpstr>
      <vt:lpstr>Bangalore Institute of Technology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BANGALORE INSTITUTE OF TECHNOLOGY</dc:title>
  <dc:creator>kartik gajendra</dc:creator>
  <cp:lastModifiedBy>Sanchita H</cp:lastModifiedBy>
  <cp:revision>65</cp:revision>
  <dcterms:created xsi:type="dcterms:W3CDTF">2023-10-26T17:54:44Z</dcterms:created>
  <dcterms:modified xsi:type="dcterms:W3CDTF">2026-02-13T14:19:31Z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2022-12-18T05:30:00Z</vt:filetime>
  </property>
  <property fmtid="{D5CDD505-2E9C-101B-9397-08002B2CF9AE}" pid="3" name="Creator">
    <vt:lpwstr>Microsoft� PowerPoint� 2010</vt:lpwstr>
  </property>
  <property fmtid="{D5CDD505-2E9C-101B-9397-08002B2CF9AE}" pid="4" name="LastSaved">
    <vt:filetime>2023-10-26T05:30:00Z</vt:filetime>
  </property>
  <property fmtid="{D5CDD505-2E9C-101B-9397-08002B2CF9AE}" pid="5" name="ICV">
    <vt:lpwstr>70A94A90AB244E3E8DF605A36CC73E20_12</vt:lpwstr>
  </property>
  <property fmtid="{D5CDD505-2E9C-101B-9397-08002B2CF9AE}" pid="6" name="KSOProductBuildVer">
    <vt:lpwstr>1033-12.2.0.20782</vt:lpwstr>
  </property>
</Properties>
</file>